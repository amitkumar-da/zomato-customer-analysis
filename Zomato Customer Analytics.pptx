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0"/>
  </p:notesMasterIdLst>
  <p:sldIdLst>
    <p:sldId id="304" r:id="rId2"/>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1" r:id="rId47"/>
    <p:sldId id="302" r:id="rId48"/>
    <p:sldId id="303" r:id="rId4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82" d="100"/>
          <a:sy n="82" d="100"/>
        </p:scale>
        <p:origin x="691"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8821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E1B1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15"/>
            <a:ext cx="10566400" cy="335915"/>
          </a:xfrm>
          <a:prstGeom prst="rect">
            <a:avLst/>
          </a:prstGeom>
          <a:noFill/>
          <a:ln/>
        </p:spPr>
        <p:txBody>
          <a:bodyPr wrap="square" lIns="0" tIns="0" rIns="0" bIns="0" rtlCol="0" anchor="t"/>
          <a:lstStyle>
            <a:lvl1pPr marL="0" indent="0" algn="l">
              <a:lnSpc>
                <a:spcPct val="115000"/>
              </a:lnSpc>
              <a:buNone/>
              <a:defRPr lang="en-US" sz="2300" dirty="0">
                <a:solidFill>
                  <a:srgbClr val="FAF6F1"/>
                </a:solidFill>
                <a:latin typeface="DM Sans" pitchFamily="34" charset="0"/>
                <a:ea typeface="DM Sans" pitchFamily="34" charset="-122"/>
                <a:cs typeface="DM Sans" pitchFamily="34" charset="-120"/>
              </a:defRPr>
            </a:lvl1pPr>
          </a:lstStyle>
          <a:p>
            <a:pPr marL="0" indent="0" algn="l">
              <a:lnSpc>
                <a:spcPct val="115000"/>
              </a:lnSpc>
              <a:buNone/>
            </a:pPr>
            <a:endParaRPr lang="en-US" sz="2300" dirty="0"/>
          </a:p>
        </p:txBody>
      </p:sp>
      <p:sp>
        <p:nvSpPr>
          <p:cNvPr id="3" name="Text Placeholder 2"/>
          <p:cNvSpPr>
            <a:spLocks noGrp="1"/>
          </p:cNvSpPr>
          <p:nvPr>
            <p:ph type="body" idx="101"/>
          </p:nvPr>
        </p:nvSpPr>
        <p:spPr>
          <a:xfrm>
            <a:off x="812800" y="1778630"/>
            <a:ext cx="10566400" cy="4266570"/>
          </a:xfrm>
          <a:prstGeom prst="rect">
            <a:avLst/>
          </a:prstGeom>
          <a:noFill/>
          <a:ln/>
        </p:spPr>
        <p:txBody>
          <a:bodyPr wrap="square" lIns="0" tIns="0" rIns="0" bIns="0" rtlCol="0" anchor="t"/>
          <a:lstStyle>
            <a:lvl1pPr marL="0" indent="0" algn="l">
              <a:lnSpc>
                <a:spcPct val="140000"/>
              </a:lnSpc>
              <a:buNone/>
              <a:defRPr lang="en-US" sz="1600" dirty="0">
                <a:solidFill>
                  <a:srgbClr val="FAF6F1"/>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E1B1B"/>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37915"/>
            <a:ext cx="10566400" cy="335915"/>
          </a:xfrm>
          <a:prstGeom prst="rect">
            <a:avLst/>
          </a:prstGeom>
          <a:noFill/>
          <a:ln/>
        </p:spPr>
        <p:txBody>
          <a:bodyPr wrap="square" lIns="0" tIns="0" rIns="0" bIns="0" rtlCol="0" anchor="t"/>
          <a:lstStyle>
            <a:lvl1pPr marL="0" indent="0" algn="l">
              <a:lnSpc>
                <a:spcPct val="115000"/>
              </a:lnSpc>
              <a:buNone/>
              <a:defRPr lang="en-US" sz="2300" dirty="0">
                <a:solidFill>
                  <a:srgbClr val="FAF6F1"/>
                </a:solidFill>
                <a:latin typeface="DM Sans" pitchFamily="34" charset="0"/>
                <a:ea typeface="DM Sans" pitchFamily="34" charset="-122"/>
                <a:cs typeface="DM Sans" pitchFamily="34" charset="-120"/>
              </a:defRPr>
            </a:lvl1pPr>
          </a:lstStyle>
          <a:p>
            <a:pPr marL="0" indent="0" algn="l">
              <a:lnSpc>
                <a:spcPct val="115000"/>
              </a:lnSpc>
              <a:buNone/>
            </a:pPr>
            <a:endParaRPr lang="en-US" sz="2300" dirty="0"/>
          </a:p>
        </p:txBody>
      </p:sp>
      <p:sp>
        <p:nvSpPr>
          <p:cNvPr id="3" name="Text Placeholder 2"/>
          <p:cNvSpPr>
            <a:spLocks noGrp="1"/>
          </p:cNvSpPr>
          <p:nvPr>
            <p:ph type="body" idx="101"/>
          </p:nvPr>
        </p:nvSpPr>
        <p:spPr>
          <a:xfrm>
            <a:off x="812800" y="1778630"/>
            <a:ext cx="10566400" cy="4266570"/>
          </a:xfrm>
          <a:prstGeom prst="rect">
            <a:avLst/>
          </a:prstGeom>
          <a:noFill/>
          <a:ln/>
        </p:spPr>
        <p:txBody>
          <a:bodyPr wrap="square" lIns="0" tIns="0" rIns="0" bIns="0" rtlCol="0" anchor="t"/>
          <a:lstStyle>
            <a:lvl1pPr marL="0" indent="0" algn="l">
              <a:lnSpc>
                <a:spcPct val="140000"/>
              </a:lnSpc>
              <a:buNone/>
              <a:defRPr lang="en-US" sz="1600" dirty="0">
                <a:solidFill>
                  <a:srgbClr val="FAF6F1"/>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8596F-D9F1-C300-6C59-6F98844A2DAD}"/>
              </a:ext>
            </a:extLst>
          </p:cNvPr>
          <p:cNvSpPr>
            <a:spLocks noGrp="1"/>
          </p:cNvSpPr>
          <p:nvPr>
            <p:ph type="title"/>
          </p:nvPr>
        </p:nvSpPr>
        <p:spPr>
          <a:xfrm>
            <a:off x="812800" y="969957"/>
            <a:ext cx="10566400" cy="597586"/>
          </a:xfrm>
        </p:spPr>
        <p:txBody>
          <a:bodyPr/>
          <a:lstStyle/>
          <a:p>
            <a:pPr algn="ctr"/>
            <a:r>
              <a:rPr lang="en-IN" sz="3200" b="1" dirty="0">
                <a:solidFill>
                  <a:schemeClr val="accent1"/>
                </a:solidFill>
              </a:rPr>
              <a:t>Zomato Customer Analytics Case Study</a:t>
            </a:r>
            <a:endParaRPr lang="en-IN" sz="3200" b="1" dirty="0">
              <a:solidFill>
                <a:schemeClr val="accent1"/>
              </a:solidFill>
              <a:effectLst/>
            </a:endParaRPr>
          </a:p>
        </p:txBody>
      </p:sp>
      <p:sp>
        <p:nvSpPr>
          <p:cNvPr id="3" name="Text Placeholder 2">
            <a:extLst>
              <a:ext uri="{FF2B5EF4-FFF2-40B4-BE49-F238E27FC236}">
                <a16:creationId xmlns:a16="http://schemas.microsoft.com/office/drawing/2014/main" id="{EABF7010-94AD-CBD7-526B-D3A1871923F1}"/>
              </a:ext>
            </a:extLst>
          </p:cNvPr>
          <p:cNvSpPr>
            <a:spLocks noGrp="1"/>
          </p:cNvSpPr>
          <p:nvPr>
            <p:ph type="body" idx="101"/>
          </p:nvPr>
        </p:nvSpPr>
        <p:spPr>
          <a:xfrm>
            <a:off x="1583094" y="1873694"/>
            <a:ext cx="8863045" cy="3679778"/>
          </a:xfrm>
        </p:spPr>
        <p:txBody>
          <a:bodyPr/>
          <a:lstStyle/>
          <a:p>
            <a:r>
              <a:rPr lang="en-IN" dirty="0"/>
              <a:t>Zomato is one of India's largest food delivery platforms, connecting millions of</a:t>
            </a:r>
          </a:p>
          <a:p>
            <a:r>
              <a:rPr lang="en-IN" dirty="0"/>
              <a:t>customers with restaurants across multiple cities.</a:t>
            </a:r>
          </a:p>
          <a:p>
            <a:endParaRPr lang="en-IN" dirty="0"/>
          </a:p>
          <a:p>
            <a:r>
              <a:rPr lang="en-IN" dirty="0"/>
              <a:t>Over the last few months, the leadership team has observed that while the number of</a:t>
            </a:r>
          </a:p>
          <a:p>
            <a:r>
              <a:rPr lang="en-IN" dirty="0"/>
              <a:t>registered customers continues to grow, overall business performance is not</a:t>
            </a:r>
          </a:p>
          <a:p>
            <a:r>
              <a:rPr lang="en-IN" dirty="0"/>
              <a:t>improving at the expected rate. Revenue growth has become inconsistent, customer</a:t>
            </a:r>
          </a:p>
          <a:p>
            <a:r>
              <a:rPr lang="en-IN" dirty="0"/>
              <a:t>retention appears to be declining, and certain restaurant partners are</a:t>
            </a:r>
          </a:p>
          <a:p>
            <a:r>
              <a:rPr lang="en-IN" dirty="0"/>
              <a:t>underperforming.</a:t>
            </a:r>
          </a:p>
        </p:txBody>
      </p:sp>
      <p:sp>
        <p:nvSpPr>
          <p:cNvPr id="5" name="TextBox 4">
            <a:extLst>
              <a:ext uri="{FF2B5EF4-FFF2-40B4-BE49-F238E27FC236}">
                <a16:creationId xmlns:a16="http://schemas.microsoft.com/office/drawing/2014/main" id="{D90B71F7-1EB8-7404-3D56-DF80E5B07783}"/>
              </a:ext>
            </a:extLst>
          </p:cNvPr>
          <p:cNvSpPr txBox="1"/>
          <p:nvPr/>
        </p:nvSpPr>
        <p:spPr>
          <a:xfrm>
            <a:off x="529512" y="6005397"/>
            <a:ext cx="6097554" cy="299826"/>
          </a:xfrm>
          <a:prstGeom prst="rect">
            <a:avLst/>
          </a:prstGeom>
          <a:noFill/>
        </p:spPr>
        <p:txBody>
          <a:bodyPr wrap="square">
            <a:sp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graphicFrame>
        <p:nvGraphicFramePr>
          <p:cNvPr id="8" name="Table 7">
            <a:extLst>
              <a:ext uri="{FF2B5EF4-FFF2-40B4-BE49-F238E27FC236}">
                <a16:creationId xmlns:a16="http://schemas.microsoft.com/office/drawing/2014/main" id="{D2119A38-52B8-679F-845E-D8B63989D5F3}"/>
              </a:ext>
            </a:extLst>
          </p:cNvPr>
          <p:cNvGraphicFramePr>
            <a:graphicFrameLocks noGrp="1"/>
          </p:cNvGraphicFramePr>
          <p:nvPr>
            <p:extLst>
              <p:ext uri="{D42A27DB-BD31-4B8C-83A1-F6EECF244321}">
                <p14:modId xmlns:p14="http://schemas.microsoft.com/office/powerpoint/2010/main" val="2214926585"/>
              </p:ext>
            </p:extLst>
          </p:nvPr>
        </p:nvGraphicFramePr>
        <p:xfrm>
          <a:off x="1408922" y="1743066"/>
          <a:ext cx="9199984" cy="3956180"/>
        </p:xfrm>
        <a:graphic>
          <a:graphicData uri="http://schemas.openxmlformats.org/drawingml/2006/table">
            <a:tbl>
              <a:tblPr/>
              <a:tblGrid>
                <a:gridCol w="9199984">
                  <a:extLst>
                    <a:ext uri="{9D8B030D-6E8A-4147-A177-3AD203B41FA5}">
                      <a16:colId xmlns:a16="http://schemas.microsoft.com/office/drawing/2014/main" val="630910356"/>
                    </a:ext>
                  </a:extLst>
                </a:gridCol>
              </a:tblGrid>
              <a:tr h="3956180">
                <a:tc>
                  <a:txBody>
                    <a:bodyPr/>
                    <a:lstStyle/>
                    <a:p>
                      <a:endParaRPr lang="en-IN" dirty="0"/>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tcPr>
                </a:tc>
                <a:extLst>
                  <a:ext uri="{0D108BD9-81ED-4DB2-BD59-A6C34878D82A}">
                    <a16:rowId xmlns:a16="http://schemas.microsoft.com/office/drawing/2014/main" val="167329484"/>
                  </a:ext>
                </a:extLst>
              </a:tr>
            </a:tbl>
          </a:graphicData>
        </a:graphic>
      </p:graphicFrame>
    </p:spTree>
    <p:extLst>
      <p:ext uri="{BB962C8B-B14F-4D97-AF65-F5344CB8AC3E}">
        <p14:creationId xmlns:p14="http://schemas.microsoft.com/office/powerpoint/2010/main" val="1210220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1">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OBJECTIVE</a:t>
            </a:r>
            <a:endParaRPr lang="en-US" sz="1400" dirty="0"/>
          </a:p>
        </p:txBody>
      </p:sp>
      <p:sp>
        <p:nvSpPr>
          <p:cNvPr id="3" name="Text 1"/>
          <p:cNvSpPr>
            <a:spLocks noGrp="1"/>
          </p:cNvSpPr>
          <p:nvPr>
            <p:ph type="title"/>
          </p:nvPr>
        </p:nvSpPr>
        <p:spPr>
          <a:xfrm>
            <a:off x="812800" y="1214120"/>
            <a:ext cx="9156700" cy="1254760"/>
          </a:xfrm>
          <a:prstGeom prst="rect">
            <a:avLst/>
          </a:prstGeom>
          <a:noFill/>
          <a:ln/>
        </p:spPr>
        <p:txBody>
          <a:bodyPr wrap="square" lIns="0" tIns="0" rIns="0" bIns="0" rtlCol="0" anchor="t">
            <a:normAutofit/>
          </a:bodyPr>
          <a:lstStyle/>
          <a:p>
            <a:pPr marL="0" indent="0" algn="l">
              <a:lnSpc>
                <a:spcPts val="4840"/>
              </a:lnSpc>
              <a:buNone/>
            </a:pPr>
            <a:r>
              <a:rPr lang="en-US" sz="4400" b="1" i="0" dirty="0">
                <a:solidFill>
                  <a:srgbClr val="FAF6F1"/>
                </a:solidFill>
                <a:latin typeface="DM Sans" pitchFamily="34" charset="0"/>
                <a:ea typeface="DM Sans" pitchFamily="34" charset="-122"/>
                <a:cs typeface="DM Sans" pitchFamily="34" charset="-120"/>
              </a:rPr>
              <a:t>Finding what holds Zomato's growth back</a:t>
            </a:r>
            <a:endParaRPr lang="en-US" sz="4400" dirty="0"/>
          </a:p>
        </p:txBody>
      </p:sp>
      <p:sp>
        <p:nvSpPr>
          <p:cNvPr id="4" name="Text 2"/>
          <p:cNvSpPr/>
          <p:nvPr/>
        </p:nvSpPr>
        <p:spPr>
          <a:xfrm>
            <a:off x="812800" y="2595880"/>
            <a:ext cx="9156700" cy="932180"/>
          </a:xfrm>
          <a:prstGeom prst="rect">
            <a:avLst/>
          </a:prstGeom>
          <a:noFill/>
          <a:ln/>
        </p:spPr>
        <p:txBody>
          <a:bodyPr wrap="square" lIns="0" tIns="0" rIns="0" bIns="0" rtlCol="0" anchor="t">
            <a:normAutofit/>
          </a:bodyPr>
          <a:lstStyle/>
          <a:p>
            <a:pPr marL="0" indent="0" algn="l">
              <a:lnSpc>
                <a:spcPts val="2380"/>
              </a:lnSpc>
              <a:buNone/>
            </a:pPr>
            <a:r>
              <a:rPr lang="en-US" sz="1700" dirty="0">
                <a:solidFill>
                  <a:srgbClr val="CFC6BE"/>
                </a:solidFill>
                <a:latin typeface="DM Sans" pitchFamily="34" charset="0"/>
                <a:ea typeface="DM Sans" pitchFamily="34" charset="-122"/>
                <a:cs typeface="DM Sans" pitchFamily="34" charset="-120"/>
              </a:rPr>
              <a:t>Registered customers keep growing, but revenue is uneven, retention is slipping and some restaurant partners underperform. This project analyses customer, restaurant and order data to find out why, and what to do about it.</a:t>
            </a:r>
            <a:endParaRPr lang="en-US" sz="1700" dirty="0"/>
          </a:p>
        </p:txBody>
      </p:sp>
      <p:sp>
        <p:nvSpPr>
          <p:cNvPr id="5" name="Text 3"/>
          <p:cNvSpPr/>
          <p:nvPr/>
        </p:nvSpPr>
        <p:spPr>
          <a:xfrm>
            <a:off x="815975" y="3888105"/>
            <a:ext cx="3431064" cy="593090"/>
          </a:xfrm>
          <a:prstGeom prst="roundRect">
            <a:avLst>
              <a:gd name="adj" fmla="val 16595"/>
            </a:avLst>
          </a:prstGeom>
          <a:solidFill>
            <a:srgbClr val="2B2727"/>
          </a:solidFill>
          <a:ln w="6350">
            <a:solidFill>
              <a:srgbClr val="4A4343"/>
            </a:solidFill>
            <a:prstDash val="solid"/>
          </a:ln>
        </p:spPr>
        <p:txBody>
          <a:bodyPr wrap="square" lIns="150877" tIns="125477" rIns="58728" bIns="100077" rtlCol="0" anchor="t">
            <a:normAutofit/>
          </a:bodyPr>
          <a:lstStyle/>
          <a:p>
            <a:pPr marL="0" indent="0" algn="l">
              <a:lnSpc>
                <a:spcPts val="2240"/>
              </a:lnSpc>
              <a:buNone/>
            </a:pPr>
            <a:r>
              <a:rPr lang="en-US" sz="1600" b="1" dirty="0">
                <a:solidFill>
                  <a:srgbClr val="FAF6F1"/>
                </a:solidFill>
                <a:latin typeface="DM Sans" pitchFamily="34" charset="0"/>
                <a:ea typeface="DM Sans" pitchFamily="34" charset="-122"/>
                <a:cs typeface="DM Sans" pitchFamily="34" charset="-120"/>
              </a:rPr>
              <a:t>Revenue</a:t>
            </a:r>
            <a:endParaRPr lang="en-US" sz="1600" dirty="0"/>
          </a:p>
        </p:txBody>
      </p:sp>
      <p:sp>
        <p:nvSpPr>
          <p:cNvPr id="6" name="Text 4"/>
          <p:cNvSpPr/>
          <p:nvPr/>
        </p:nvSpPr>
        <p:spPr>
          <a:xfrm>
            <a:off x="4380389" y="3888105"/>
            <a:ext cx="3431143" cy="593090"/>
          </a:xfrm>
          <a:prstGeom prst="roundRect">
            <a:avLst>
              <a:gd name="adj" fmla="val 16595"/>
            </a:avLst>
          </a:prstGeom>
          <a:solidFill>
            <a:srgbClr val="2B2727"/>
          </a:solidFill>
          <a:ln w="6350">
            <a:solidFill>
              <a:srgbClr val="4A4343"/>
            </a:solidFill>
            <a:prstDash val="solid"/>
          </a:ln>
        </p:spPr>
        <p:txBody>
          <a:bodyPr wrap="square" lIns="150877" tIns="125477" rIns="58725" bIns="100077" rtlCol="0" anchor="t">
            <a:normAutofit/>
          </a:bodyPr>
          <a:lstStyle/>
          <a:p>
            <a:pPr marL="0" indent="0" algn="l">
              <a:lnSpc>
                <a:spcPts val="2240"/>
              </a:lnSpc>
              <a:buNone/>
            </a:pPr>
            <a:r>
              <a:rPr lang="en-US" sz="1600" b="1" dirty="0">
                <a:solidFill>
                  <a:srgbClr val="FAF6F1"/>
                </a:solidFill>
                <a:latin typeface="DM Sans" pitchFamily="34" charset="0"/>
                <a:ea typeface="DM Sans" pitchFamily="34" charset="-122"/>
                <a:cs typeface="DM Sans" pitchFamily="34" charset="-120"/>
              </a:rPr>
              <a:t>Customers</a:t>
            </a:r>
            <a:endParaRPr lang="en-US" sz="1600" dirty="0"/>
          </a:p>
        </p:txBody>
      </p:sp>
      <p:sp>
        <p:nvSpPr>
          <p:cNvPr id="7" name="Text 5"/>
          <p:cNvSpPr/>
          <p:nvPr/>
        </p:nvSpPr>
        <p:spPr>
          <a:xfrm>
            <a:off x="7944882" y="3888105"/>
            <a:ext cx="3431143" cy="593090"/>
          </a:xfrm>
          <a:prstGeom prst="roundRect">
            <a:avLst>
              <a:gd name="adj" fmla="val 16595"/>
            </a:avLst>
          </a:prstGeom>
          <a:solidFill>
            <a:srgbClr val="2B2727"/>
          </a:solidFill>
          <a:ln w="6350">
            <a:solidFill>
              <a:srgbClr val="4A4343"/>
            </a:solidFill>
            <a:prstDash val="solid"/>
          </a:ln>
        </p:spPr>
        <p:txBody>
          <a:bodyPr wrap="square" lIns="150878" tIns="125477" rIns="58725" bIns="100077" rtlCol="0" anchor="t">
            <a:normAutofit/>
          </a:bodyPr>
          <a:lstStyle/>
          <a:p>
            <a:pPr marL="0" indent="0" algn="l">
              <a:lnSpc>
                <a:spcPts val="2240"/>
              </a:lnSpc>
              <a:buNone/>
            </a:pPr>
            <a:r>
              <a:rPr lang="en-US" sz="1600" b="1" dirty="0">
                <a:solidFill>
                  <a:srgbClr val="FAF6F1"/>
                </a:solidFill>
                <a:latin typeface="DM Sans" pitchFamily="34" charset="0"/>
                <a:ea typeface="DM Sans" pitchFamily="34" charset="-122"/>
                <a:cs typeface="DM Sans" pitchFamily="34" charset="-120"/>
              </a:rPr>
              <a:t>Restaurants</a:t>
            </a:r>
            <a:endParaRPr lang="en-US" sz="1600" dirty="0"/>
          </a:p>
        </p:txBody>
      </p:sp>
      <p:sp>
        <p:nvSpPr>
          <p:cNvPr id="8" name="Text 6"/>
          <p:cNvSpPr/>
          <p:nvPr/>
        </p:nvSpPr>
        <p:spPr>
          <a:xfrm>
            <a:off x="815975" y="4614545"/>
            <a:ext cx="3431064" cy="593090"/>
          </a:xfrm>
          <a:prstGeom prst="roundRect">
            <a:avLst>
              <a:gd name="adj" fmla="val 16595"/>
            </a:avLst>
          </a:prstGeom>
          <a:solidFill>
            <a:srgbClr val="2B2727"/>
          </a:solidFill>
          <a:ln w="6350">
            <a:solidFill>
              <a:srgbClr val="4A4343"/>
            </a:solidFill>
            <a:prstDash val="solid"/>
          </a:ln>
        </p:spPr>
        <p:txBody>
          <a:bodyPr wrap="square" lIns="150877" tIns="125477" rIns="58728" bIns="100077" rtlCol="0" anchor="t">
            <a:normAutofit/>
          </a:bodyPr>
          <a:lstStyle/>
          <a:p>
            <a:pPr marL="0" indent="0" algn="l">
              <a:lnSpc>
                <a:spcPts val="2240"/>
              </a:lnSpc>
              <a:buNone/>
            </a:pPr>
            <a:r>
              <a:rPr lang="en-US" sz="1600" b="1" dirty="0">
                <a:solidFill>
                  <a:srgbClr val="FAF6F1"/>
                </a:solidFill>
                <a:latin typeface="DM Sans" pitchFamily="34" charset="0"/>
                <a:ea typeface="DM Sans" pitchFamily="34" charset="-122"/>
                <a:cs typeface="DM Sans" pitchFamily="34" charset="-120"/>
              </a:rPr>
              <a:t>Coupons</a:t>
            </a:r>
            <a:endParaRPr lang="en-US" sz="1600" dirty="0"/>
          </a:p>
        </p:txBody>
      </p:sp>
      <p:sp>
        <p:nvSpPr>
          <p:cNvPr id="9" name="Text 7"/>
          <p:cNvSpPr/>
          <p:nvPr/>
        </p:nvSpPr>
        <p:spPr>
          <a:xfrm>
            <a:off x="4380389" y="4614545"/>
            <a:ext cx="3431143" cy="593090"/>
          </a:xfrm>
          <a:prstGeom prst="roundRect">
            <a:avLst>
              <a:gd name="adj" fmla="val 16595"/>
            </a:avLst>
          </a:prstGeom>
          <a:solidFill>
            <a:srgbClr val="2B2727"/>
          </a:solidFill>
          <a:ln w="6350">
            <a:solidFill>
              <a:srgbClr val="4A4343"/>
            </a:solidFill>
            <a:prstDash val="solid"/>
          </a:ln>
        </p:spPr>
        <p:txBody>
          <a:bodyPr wrap="square" lIns="150877" tIns="125477" rIns="58725" bIns="100077" rtlCol="0" anchor="t">
            <a:normAutofit/>
          </a:bodyPr>
          <a:lstStyle/>
          <a:p>
            <a:pPr marL="0" indent="0" algn="l">
              <a:lnSpc>
                <a:spcPts val="2240"/>
              </a:lnSpc>
              <a:buNone/>
            </a:pPr>
            <a:r>
              <a:rPr lang="en-US" sz="1600" b="1" dirty="0">
                <a:solidFill>
                  <a:srgbClr val="FAF6F1"/>
                </a:solidFill>
                <a:latin typeface="DM Sans" pitchFamily="34" charset="0"/>
                <a:ea typeface="DM Sans" pitchFamily="34" charset="-122"/>
                <a:cs typeface="DM Sans" pitchFamily="34" charset="-120"/>
              </a:rPr>
              <a:t>Cancellations and refunds</a:t>
            </a:r>
            <a:endParaRPr lang="en-US" sz="1600" dirty="0"/>
          </a:p>
        </p:txBody>
      </p:sp>
      <p:sp>
        <p:nvSpPr>
          <p:cNvPr id="10" name="Text 8"/>
          <p:cNvSpPr/>
          <p:nvPr/>
        </p:nvSpPr>
        <p:spPr>
          <a:xfrm>
            <a:off x="7944882" y="4614545"/>
            <a:ext cx="3431143" cy="593090"/>
          </a:xfrm>
          <a:prstGeom prst="roundRect">
            <a:avLst>
              <a:gd name="adj" fmla="val 16595"/>
            </a:avLst>
          </a:prstGeom>
          <a:solidFill>
            <a:srgbClr val="2B2727"/>
          </a:solidFill>
          <a:ln w="6350">
            <a:solidFill>
              <a:srgbClr val="4A4343"/>
            </a:solidFill>
            <a:prstDash val="solid"/>
          </a:ln>
        </p:spPr>
        <p:txBody>
          <a:bodyPr wrap="square" lIns="150878" tIns="125477" rIns="58725" bIns="100077" rtlCol="0" anchor="t">
            <a:normAutofit/>
          </a:bodyPr>
          <a:lstStyle/>
          <a:p>
            <a:pPr marL="0" indent="0" algn="l">
              <a:lnSpc>
                <a:spcPts val="2240"/>
              </a:lnSpc>
              <a:buNone/>
            </a:pPr>
            <a:r>
              <a:rPr lang="en-US" sz="1600" b="1" dirty="0">
                <a:solidFill>
                  <a:srgbClr val="FAF6F1"/>
                </a:solidFill>
                <a:latin typeface="DM Sans" pitchFamily="34" charset="0"/>
                <a:ea typeface="DM Sans" pitchFamily="34" charset="-122"/>
                <a:cs typeface="DM Sans" pitchFamily="34" charset="-120"/>
              </a:rPr>
              <a:t>Churn</a:t>
            </a:r>
            <a:endParaRPr lang="en-US" sz="1600" dirty="0"/>
          </a:p>
        </p:txBody>
      </p:sp>
      <p:sp>
        <p:nvSpPr>
          <p:cNvPr id="11" name="Text 9"/>
          <p:cNvSpPr/>
          <p:nvPr/>
        </p:nvSpPr>
        <p:spPr>
          <a:xfrm>
            <a:off x="812800" y="559308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FC6BE"/>
                </a:solidFill>
                <a:latin typeface="DM Sans" pitchFamily="34" charset="0"/>
                <a:ea typeface="DM Sans" pitchFamily="34" charset="-122"/>
                <a:cs typeface="DM Sans" pitchFamily="34" charset="-120"/>
              </a:rPr>
              <a:t>Data: 4,999 customers · 50,000 orders · 200 restaurants · Jan 2024 to Apr 2026</a:t>
            </a:r>
            <a:endParaRPr lang="en-US" sz="1400" dirty="0"/>
          </a:p>
        </p:txBody>
      </p:sp>
      <p:sp>
        <p:nvSpPr>
          <p:cNvPr id="12" name="Text 10"/>
          <p:cNvSpPr/>
          <p:nvPr/>
        </p:nvSpPr>
        <p:spPr>
          <a:xfrm>
            <a:off x="812800" y="6238240"/>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TECH STACK</a:t>
            </a:r>
            <a:endParaRPr lang="en-US" sz="1400" dirty="0"/>
          </a:p>
        </p:txBody>
      </p:sp>
      <p:sp>
        <p:nvSpPr>
          <p:cNvPr id="3" name="Text 1"/>
          <p:cNvSpPr>
            <a:spLocks noGrp="1"/>
          </p:cNvSpPr>
          <p:nvPr>
            <p:ph type="title"/>
          </p:nvPr>
        </p:nvSpPr>
        <p:spPr>
          <a:xfrm>
            <a:off x="812800" y="118872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AF6F1"/>
                </a:solidFill>
                <a:latin typeface="DM Sans" pitchFamily="34" charset="0"/>
                <a:ea typeface="DM Sans" pitchFamily="34" charset="-122"/>
                <a:cs typeface="DM Sans" pitchFamily="34" charset="-120"/>
              </a:rPr>
              <a:t>SQL on three linked tables</a:t>
            </a:r>
            <a:endParaRPr lang="en-US" sz="3200" dirty="0"/>
          </a:p>
        </p:txBody>
      </p:sp>
      <p:sp>
        <p:nvSpPr>
          <p:cNvPr id="4" name="Shape 2"/>
          <p:cNvSpPr/>
          <p:nvPr/>
        </p:nvSpPr>
        <p:spPr>
          <a:xfrm>
            <a:off x="815975" y="2505075"/>
            <a:ext cx="2501900" cy="2218690"/>
          </a:xfrm>
          <a:prstGeom prst="roundRect">
            <a:avLst>
              <a:gd name="adj" fmla="val 4436"/>
            </a:avLst>
          </a:prstGeom>
          <a:solidFill>
            <a:srgbClr val="2B2727"/>
          </a:solidFill>
          <a:ln w="6350">
            <a:solidFill>
              <a:srgbClr val="4A4343"/>
            </a:solidFill>
            <a:prstDash val="solid"/>
          </a:ln>
        </p:spPr>
        <p:txBody>
          <a:bodyPr/>
          <a:lstStyle/>
          <a:p>
            <a:endParaRPr lang="en-IN"/>
          </a:p>
        </p:txBody>
      </p:sp>
      <p:pic>
        <p:nvPicPr>
          <p:cNvPr id="5" name="Image 0" descr="Database"/>
          <p:cNvPicPr>
            <a:picLocks noChangeAspect="1"/>
          </p:cNvPicPr>
          <p:nvPr/>
        </p:nvPicPr>
        <p:blipFill>
          <a:blip r:embed="rId3"/>
          <a:srcRect/>
          <a:stretch/>
        </p:blipFill>
        <p:spPr>
          <a:xfrm>
            <a:off x="1046480" y="2735580"/>
            <a:ext cx="355600" cy="355600"/>
          </a:xfrm>
          <a:prstGeom prst="rect">
            <a:avLst/>
          </a:prstGeom>
        </p:spPr>
      </p:pic>
      <p:sp>
        <p:nvSpPr>
          <p:cNvPr id="6" name="Text 3"/>
          <p:cNvSpPr/>
          <p:nvPr/>
        </p:nvSpPr>
        <p:spPr>
          <a:xfrm>
            <a:off x="1046480" y="3192780"/>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AF6F1"/>
                </a:solidFill>
                <a:latin typeface="DM Sans" pitchFamily="34" charset="0"/>
                <a:ea typeface="DM Sans" pitchFamily="34" charset="-122"/>
                <a:cs typeface="DM Sans" pitchFamily="34" charset="-120"/>
              </a:rPr>
              <a:t>SQL Server</a:t>
            </a:r>
            <a:endParaRPr lang="en-US" sz="1800" dirty="0"/>
          </a:p>
        </p:txBody>
      </p:sp>
      <p:sp>
        <p:nvSpPr>
          <p:cNvPr id="7" name="Text 4"/>
          <p:cNvSpPr/>
          <p:nvPr/>
        </p:nvSpPr>
        <p:spPr>
          <a:xfrm>
            <a:off x="1046480" y="3568700"/>
            <a:ext cx="2102117"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Relational store for the three tables, queried in SSMS.</a:t>
            </a:r>
            <a:endParaRPr lang="en-US" sz="1300" dirty="0"/>
          </a:p>
        </p:txBody>
      </p:sp>
      <p:sp>
        <p:nvSpPr>
          <p:cNvPr id="8" name="Shape 5"/>
          <p:cNvSpPr/>
          <p:nvPr/>
        </p:nvSpPr>
        <p:spPr>
          <a:xfrm>
            <a:off x="3502025" y="2505075"/>
            <a:ext cx="2501900" cy="2218690"/>
          </a:xfrm>
          <a:prstGeom prst="roundRect">
            <a:avLst>
              <a:gd name="adj" fmla="val 4436"/>
            </a:avLst>
          </a:prstGeom>
          <a:solidFill>
            <a:srgbClr val="2B2727"/>
          </a:solidFill>
          <a:ln w="6350">
            <a:solidFill>
              <a:srgbClr val="4A4343"/>
            </a:solidFill>
            <a:prstDash val="solid"/>
          </a:ln>
        </p:spPr>
        <p:txBody>
          <a:bodyPr/>
          <a:lstStyle/>
          <a:p>
            <a:endParaRPr lang="en-IN"/>
          </a:p>
        </p:txBody>
      </p:sp>
      <p:pic>
        <p:nvPicPr>
          <p:cNvPr id="9" name="Image 1" descr="Code"/>
          <p:cNvPicPr>
            <a:picLocks noChangeAspect="1"/>
          </p:cNvPicPr>
          <p:nvPr/>
        </p:nvPicPr>
        <p:blipFill>
          <a:blip r:embed="rId4"/>
          <a:srcRect/>
          <a:stretch/>
        </p:blipFill>
        <p:spPr>
          <a:xfrm>
            <a:off x="3732530" y="2735580"/>
            <a:ext cx="355600" cy="355600"/>
          </a:xfrm>
          <a:prstGeom prst="rect">
            <a:avLst/>
          </a:prstGeom>
        </p:spPr>
      </p:pic>
      <p:sp>
        <p:nvSpPr>
          <p:cNvPr id="10" name="Text 6"/>
          <p:cNvSpPr/>
          <p:nvPr/>
        </p:nvSpPr>
        <p:spPr>
          <a:xfrm>
            <a:off x="3732530" y="3192780"/>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AF6F1"/>
                </a:solidFill>
                <a:latin typeface="DM Sans" pitchFamily="34" charset="0"/>
                <a:ea typeface="DM Sans" pitchFamily="34" charset="-122"/>
                <a:cs typeface="DM Sans" pitchFamily="34" charset="-120"/>
              </a:rPr>
              <a:t>T-SQL</a:t>
            </a:r>
            <a:endParaRPr lang="en-US" sz="1800" dirty="0"/>
          </a:p>
        </p:txBody>
      </p:sp>
      <p:sp>
        <p:nvSpPr>
          <p:cNvPr id="11" name="Text 7"/>
          <p:cNvSpPr/>
          <p:nvPr/>
        </p:nvSpPr>
        <p:spPr>
          <a:xfrm>
            <a:off x="3732530" y="3568700"/>
            <a:ext cx="2102117"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CTEs, window functions, CASE logic, date functions and joins.</a:t>
            </a:r>
            <a:endParaRPr lang="en-US" sz="1300" dirty="0"/>
          </a:p>
        </p:txBody>
      </p:sp>
      <p:sp>
        <p:nvSpPr>
          <p:cNvPr id="12" name="Shape 8"/>
          <p:cNvSpPr/>
          <p:nvPr/>
        </p:nvSpPr>
        <p:spPr>
          <a:xfrm>
            <a:off x="6188075" y="2505075"/>
            <a:ext cx="2501900" cy="2218690"/>
          </a:xfrm>
          <a:prstGeom prst="roundRect">
            <a:avLst>
              <a:gd name="adj" fmla="val 4436"/>
            </a:avLst>
          </a:prstGeom>
          <a:solidFill>
            <a:srgbClr val="2B2727"/>
          </a:solidFill>
          <a:ln w="6350">
            <a:solidFill>
              <a:srgbClr val="4A4343"/>
            </a:solidFill>
            <a:prstDash val="solid"/>
          </a:ln>
        </p:spPr>
        <p:txBody>
          <a:bodyPr/>
          <a:lstStyle/>
          <a:p>
            <a:endParaRPr lang="en-IN"/>
          </a:p>
        </p:txBody>
      </p:sp>
      <p:pic>
        <p:nvPicPr>
          <p:cNvPr id="13" name="Image 2" descr="Link"/>
          <p:cNvPicPr>
            <a:picLocks noChangeAspect="1"/>
          </p:cNvPicPr>
          <p:nvPr/>
        </p:nvPicPr>
        <p:blipFill>
          <a:blip r:embed="rId5"/>
          <a:srcRect/>
          <a:stretch/>
        </p:blipFill>
        <p:spPr>
          <a:xfrm>
            <a:off x="6418580" y="2735580"/>
            <a:ext cx="355600" cy="355600"/>
          </a:xfrm>
          <a:prstGeom prst="rect">
            <a:avLst/>
          </a:prstGeom>
        </p:spPr>
      </p:pic>
      <p:sp>
        <p:nvSpPr>
          <p:cNvPr id="14" name="Text 9"/>
          <p:cNvSpPr/>
          <p:nvPr/>
        </p:nvSpPr>
        <p:spPr>
          <a:xfrm>
            <a:off x="6418580" y="3192780"/>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AF6F1"/>
                </a:solidFill>
                <a:latin typeface="DM Sans" pitchFamily="34" charset="0"/>
                <a:ea typeface="DM Sans" pitchFamily="34" charset="-122"/>
                <a:cs typeface="DM Sans" pitchFamily="34" charset="-120"/>
              </a:rPr>
              <a:t>Data model</a:t>
            </a:r>
            <a:endParaRPr lang="en-US" sz="1800" dirty="0"/>
          </a:p>
        </p:txBody>
      </p:sp>
      <p:sp>
        <p:nvSpPr>
          <p:cNvPr id="15" name="Text 10"/>
          <p:cNvSpPr/>
          <p:nvPr/>
        </p:nvSpPr>
        <p:spPr>
          <a:xfrm>
            <a:off x="6418580" y="3568700"/>
            <a:ext cx="2102117" cy="94996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Orders join Customers on customer_id and Restaurants on restaurant_id.</a:t>
            </a:r>
            <a:endParaRPr lang="en-US" sz="1300" dirty="0"/>
          </a:p>
        </p:txBody>
      </p:sp>
      <p:sp>
        <p:nvSpPr>
          <p:cNvPr id="16" name="Shape 11"/>
          <p:cNvSpPr/>
          <p:nvPr/>
        </p:nvSpPr>
        <p:spPr>
          <a:xfrm>
            <a:off x="8874125" y="2505075"/>
            <a:ext cx="2501900" cy="2218690"/>
          </a:xfrm>
          <a:prstGeom prst="roundRect">
            <a:avLst>
              <a:gd name="adj" fmla="val 4436"/>
            </a:avLst>
          </a:prstGeom>
          <a:solidFill>
            <a:srgbClr val="2B2727"/>
          </a:solidFill>
          <a:ln w="6350">
            <a:solidFill>
              <a:srgbClr val="4A4343"/>
            </a:solidFill>
            <a:prstDash val="solid"/>
          </a:ln>
        </p:spPr>
        <p:txBody>
          <a:bodyPr/>
          <a:lstStyle/>
          <a:p>
            <a:endParaRPr lang="en-IN"/>
          </a:p>
        </p:txBody>
      </p:sp>
      <p:pic>
        <p:nvPicPr>
          <p:cNvPr id="17" name="Image 3" descr="Check"/>
          <p:cNvPicPr>
            <a:picLocks noChangeAspect="1"/>
          </p:cNvPicPr>
          <p:nvPr/>
        </p:nvPicPr>
        <p:blipFill>
          <a:blip r:embed="rId6"/>
          <a:srcRect/>
          <a:stretch/>
        </p:blipFill>
        <p:spPr>
          <a:xfrm>
            <a:off x="9104630" y="2735580"/>
            <a:ext cx="355600" cy="355600"/>
          </a:xfrm>
          <a:prstGeom prst="rect">
            <a:avLst/>
          </a:prstGeom>
        </p:spPr>
      </p:pic>
      <p:sp>
        <p:nvSpPr>
          <p:cNvPr id="18" name="Text 12"/>
          <p:cNvSpPr/>
          <p:nvPr/>
        </p:nvSpPr>
        <p:spPr>
          <a:xfrm>
            <a:off x="9104630" y="3192780"/>
            <a:ext cx="2102117"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FAF6F1"/>
                </a:solidFill>
                <a:latin typeface="DM Sans" pitchFamily="34" charset="0"/>
                <a:ea typeface="DM Sans" pitchFamily="34" charset="-122"/>
                <a:cs typeface="DM Sans" pitchFamily="34" charset="-120"/>
              </a:rPr>
              <a:t>Validation</a:t>
            </a:r>
            <a:endParaRPr lang="en-US" sz="1800" dirty="0"/>
          </a:p>
        </p:txBody>
      </p:sp>
      <p:sp>
        <p:nvSpPr>
          <p:cNvPr id="19" name="Text 13"/>
          <p:cNvSpPr/>
          <p:nvPr/>
        </p:nvSpPr>
        <p:spPr>
          <a:xfrm>
            <a:off x="9104630" y="3568700"/>
            <a:ext cx="2102117"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Python (pandas) checks of totals, status counts and date range.</a:t>
            </a:r>
            <a:endParaRPr lang="en-US" sz="1300" dirty="0"/>
          </a:p>
        </p:txBody>
      </p:sp>
      <p:sp>
        <p:nvSpPr>
          <p:cNvPr id="20" name="Text 14"/>
          <p:cNvSpPr/>
          <p:nvPr/>
        </p:nvSpPr>
        <p:spPr>
          <a:xfrm>
            <a:off x="815975" y="513715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FC6BE"/>
                </a:solidFill>
                <a:latin typeface="DM Sans" pitchFamily="34" charset="0"/>
                <a:ea typeface="DM Sans" pitchFamily="34" charset="-122"/>
                <a:cs typeface="DM Sans" pitchFamily="34" charset="-120"/>
              </a:rPr>
              <a:t>Source files: Zomato Customers Data.csv · Zomato Order Data.csv · Zomato Restaurants Data.csv</a:t>
            </a:r>
            <a:endParaRPr lang="en-US" sz="1400" dirty="0"/>
          </a:p>
        </p:txBody>
      </p:sp>
      <p:sp>
        <p:nvSpPr>
          <p:cNvPr id="21" name="Text 15"/>
          <p:cNvSpPr/>
          <p:nvPr/>
        </p:nvSpPr>
        <p:spPr>
          <a:xfrm>
            <a:off x="812800" y="6238241"/>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PROJECT APPROACH</a:t>
            </a:r>
            <a:endParaRPr lang="en-US" sz="1400" dirty="0"/>
          </a:p>
        </p:txBody>
      </p:sp>
      <p:sp>
        <p:nvSpPr>
          <p:cNvPr id="3" name="Text 1"/>
          <p:cNvSpPr>
            <a:spLocks noGrp="1"/>
          </p:cNvSpPr>
          <p:nvPr>
            <p:ph type="title"/>
          </p:nvPr>
        </p:nvSpPr>
        <p:spPr>
          <a:xfrm>
            <a:off x="812800" y="118872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AF6F1"/>
                </a:solidFill>
                <a:latin typeface="DM Sans" pitchFamily="34" charset="0"/>
                <a:ea typeface="DM Sans" pitchFamily="34" charset="-122"/>
                <a:cs typeface="DM Sans" pitchFamily="34" charset="-120"/>
              </a:rPr>
              <a:t>From raw files to recommendations</a:t>
            </a:r>
            <a:endParaRPr lang="en-US" sz="3200" dirty="0"/>
          </a:p>
        </p:txBody>
      </p:sp>
      <p:sp>
        <p:nvSpPr>
          <p:cNvPr id="4" name="Shape 2"/>
          <p:cNvSpPr/>
          <p:nvPr/>
        </p:nvSpPr>
        <p:spPr>
          <a:xfrm>
            <a:off x="812800" y="2060575"/>
            <a:ext cx="10566400" cy="0"/>
          </a:xfrm>
          <a:prstGeom prst="line">
            <a:avLst/>
          </a:prstGeom>
          <a:noFill/>
          <a:ln w="6350">
            <a:solidFill>
              <a:srgbClr val="4A4343"/>
            </a:solidFill>
            <a:prstDash val="solid"/>
          </a:ln>
        </p:spPr>
        <p:txBody>
          <a:bodyPr/>
          <a:lstStyle/>
          <a:p>
            <a:endParaRPr lang="en-IN"/>
          </a:p>
        </p:txBody>
      </p:sp>
      <p:sp>
        <p:nvSpPr>
          <p:cNvPr id="5" name="Text 3"/>
          <p:cNvSpPr/>
          <p:nvPr/>
        </p:nvSpPr>
        <p:spPr>
          <a:xfrm>
            <a:off x="812800" y="2189480"/>
            <a:ext cx="8128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B04A"/>
                </a:solidFill>
                <a:latin typeface="DM Sans" pitchFamily="34" charset="0"/>
                <a:ea typeface="DM Sans" pitchFamily="34" charset="-122"/>
                <a:cs typeface="DM Sans" pitchFamily="34" charset="-120"/>
              </a:rPr>
              <a:t>01</a:t>
            </a:r>
            <a:endParaRPr lang="en-US" sz="2800" dirty="0"/>
          </a:p>
        </p:txBody>
      </p:sp>
      <p:sp>
        <p:nvSpPr>
          <p:cNvPr id="6" name="Text 4"/>
          <p:cNvSpPr/>
          <p:nvPr/>
        </p:nvSpPr>
        <p:spPr>
          <a:xfrm>
            <a:off x="1828800" y="2308861"/>
            <a:ext cx="366268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AF6F1"/>
                </a:solidFill>
                <a:latin typeface="DM Sans" pitchFamily="34" charset="0"/>
                <a:ea typeface="DM Sans" pitchFamily="34" charset="-122"/>
                <a:cs typeface="DM Sans" pitchFamily="34" charset="-120"/>
              </a:rPr>
              <a:t>Load and model the data</a:t>
            </a:r>
            <a:endParaRPr lang="en-US" sz="1700" dirty="0"/>
          </a:p>
        </p:txBody>
      </p:sp>
      <p:sp>
        <p:nvSpPr>
          <p:cNvPr id="7" name="Text 5"/>
          <p:cNvSpPr/>
          <p:nvPr/>
        </p:nvSpPr>
        <p:spPr>
          <a:xfrm>
            <a:off x="5638800" y="2207261"/>
            <a:ext cx="575564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Import three CSVs into SQL Server and link orders to customers and restaurants by ID.</a:t>
            </a:r>
            <a:endParaRPr lang="en-US" sz="1300" dirty="0"/>
          </a:p>
        </p:txBody>
      </p:sp>
      <p:sp>
        <p:nvSpPr>
          <p:cNvPr id="8" name="Shape 6"/>
          <p:cNvSpPr/>
          <p:nvPr/>
        </p:nvSpPr>
        <p:spPr>
          <a:xfrm>
            <a:off x="812800" y="2817495"/>
            <a:ext cx="10566400" cy="0"/>
          </a:xfrm>
          <a:prstGeom prst="line">
            <a:avLst/>
          </a:prstGeom>
          <a:noFill/>
          <a:ln w="6350">
            <a:solidFill>
              <a:srgbClr val="4A4343"/>
            </a:solidFill>
            <a:prstDash val="solid"/>
          </a:ln>
        </p:spPr>
        <p:txBody>
          <a:bodyPr/>
          <a:lstStyle/>
          <a:p>
            <a:endParaRPr lang="en-IN"/>
          </a:p>
        </p:txBody>
      </p:sp>
      <p:sp>
        <p:nvSpPr>
          <p:cNvPr id="9" name="Text 7"/>
          <p:cNvSpPr/>
          <p:nvPr/>
        </p:nvSpPr>
        <p:spPr>
          <a:xfrm>
            <a:off x="812800" y="2946400"/>
            <a:ext cx="8128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B04A"/>
                </a:solidFill>
                <a:latin typeface="DM Sans" pitchFamily="34" charset="0"/>
                <a:ea typeface="DM Sans" pitchFamily="34" charset="-122"/>
                <a:cs typeface="DM Sans" pitchFamily="34" charset="-120"/>
              </a:rPr>
              <a:t>02</a:t>
            </a:r>
            <a:endParaRPr lang="en-US" sz="2800" dirty="0"/>
          </a:p>
        </p:txBody>
      </p:sp>
      <p:sp>
        <p:nvSpPr>
          <p:cNvPr id="10" name="Text 8"/>
          <p:cNvSpPr/>
          <p:nvPr/>
        </p:nvSpPr>
        <p:spPr>
          <a:xfrm>
            <a:off x="1828800" y="3065780"/>
            <a:ext cx="366268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AF6F1"/>
                </a:solidFill>
                <a:latin typeface="DM Sans" pitchFamily="34" charset="0"/>
                <a:ea typeface="DM Sans" pitchFamily="34" charset="-122"/>
                <a:cs typeface="DM Sans" pitchFamily="34" charset="-120"/>
              </a:rPr>
              <a:t>Define the metrics</a:t>
            </a:r>
            <a:endParaRPr lang="en-US" sz="1700" dirty="0"/>
          </a:p>
        </p:txBody>
      </p:sp>
      <p:sp>
        <p:nvSpPr>
          <p:cNvPr id="11" name="Text 9"/>
          <p:cNvSpPr/>
          <p:nvPr/>
        </p:nvSpPr>
        <p:spPr>
          <a:xfrm>
            <a:off x="5638800" y="2964180"/>
            <a:ext cx="575564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Revenue counts delivered orders; churn means no delivered order in the 90 days before 30 Apr 2026.</a:t>
            </a:r>
            <a:endParaRPr lang="en-US" sz="1300" dirty="0"/>
          </a:p>
        </p:txBody>
      </p:sp>
      <p:sp>
        <p:nvSpPr>
          <p:cNvPr id="12" name="Shape 10"/>
          <p:cNvSpPr/>
          <p:nvPr/>
        </p:nvSpPr>
        <p:spPr>
          <a:xfrm>
            <a:off x="812800" y="3574416"/>
            <a:ext cx="10566400" cy="0"/>
          </a:xfrm>
          <a:prstGeom prst="line">
            <a:avLst/>
          </a:prstGeom>
          <a:noFill/>
          <a:ln w="6350">
            <a:solidFill>
              <a:srgbClr val="4A4343"/>
            </a:solidFill>
            <a:prstDash val="solid"/>
          </a:ln>
        </p:spPr>
        <p:txBody>
          <a:bodyPr/>
          <a:lstStyle/>
          <a:p>
            <a:endParaRPr lang="en-IN"/>
          </a:p>
        </p:txBody>
      </p:sp>
      <p:sp>
        <p:nvSpPr>
          <p:cNvPr id="13" name="Text 11"/>
          <p:cNvSpPr/>
          <p:nvPr/>
        </p:nvSpPr>
        <p:spPr>
          <a:xfrm>
            <a:off x="812800" y="3703320"/>
            <a:ext cx="8128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B04A"/>
                </a:solidFill>
                <a:latin typeface="DM Sans" pitchFamily="34" charset="0"/>
                <a:ea typeface="DM Sans" pitchFamily="34" charset="-122"/>
                <a:cs typeface="DM Sans" pitchFamily="34" charset="-120"/>
              </a:rPr>
              <a:t>03</a:t>
            </a:r>
            <a:endParaRPr lang="en-US" sz="2800" dirty="0"/>
          </a:p>
        </p:txBody>
      </p:sp>
      <p:sp>
        <p:nvSpPr>
          <p:cNvPr id="14" name="Text 12"/>
          <p:cNvSpPr/>
          <p:nvPr/>
        </p:nvSpPr>
        <p:spPr>
          <a:xfrm>
            <a:off x="1828800" y="3822700"/>
            <a:ext cx="366268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AF6F1"/>
                </a:solidFill>
                <a:latin typeface="DM Sans" pitchFamily="34" charset="0"/>
                <a:ea typeface="DM Sans" pitchFamily="34" charset="-122"/>
                <a:cs typeface="DM Sans" pitchFamily="34" charset="-120"/>
              </a:rPr>
              <a:t>Answer 27 questions</a:t>
            </a:r>
            <a:endParaRPr lang="en-US" sz="1700" dirty="0"/>
          </a:p>
        </p:txBody>
      </p:sp>
      <p:sp>
        <p:nvSpPr>
          <p:cNvPr id="15" name="Text 13"/>
          <p:cNvSpPr/>
          <p:nvPr/>
        </p:nvSpPr>
        <p:spPr>
          <a:xfrm>
            <a:off x="5638800" y="3721100"/>
            <a:ext cx="575564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Revenue, customers, restaurants, coupons, cancellations and refunds, and churn, each written in T-SQL.</a:t>
            </a:r>
            <a:endParaRPr lang="en-US" sz="1300" dirty="0"/>
          </a:p>
        </p:txBody>
      </p:sp>
      <p:sp>
        <p:nvSpPr>
          <p:cNvPr id="16" name="Shape 14"/>
          <p:cNvSpPr/>
          <p:nvPr/>
        </p:nvSpPr>
        <p:spPr>
          <a:xfrm>
            <a:off x="812800" y="4331336"/>
            <a:ext cx="10566400" cy="0"/>
          </a:xfrm>
          <a:prstGeom prst="line">
            <a:avLst/>
          </a:prstGeom>
          <a:noFill/>
          <a:ln w="6350">
            <a:solidFill>
              <a:srgbClr val="4A4343"/>
            </a:solidFill>
            <a:prstDash val="solid"/>
          </a:ln>
        </p:spPr>
        <p:txBody>
          <a:bodyPr/>
          <a:lstStyle/>
          <a:p>
            <a:endParaRPr lang="en-IN"/>
          </a:p>
        </p:txBody>
      </p:sp>
      <p:sp>
        <p:nvSpPr>
          <p:cNvPr id="17" name="Text 15"/>
          <p:cNvSpPr/>
          <p:nvPr/>
        </p:nvSpPr>
        <p:spPr>
          <a:xfrm>
            <a:off x="812800" y="4460241"/>
            <a:ext cx="8128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B04A"/>
                </a:solidFill>
                <a:latin typeface="DM Sans" pitchFamily="34" charset="0"/>
                <a:ea typeface="DM Sans" pitchFamily="34" charset="-122"/>
                <a:cs typeface="DM Sans" pitchFamily="34" charset="-120"/>
              </a:rPr>
              <a:t>04</a:t>
            </a:r>
            <a:endParaRPr lang="en-US" sz="2800" dirty="0"/>
          </a:p>
        </p:txBody>
      </p:sp>
      <p:sp>
        <p:nvSpPr>
          <p:cNvPr id="18" name="Text 16"/>
          <p:cNvSpPr/>
          <p:nvPr/>
        </p:nvSpPr>
        <p:spPr>
          <a:xfrm>
            <a:off x="1828800" y="4579620"/>
            <a:ext cx="366268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AF6F1"/>
                </a:solidFill>
                <a:latin typeface="DM Sans" pitchFamily="34" charset="0"/>
                <a:ea typeface="DM Sans" pitchFamily="34" charset="-122"/>
                <a:cs typeface="DM Sans" pitchFamily="34" charset="-120"/>
              </a:rPr>
              <a:t>Validate the results</a:t>
            </a:r>
            <a:endParaRPr lang="en-US" sz="1700" dirty="0"/>
          </a:p>
        </p:txBody>
      </p:sp>
      <p:sp>
        <p:nvSpPr>
          <p:cNvPr id="19" name="Text 17"/>
          <p:cNvSpPr/>
          <p:nvPr/>
        </p:nvSpPr>
        <p:spPr>
          <a:xfrm>
            <a:off x="5638800" y="4478020"/>
            <a:ext cx="575564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Cross-checked totals, order status counts and the Jan 2024 to Apr 2026 date range against the raw files.</a:t>
            </a:r>
            <a:endParaRPr lang="en-US" sz="1300" dirty="0"/>
          </a:p>
        </p:txBody>
      </p:sp>
      <p:sp>
        <p:nvSpPr>
          <p:cNvPr id="20" name="Shape 18"/>
          <p:cNvSpPr/>
          <p:nvPr/>
        </p:nvSpPr>
        <p:spPr>
          <a:xfrm>
            <a:off x="812800" y="5088255"/>
            <a:ext cx="10566400" cy="0"/>
          </a:xfrm>
          <a:prstGeom prst="line">
            <a:avLst/>
          </a:prstGeom>
          <a:noFill/>
          <a:ln w="6350">
            <a:solidFill>
              <a:srgbClr val="4A4343"/>
            </a:solidFill>
            <a:prstDash val="solid"/>
          </a:ln>
        </p:spPr>
        <p:txBody>
          <a:bodyPr/>
          <a:lstStyle/>
          <a:p>
            <a:endParaRPr lang="en-IN"/>
          </a:p>
        </p:txBody>
      </p:sp>
      <p:sp>
        <p:nvSpPr>
          <p:cNvPr id="21" name="Text 19"/>
          <p:cNvSpPr/>
          <p:nvPr/>
        </p:nvSpPr>
        <p:spPr>
          <a:xfrm>
            <a:off x="812800" y="5217161"/>
            <a:ext cx="812800" cy="523240"/>
          </a:xfrm>
          <a:prstGeom prst="rect">
            <a:avLst/>
          </a:prstGeom>
          <a:noFill/>
          <a:ln/>
        </p:spPr>
        <p:txBody>
          <a:bodyPr wrap="square" lIns="0" tIns="0" rIns="0" bIns="0" rtlCol="0" anchor="t">
            <a:normAutofit/>
          </a:bodyPr>
          <a:lstStyle/>
          <a:p>
            <a:pPr marL="0" indent="0" algn="l">
              <a:lnSpc>
                <a:spcPts val="3920"/>
              </a:lnSpc>
              <a:buNone/>
            </a:pPr>
            <a:r>
              <a:rPr lang="en-US" sz="2800" b="1" dirty="0">
                <a:solidFill>
                  <a:srgbClr val="F0B04A"/>
                </a:solidFill>
                <a:latin typeface="DM Sans" pitchFamily="34" charset="0"/>
                <a:ea typeface="DM Sans" pitchFamily="34" charset="-122"/>
                <a:cs typeface="DM Sans" pitchFamily="34" charset="-120"/>
              </a:rPr>
              <a:t>05</a:t>
            </a:r>
            <a:endParaRPr lang="en-US" sz="2800" dirty="0"/>
          </a:p>
        </p:txBody>
      </p:sp>
      <p:sp>
        <p:nvSpPr>
          <p:cNvPr id="22" name="Text 20"/>
          <p:cNvSpPr/>
          <p:nvPr/>
        </p:nvSpPr>
        <p:spPr>
          <a:xfrm>
            <a:off x="1828800" y="5336541"/>
            <a:ext cx="3662680" cy="284480"/>
          </a:xfrm>
          <a:prstGeom prst="rect">
            <a:avLst/>
          </a:prstGeom>
          <a:noFill/>
          <a:ln/>
        </p:spPr>
        <p:txBody>
          <a:bodyPr wrap="square" lIns="0" tIns="0" rIns="0" bIns="0" rtlCol="0" anchor="t">
            <a:normAutofit/>
          </a:bodyPr>
          <a:lstStyle/>
          <a:p>
            <a:pPr marL="0" indent="0" algn="l">
              <a:lnSpc>
                <a:spcPts val="2040"/>
              </a:lnSpc>
              <a:buNone/>
            </a:pPr>
            <a:r>
              <a:rPr lang="en-US" sz="1700" b="1" dirty="0">
                <a:solidFill>
                  <a:srgbClr val="FAF6F1"/>
                </a:solidFill>
                <a:latin typeface="DM Sans" pitchFamily="34" charset="0"/>
                <a:ea typeface="DM Sans" pitchFamily="34" charset="-122"/>
                <a:cs typeface="DM Sans" pitchFamily="34" charset="-120"/>
              </a:rPr>
              <a:t>Turn findings into actions</a:t>
            </a:r>
            <a:endParaRPr lang="en-US" sz="1700" dirty="0"/>
          </a:p>
        </p:txBody>
      </p:sp>
      <p:sp>
        <p:nvSpPr>
          <p:cNvPr id="23" name="Text 21"/>
          <p:cNvSpPr/>
          <p:nvPr/>
        </p:nvSpPr>
        <p:spPr>
          <a:xfrm>
            <a:off x="5638800" y="5234941"/>
            <a:ext cx="5755640"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Rank problems by revenue at stake and turn them into recommendations.</a:t>
            </a:r>
            <a:endParaRPr lang="en-US" sz="1300" dirty="0"/>
          </a:p>
        </p:txBody>
      </p:sp>
      <p:sp>
        <p:nvSpPr>
          <p:cNvPr id="24" name="Text 22"/>
          <p:cNvSpPr/>
          <p:nvPr/>
        </p:nvSpPr>
        <p:spPr>
          <a:xfrm>
            <a:off x="812800" y="6238241"/>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REVENUE ANALYSIS · QUESTION 1 OF 5</a:t>
            </a:r>
            <a:endParaRPr lang="en-US" sz="1400" dirty="0"/>
          </a:p>
        </p:txBody>
      </p:sp>
      <p:sp>
        <p:nvSpPr>
          <p:cNvPr id="3" name="Text 1"/>
          <p:cNvSpPr>
            <a:spLocks noGrp="1"/>
          </p:cNvSpPr>
          <p:nvPr>
            <p:ph type="title"/>
          </p:nvPr>
        </p:nvSpPr>
        <p:spPr>
          <a:xfrm>
            <a:off x="812800" y="1137920"/>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What is the total revenue?</a:t>
            </a:r>
            <a:endParaRPr lang="en-US" sz="2300" dirty="0"/>
          </a:p>
        </p:txBody>
      </p:sp>
      <p:sp>
        <p:nvSpPr>
          <p:cNvPr id="4" name="Shape 2"/>
          <p:cNvSpPr/>
          <p:nvPr/>
        </p:nvSpPr>
        <p:spPr>
          <a:xfrm>
            <a:off x="815975" y="1654811"/>
            <a:ext cx="10560050" cy="1256030"/>
          </a:xfrm>
          <a:prstGeom prst="roundRect">
            <a:avLst>
              <a:gd name="adj" fmla="val 7836"/>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6"/>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10506659"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SUM(order_amount) AS total_revenue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p:txBody>
      </p:sp>
      <p:sp>
        <p:nvSpPr>
          <p:cNvPr id="7" name="Shape 5"/>
          <p:cNvSpPr/>
          <p:nvPr/>
        </p:nvSpPr>
        <p:spPr>
          <a:xfrm>
            <a:off x="815975" y="3094991"/>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995680" y="3274695"/>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3587115"/>
          <a:ext cx="4053840" cy="713740"/>
        </p:xfrm>
        <a:graphic>
          <a:graphicData uri="http://schemas.openxmlformats.org/drawingml/2006/table">
            <a:tbl>
              <a:tblPr/>
              <a:tblGrid>
                <a:gridCol w="4053840">
                  <a:extLst>
                    <a:ext uri="{9D8B030D-6E8A-4147-A177-3AD203B41FA5}">
                      <a16:colId xmlns:a16="http://schemas.microsoft.com/office/drawing/2014/main" val="20000"/>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total_revenue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26859391.4037476</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4661536"/>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dirty="0">
                <a:solidFill>
                  <a:srgbClr val="FAF6F1"/>
                </a:solidFill>
                <a:latin typeface="DM Sans" pitchFamily="34" charset="0"/>
                <a:ea typeface="DM Sans" pitchFamily="34" charset="-122"/>
                <a:cs typeface="DM Sans" pitchFamily="34" charset="-120"/>
              </a:rPr>
              <a:t>Delivered orders bring in </a:t>
            </a:r>
            <a:r>
              <a:rPr lang="en-US" sz="1500" b="1" dirty="0">
                <a:solidFill>
                  <a:srgbClr val="FAF6F1"/>
                </a:solidFill>
                <a:latin typeface="DM Sans" pitchFamily="34" charset="0"/>
                <a:ea typeface="DM Sans" pitchFamily="34" charset="-122"/>
                <a:cs typeface="DM Sans" pitchFamily="34" charset="-120"/>
              </a:rPr>
              <a:t>₹26.86M</a:t>
            </a:r>
            <a:r>
              <a:rPr lang="en-US" sz="1500" dirty="0">
                <a:solidFill>
                  <a:srgbClr val="FAF6F1"/>
                </a:solidFill>
                <a:latin typeface="DM Sans" pitchFamily="34" charset="0"/>
                <a:ea typeface="DM Sans" pitchFamily="34" charset="-122"/>
                <a:cs typeface="DM Sans" pitchFamily="34" charset="-120"/>
              </a:rPr>
              <a:t> in total.</a:t>
            </a:r>
            <a:endParaRPr lang="en-US" sz="1500" dirty="0"/>
          </a:p>
        </p:txBody>
      </p:sp>
      <p:sp>
        <p:nvSpPr>
          <p:cNvPr id="11" name="Shape 8"/>
          <p:cNvSpPr/>
          <p:nvPr/>
        </p:nvSpPr>
        <p:spPr>
          <a:xfrm>
            <a:off x="812800" y="4661536"/>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12" name="Text 9"/>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19789"/>
          </a:xfrm>
          <a:prstGeom prst="rect">
            <a:avLst/>
          </a:prstGeom>
          <a:noFill/>
          <a:ln/>
        </p:spPr>
        <p:txBody>
          <a:bodyPr wrap="square" lIns="0" tIns="0" rIns="0" bIns="0" rtlCol="0" anchor="t">
            <a:normAutofit/>
          </a:bodyPr>
          <a:lstStyle/>
          <a:p>
            <a:pPr marL="0" indent="0" algn="l">
              <a:lnSpc>
                <a:spcPts val="1574"/>
              </a:lnSpc>
              <a:buNone/>
            </a:pPr>
            <a:r>
              <a:rPr lang="en-US" sz="1124" b="1" kern="0" spc="200" dirty="0">
                <a:solidFill>
                  <a:srgbClr val="F0B04A"/>
                </a:solidFill>
                <a:latin typeface="DM Sans" pitchFamily="34" charset="0"/>
                <a:ea typeface="DM Sans" pitchFamily="34" charset="-122"/>
                <a:cs typeface="DM Sans" pitchFamily="34" charset="-120"/>
              </a:rPr>
              <a:t>REVENUE ANALYSIS · QUESTION 2 OF 5</a:t>
            </a:r>
            <a:endParaRPr lang="en-US" sz="1124" dirty="0"/>
          </a:p>
        </p:txBody>
      </p:sp>
      <p:sp>
        <p:nvSpPr>
          <p:cNvPr id="3" name="Text 1"/>
          <p:cNvSpPr>
            <a:spLocks noGrp="1"/>
          </p:cNvSpPr>
          <p:nvPr>
            <p:ph type="title"/>
          </p:nvPr>
        </p:nvSpPr>
        <p:spPr>
          <a:xfrm>
            <a:off x="812800" y="1083391"/>
            <a:ext cx="10883392" cy="287734"/>
          </a:xfrm>
          <a:prstGeom prst="rect">
            <a:avLst/>
          </a:prstGeom>
          <a:noFill/>
          <a:ln/>
        </p:spPr>
        <p:txBody>
          <a:bodyPr wrap="square" lIns="0" tIns="0" rIns="0" bIns="0" rtlCol="0" anchor="t">
            <a:normAutofit/>
          </a:bodyPr>
          <a:lstStyle/>
          <a:p>
            <a:pPr marL="0" indent="0" algn="l">
              <a:lnSpc>
                <a:spcPts val="2066"/>
              </a:lnSpc>
              <a:buNone/>
            </a:pPr>
            <a:r>
              <a:rPr lang="en-US" sz="1797" b="1" i="0" dirty="0">
                <a:solidFill>
                  <a:srgbClr val="FAF6F1"/>
                </a:solidFill>
                <a:latin typeface="DM Sans" pitchFamily="34" charset="0"/>
                <a:ea typeface="DM Sans" pitchFamily="34" charset="-122"/>
                <a:cs typeface="DM Sans" pitchFamily="34" charset="-120"/>
              </a:rPr>
              <a:t>What is the monthly revenue trend?</a:t>
            </a:r>
            <a:endParaRPr lang="en-US" sz="1797" dirty="0"/>
          </a:p>
        </p:txBody>
      </p:sp>
      <p:sp>
        <p:nvSpPr>
          <p:cNvPr id="4" name="Shape 2"/>
          <p:cNvSpPr/>
          <p:nvPr/>
        </p:nvSpPr>
        <p:spPr>
          <a:xfrm>
            <a:off x="815975" y="1526701"/>
            <a:ext cx="4438650" cy="2048510"/>
          </a:xfrm>
          <a:prstGeom prst="roundRect">
            <a:avLst>
              <a:gd name="adj" fmla="val 4805"/>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706404"/>
            <a:ext cx="420161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008664"/>
            <a:ext cx="4201617" cy="1746249"/>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datetrunc(month,order_timestamp)</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AS month,</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sum(order_amount) AS total_revenue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datetrunc(month,order_timestamp)</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month asc;</a:t>
            </a:r>
            <a:endParaRPr lang="en-US" sz="1200" dirty="0"/>
          </a:p>
        </p:txBody>
      </p:sp>
      <p:sp>
        <p:nvSpPr>
          <p:cNvPr id="7" name="Shape 5"/>
          <p:cNvSpPr/>
          <p:nvPr/>
        </p:nvSpPr>
        <p:spPr>
          <a:xfrm>
            <a:off x="5464175" y="1227257"/>
            <a:ext cx="5911850" cy="5451585"/>
          </a:xfrm>
          <a:prstGeom prst="roundRect">
            <a:avLst>
              <a:gd name="adj" fmla="val 1840"/>
            </a:avLst>
          </a:prstGeom>
          <a:solidFill>
            <a:srgbClr val="2B2727"/>
          </a:solidFill>
          <a:ln w="6350">
            <a:solidFill>
              <a:srgbClr val="4A4343"/>
            </a:solidFill>
            <a:prstDash val="solid"/>
          </a:ln>
        </p:spPr>
        <p:txBody>
          <a:bodyPr/>
          <a:lstStyle/>
          <a:p>
            <a:endParaRPr lang="en-IN"/>
          </a:p>
        </p:txBody>
      </p:sp>
      <p:sp>
        <p:nvSpPr>
          <p:cNvPr id="8" name="Text 6"/>
          <p:cNvSpPr/>
          <p:nvPr/>
        </p:nvSpPr>
        <p:spPr>
          <a:xfrm>
            <a:off x="5654040" y="1451549"/>
            <a:ext cx="571901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 · FIRST 15 MONTHS</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813952818"/>
              </p:ext>
            </p:extLst>
          </p:nvPr>
        </p:nvGraphicFramePr>
        <p:xfrm>
          <a:off x="5654040" y="1838131"/>
          <a:ext cx="2682240" cy="4638867"/>
        </p:xfrm>
        <a:graphic>
          <a:graphicData uri="http://schemas.openxmlformats.org/drawingml/2006/table">
            <a:tbl>
              <a:tblPr/>
              <a:tblGrid>
                <a:gridCol w="1019251">
                  <a:extLst>
                    <a:ext uri="{9D8B030D-6E8A-4147-A177-3AD203B41FA5}">
                      <a16:colId xmlns:a16="http://schemas.microsoft.com/office/drawing/2014/main" val="20000"/>
                    </a:ext>
                  </a:extLst>
                </a:gridCol>
                <a:gridCol w="1662989">
                  <a:extLst>
                    <a:ext uri="{9D8B030D-6E8A-4147-A177-3AD203B41FA5}">
                      <a16:colId xmlns:a16="http://schemas.microsoft.com/office/drawing/2014/main" val="20001"/>
                    </a:ext>
                  </a:extLst>
                </a:gridCol>
              </a:tblGrid>
              <a:tr h="471707">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month</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total_revenue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2024-01-01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993756.919570923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2024-02-01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914237.788696289</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2024-03-01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976562.869888306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2024-04-01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975680.631530762</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2024-05-01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959287.189743042</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2024-06-01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975701.109466553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2024-07-01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930763.57901001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520895">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2024-08-01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984926.560058594</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graphicFrame>
        <p:nvGraphicFramePr>
          <p:cNvPr id="10" name="Table 1"/>
          <p:cNvGraphicFramePr>
            <a:graphicFrameLocks noGrp="1"/>
          </p:cNvGraphicFramePr>
          <p:nvPr>
            <p:extLst>
              <p:ext uri="{D42A27DB-BD31-4B8C-83A1-F6EECF244321}">
                <p14:modId xmlns:p14="http://schemas.microsoft.com/office/powerpoint/2010/main" val="861599783"/>
              </p:ext>
            </p:extLst>
          </p:nvPr>
        </p:nvGraphicFramePr>
        <p:xfrm>
          <a:off x="8498840" y="1840714"/>
          <a:ext cx="2682240" cy="3708400"/>
        </p:xfrm>
        <a:graphic>
          <a:graphicData uri="http://schemas.openxmlformats.org/drawingml/2006/table">
            <a:tbl>
              <a:tblPr/>
              <a:tblGrid>
                <a:gridCol w="1019251">
                  <a:extLst>
                    <a:ext uri="{9D8B030D-6E8A-4147-A177-3AD203B41FA5}">
                      <a16:colId xmlns:a16="http://schemas.microsoft.com/office/drawing/2014/main" val="20000"/>
                    </a:ext>
                  </a:extLst>
                </a:gridCol>
                <a:gridCol w="1662989">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month</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total_revenue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54356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2024-09-01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926511.55090332</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54356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2024-10-01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1006185.46810913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2024-11-01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969876.559280396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2024-12-01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981302.95954895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54356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2025-01-01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1013576.52134705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54356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2025-02-01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838330.509490967</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54356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2025-03-01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1000685.05943298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bl>
          </a:graphicData>
        </a:graphic>
      </p:graphicFrame>
      <p:sp>
        <p:nvSpPr>
          <p:cNvPr id="11" name="Text 7"/>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REVENUE ANALYSIS · QUESTION 3 OF 5</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city contributes the highest revenue?</a:t>
            </a:r>
            <a:endParaRPr lang="en-US" sz="2300" dirty="0"/>
          </a:p>
        </p:txBody>
      </p:sp>
      <p:sp>
        <p:nvSpPr>
          <p:cNvPr id="4" name="Shape 2"/>
          <p:cNvSpPr/>
          <p:nvPr/>
        </p:nvSpPr>
        <p:spPr>
          <a:xfrm>
            <a:off x="815975" y="1654811"/>
            <a:ext cx="5200650" cy="2048510"/>
          </a:xfrm>
          <a:prstGeom prst="roundRect">
            <a:avLst>
              <a:gd name="adj" fmla="val 4805"/>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4"/>
            <a:ext cx="498647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4"/>
            <a:ext cx="4986477" cy="172212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a.City, sum(order_amount) AS total_revenue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Customers a</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ON a.customer_id = o.customer_id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a.city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SUM(order_amount) desc;</a:t>
            </a:r>
            <a:endParaRPr lang="en-US" sz="1200" dirty="0"/>
          </a:p>
        </p:txBody>
      </p:sp>
      <p:sp>
        <p:nvSpPr>
          <p:cNvPr id="7" name="Shape 5"/>
          <p:cNvSpPr/>
          <p:nvPr/>
        </p:nvSpPr>
        <p:spPr>
          <a:xfrm>
            <a:off x="6226175" y="1654811"/>
            <a:ext cx="5149850" cy="3883660"/>
          </a:xfrm>
          <a:prstGeom prst="roundRect">
            <a:avLst>
              <a:gd name="adj" fmla="val 253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6405880" y="1834514"/>
            <a:ext cx="493415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16040" y="2146935"/>
          <a:ext cx="4053840" cy="3211830"/>
        </p:xfrm>
        <a:graphic>
          <a:graphicData uri="http://schemas.openxmlformats.org/drawingml/2006/table">
            <a:tbl>
              <a:tblPr/>
              <a:tblGrid>
                <a:gridCol w="1621536">
                  <a:extLst>
                    <a:ext uri="{9D8B030D-6E8A-4147-A177-3AD203B41FA5}">
                      <a16:colId xmlns:a16="http://schemas.microsoft.com/office/drawing/2014/main" val="20000"/>
                    </a:ext>
                  </a:extLst>
                </a:gridCol>
                <a:gridCol w="2432304">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City</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total_revenue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Noida</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3604414.9690094</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Pune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3539648.36965942</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Gurugram</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3358890.34896851</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Hyderabad</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3305347.99267578</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Bengaluru</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3294090.17964172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Delhi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3292014.60681152</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Mumbai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3242934.96826172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Chennai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3217081.56872559</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sp>
        <p:nvSpPr>
          <p:cNvPr id="10" name="Text 7"/>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REVENUE ANALYSIS · QUESTION 4 OF 5</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payment mode generates the most revenue?</a:t>
            </a:r>
            <a:endParaRPr lang="en-US" sz="2300" dirty="0"/>
          </a:p>
        </p:txBody>
      </p:sp>
      <p:sp>
        <p:nvSpPr>
          <p:cNvPr id="4" name="Shape 2"/>
          <p:cNvSpPr/>
          <p:nvPr/>
        </p:nvSpPr>
        <p:spPr>
          <a:xfrm>
            <a:off x="815975" y="1654811"/>
            <a:ext cx="5708650" cy="1652270"/>
          </a:xfrm>
          <a:prstGeom prst="roundRect">
            <a:avLst>
              <a:gd name="adj" fmla="val 5957"/>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4"/>
            <a:ext cx="550971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5509717" cy="101600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payment_mode, SUM(order_amount) AS total_revenue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payment_mode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SUM(order_amount) desc;</a:t>
            </a:r>
            <a:endParaRPr lang="en-US" sz="1200" dirty="0"/>
          </a:p>
        </p:txBody>
      </p:sp>
      <p:sp>
        <p:nvSpPr>
          <p:cNvPr id="7" name="Shape 5"/>
          <p:cNvSpPr/>
          <p:nvPr/>
        </p:nvSpPr>
        <p:spPr>
          <a:xfrm>
            <a:off x="6734175" y="1654811"/>
            <a:ext cx="4641850" cy="2456180"/>
          </a:xfrm>
          <a:prstGeom prst="roundRect">
            <a:avLst>
              <a:gd name="adj" fmla="val 4007"/>
            </a:avLst>
          </a:prstGeom>
          <a:solidFill>
            <a:srgbClr val="2B2727"/>
          </a:solidFill>
          <a:ln w="6350">
            <a:solidFill>
              <a:srgbClr val="4A4343"/>
            </a:solidFill>
            <a:prstDash val="solid"/>
          </a:ln>
        </p:spPr>
        <p:txBody>
          <a:bodyPr/>
          <a:lstStyle/>
          <a:p>
            <a:endParaRPr lang="en-IN"/>
          </a:p>
        </p:txBody>
      </p:sp>
      <p:sp>
        <p:nvSpPr>
          <p:cNvPr id="8" name="Text 6"/>
          <p:cNvSpPr/>
          <p:nvPr/>
        </p:nvSpPr>
        <p:spPr>
          <a:xfrm>
            <a:off x="6913880" y="1834514"/>
            <a:ext cx="441091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24040" y="2146935"/>
          <a:ext cx="3799840" cy="1784350"/>
        </p:xfrm>
        <a:graphic>
          <a:graphicData uri="http://schemas.openxmlformats.org/drawingml/2006/table">
            <a:tbl>
              <a:tblPr/>
              <a:tblGrid>
                <a:gridCol w="1519936">
                  <a:extLst>
                    <a:ext uri="{9D8B030D-6E8A-4147-A177-3AD203B41FA5}">
                      <a16:colId xmlns:a16="http://schemas.microsoft.com/office/drawing/2014/main" val="20000"/>
                    </a:ext>
                  </a:extLst>
                </a:gridCol>
                <a:gridCol w="2279904">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payment_mode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total_revenue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UPI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13433746.6039886</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Wallet</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4514679.88328552</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Card</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4474070.29698181</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Cash</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4436894.61949158</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bl>
          </a:graphicData>
        </a:graphic>
      </p:graphicFrame>
      <p:sp>
        <p:nvSpPr>
          <p:cNvPr id="10" name="Text 7"/>
          <p:cNvSpPr/>
          <p:nvPr/>
        </p:nvSpPr>
        <p:spPr>
          <a:xfrm>
            <a:off x="812800" y="6238239"/>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REVENUE ANALYSIS · QUESTION 5 OF 5</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What is the Average Order Value (AOV)?</a:t>
            </a:r>
            <a:endParaRPr lang="en-US" sz="2300" dirty="0"/>
          </a:p>
        </p:txBody>
      </p:sp>
      <p:sp>
        <p:nvSpPr>
          <p:cNvPr id="4" name="Shape 2"/>
          <p:cNvSpPr/>
          <p:nvPr/>
        </p:nvSpPr>
        <p:spPr>
          <a:xfrm>
            <a:off x="815975" y="1654811"/>
            <a:ext cx="10560050" cy="1256030"/>
          </a:xfrm>
          <a:prstGeom prst="roundRect">
            <a:avLst>
              <a:gd name="adj" fmla="val 7836"/>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4"/>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10506659" cy="6197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SUM(order_amount)/count(distinct order_id) AS average_order_value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p:txBody>
      </p:sp>
      <p:sp>
        <p:nvSpPr>
          <p:cNvPr id="7" name="Shape 5"/>
          <p:cNvSpPr/>
          <p:nvPr/>
        </p:nvSpPr>
        <p:spPr>
          <a:xfrm>
            <a:off x="815975" y="3094989"/>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995680" y="3274696"/>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3587117"/>
          <a:ext cx="4053840" cy="713740"/>
        </p:xfrm>
        <a:graphic>
          <a:graphicData uri="http://schemas.openxmlformats.org/drawingml/2006/table">
            <a:tbl>
              <a:tblPr/>
              <a:tblGrid>
                <a:gridCol w="4053840">
                  <a:extLst>
                    <a:ext uri="{9D8B030D-6E8A-4147-A177-3AD203B41FA5}">
                      <a16:colId xmlns:a16="http://schemas.microsoft.com/office/drawing/2014/main" val="20000"/>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average_order_value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900.204156039399</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4661539"/>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dirty="0">
                <a:solidFill>
                  <a:srgbClr val="FAF6F1"/>
                </a:solidFill>
                <a:latin typeface="DM Sans" pitchFamily="34" charset="0"/>
                <a:ea typeface="DM Sans" pitchFamily="34" charset="-122"/>
                <a:cs typeface="DM Sans" pitchFamily="34" charset="-120"/>
              </a:rPr>
              <a:t>The average delivered order is worth </a:t>
            </a:r>
            <a:r>
              <a:rPr lang="en-US" sz="1500" b="1" dirty="0">
                <a:solidFill>
                  <a:srgbClr val="FAF6F1"/>
                </a:solidFill>
                <a:latin typeface="DM Sans" pitchFamily="34" charset="0"/>
                <a:ea typeface="DM Sans" pitchFamily="34" charset="-122"/>
                <a:cs typeface="DM Sans" pitchFamily="34" charset="-120"/>
              </a:rPr>
              <a:t>₹900</a:t>
            </a:r>
            <a:r>
              <a:rPr lang="en-US" sz="1500" dirty="0">
                <a:solidFill>
                  <a:srgbClr val="FAF6F1"/>
                </a:solidFill>
                <a:latin typeface="DM Sans" pitchFamily="34" charset="0"/>
                <a:ea typeface="DM Sans" pitchFamily="34" charset="-122"/>
                <a:cs typeface="DM Sans" pitchFamily="34" charset="-120"/>
              </a:rPr>
              <a:t>.</a:t>
            </a:r>
            <a:endParaRPr lang="en-US" sz="1500" dirty="0"/>
          </a:p>
        </p:txBody>
      </p:sp>
      <p:sp>
        <p:nvSpPr>
          <p:cNvPr id="11" name="Shape 8"/>
          <p:cNvSpPr/>
          <p:nvPr/>
        </p:nvSpPr>
        <p:spPr>
          <a:xfrm>
            <a:off x="812800" y="4661539"/>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12" name="Text 9"/>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ANALYSIS · QUESTION 1 OF 4</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Who are the top 20 customers by revenue?</a:t>
            </a:r>
            <a:endParaRPr lang="en-US" sz="2300" dirty="0"/>
          </a:p>
        </p:txBody>
      </p:sp>
      <p:sp>
        <p:nvSpPr>
          <p:cNvPr id="4" name="Shape 2"/>
          <p:cNvSpPr/>
          <p:nvPr/>
        </p:nvSpPr>
        <p:spPr>
          <a:xfrm>
            <a:off x="815975" y="1654813"/>
            <a:ext cx="10560050" cy="2426333"/>
          </a:xfrm>
          <a:prstGeom prst="roundRect">
            <a:avLst>
              <a:gd name="adj" fmla="val 4381"/>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10506659" cy="194437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TOP 20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SUM(order_amount - discount_amount + delivery_fee) AS 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COUNT(order_id) AS delivered_orders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revenue DESC;</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0350"/>
          </a:xfrm>
          <a:prstGeom prst="rect">
            <a:avLst/>
          </a:prstGeom>
          <a:noFill/>
          <a:ln/>
        </p:spPr>
        <p:txBody>
          <a:bodyPr wrap="square" lIns="0" tIns="0" rIns="0" bIns="0" rtlCol="0" anchor="t">
            <a:normAutofit/>
          </a:bodyPr>
          <a:lstStyle/>
          <a:p>
            <a:pPr marL="0" indent="0" algn="l">
              <a:lnSpc>
                <a:spcPts val="1874"/>
              </a:lnSpc>
              <a:buNone/>
            </a:pPr>
            <a:r>
              <a:rPr lang="en-US" sz="1339" b="1" kern="0" spc="200" dirty="0">
                <a:solidFill>
                  <a:srgbClr val="F0B04A"/>
                </a:solidFill>
                <a:latin typeface="DM Sans" pitchFamily="34" charset="0"/>
                <a:ea typeface="DM Sans" pitchFamily="34" charset="-122"/>
                <a:cs typeface="DM Sans" pitchFamily="34" charset="-120"/>
              </a:rPr>
              <a:t>CUSTOMER ANALYSIS · QUESTION 1 OF 4 · OUTPUT</a:t>
            </a:r>
            <a:endParaRPr lang="en-US" sz="1339" dirty="0"/>
          </a:p>
        </p:txBody>
      </p:sp>
      <p:sp>
        <p:nvSpPr>
          <p:cNvPr id="3" name="Text 1"/>
          <p:cNvSpPr>
            <a:spLocks noGrp="1"/>
          </p:cNvSpPr>
          <p:nvPr>
            <p:ph type="title"/>
          </p:nvPr>
        </p:nvSpPr>
        <p:spPr>
          <a:xfrm>
            <a:off x="812800" y="1123950"/>
            <a:ext cx="10883392" cy="342503"/>
          </a:xfrm>
          <a:prstGeom prst="rect">
            <a:avLst/>
          </a:prstGeom>
          <a:noFill/>
          <a:ln/>
        </p:spPr>
        <p:txBody>
          <a:bodyPr wrap="square" lIns="0" tIns="0" rIns="0" bIns="0" rtlCol="0" anchor="t">
            <a:normAutofit/>
          </a:bodyPr>
          <a:lstStyle/>
          <a:p>
            <a:pPr marL="0" indent="0" algn="l">
              <a:lnSpc>
                <a:spcPts val="2521"/>
              </a:lnSpc>
              <a:buNone/>
            </a:pPr>
            <a:r>
              <a:rPr lang="en-US" sz="2192" b="1" i="0" dirty="0">
                <a:solidFill>
                  <a:srgbClr val="FAF6F1"/>
                </a:solidFill>
                <a:latin typeface="DM Sans" pitchFamily="34" charset="0"/>
                <a:ea typeface="DM Sans" pitchFamily="34" charset="-122"/>
                <a:cs typeface="DM Sans" pitchFamily="34" charset="-120"/>
              </a:rPr>
              <a:t>Who are the top 20 customers by revenue?</a:t>
            </a:r>
            <a:endParaRPr lang="en-US" sz="2192" dirty="0"/>
          </a:p>
        </p:txBody>
      </p:sp>
      <p:sp>
        <p:nvSpPr>
          <p:cNvPr id="4" name="Shape 2"/>
          <p:cNvSpPr/>
          <p:nvPr/>
        </p:nvSpPr>
        <p:spPr>
          <a:xfrm>
            <a:off x="815975" y="1622028"/>
            <a:ext cx="10560050" cy="3480753"/>
          </a:xfrm>
          <a:prstGeom prst="roundRect">
            <a:avLst>
              <a:gd name="adj" fmla="val 2828"/>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01732"/>
            <a:ext cx="10506659" cy="227886"/>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F0B04A"/>
                </a:solidFill>
                <a:latin typeface="DM Sans" pitchFamily="34" charset="0"/>
                <a:ea typeface="DM Sans" pitchFamily="34" charset="-122"/>
                <a:cs typeface="DM Sans" pitchFamily="34" charset="-120"/>
              </a:rPr>
              <a:t>OUTPUT · TOP 15 OF 20 ROWS</a:t>
            </a:r>
            <a:endParaRPr lang="en-US" sz="1159"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03279"/>
          <a:ext cx="4942840" cy="2971800"/>
        </p:xfrm>
        <a:graphic>
          <a:graphicData uri="http://schemas.openxmlformats.org/drawingml/2006/table">
            <a:tbl>
              <a:tblPr/>
              <a:tblGrid>
                <a:gridCol w="1186282">
                  <a:extLst>
                    <a:ext uri="{9D8B030D-6E8A-4147-A177-3AD203B41FA5}">
                      <a16:colId xmlns:a16="http://schemas.microsoft.com/office/drawing/2014/main" val="20000"/>
                    </a:ext>
                  </a:extLst>
                </a:gridCol>
                <a:gridCol w="1779422">
                  <a:extLst>
                    <a:ext uri="{9D8B030D-6E8A-4147-A177-3AD203B41FA5}">
                      <a16:colId xmlns:a16="http://schemas.microsoft.com/office/drawing/2014/main" val="20001"/>
                    </a:ext>
                  </a:extLst>
                </a:gridCol>
                <a:gridCol w="1977136">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customer_id</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delivered_orders</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C00381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15932.9900741577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C00701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15683.5300312042</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17</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C03890</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15464.4099960327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C01409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14773.0898399353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16</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C01659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14433.2698516846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C02596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14040.830039978</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C01957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13936.4500579834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C01795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13853.6899871826</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11240" y="2103279"/>
          <a:ext cx="4942840" cy="2641600"/>
        </p:xfrm>
        <a:graphic>
          <a:graphicData uri="http://schemas.openxmlformats.org/drawingml/2006/table">
            <a:tbl>
              <a:tblPr/>
              <a:tblGrid>
                <a:gridCol w="1186282">
                  <a:extLst>
                    <a:ext uri="{9D8B030D-6E8A-4147-A177-3AD203B41FA5}">
                      <a16:colId xmlns:a16="http://schemas.microsoft.com/office/drawing/2014/main" val="20000"/>
                    </a:ext>
                  </a:extLst>
                </a:gridCol>
                <a:gridCol w="1779422">
                  <a:extLst>
                    <a:ext uri="{9D8B030D-6E8A-4147-A177-3AD203B41FA5}">
                      <a16:colId xmlns:a16="http://schemas.microsoft.com/office/drawing/2014/main" val="20001"/>
                    </a:ext>
                  </a:extLst>
                </a:gridCol>
                <a:gridCol w="1977136">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customer_id</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delivered_orders</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C01729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13830.399848938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C02739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13713.0701141357</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C02235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13567.3499336243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C04756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13305.5402526855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C01468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13297.9000587463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C04598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13291.9299621582</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C03054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13251.3399276733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bl>
          </a:graphicData>
        </a:graphic>
      </p:graphicFrame>
      <p:sp>
        <p:nvSpPr>
          <p:cNvPr id="8" name="Shape 4"/>
          <p:cNvSpPr/>
          <p:nvPr/>
        </p:nvSpPr>
        <p:spPr>
          <a:xfrm>
            <a:off x="812800" y="5283758"/>
            <a:ext cx="10566400" cy="558244"/>
          </a:xfrm>
          <a:prstGeom prst="roundRect">
            <a:avLst>
              <a:gd name="adj" fmla="val 13650"/>
            </a:avLst>
          </a:prstGeom>
          <a:solidFill>
            <a:srgbClr val="2B2727"/>
          </a:solidFill>
          <a:ln/>
        </p:spPr>
        <p:txBody>
          <a:bodyPr/>
          <a:lstStyle/>
          <a:p>
            <a:endParaRPr lang="en-IN"/>
          </a:p>
        </p:txBody>
      </p:sp>
      <p:sp>
        <p:nvSpPr>
          <p:cNvPr id="9" name="Shape 5"/>
          <p:cNvSpPr/>
          <p:nvPr/>
        </p:nvSpPr>
        <p:spPr>
          <a:xfrm>
            <a:off x="812800" y="5283758"/>
            <a:ext cx="10566400" cy="558244"/>
          </a:xfrm>
          <a:custGeom>
            <a:avLst/>
            <a:gdLst/>
            <a:ahLst/>
            <a:cxnLst/>
            <a:rect l="l" t="t" r="r" b="b"/>
            <a:pathLst>
              <a:path w="10566400" h="558244">
                <a:moveTo>
                  <a:pt x="76200" y="558244"/>
                </a:moveTo>
                <a:lnTo>
                  <a:pt x="76200" y="558244"/>
                </a:lnTo>
                <a:arcTo wR="76200" hR="76200" stAng="5400000" swAng="5400000"/>
                <a:lnTo>
                  <a:pt x="0" y="76200"/>
                </a:lnTo>
                <a:arcTo wR="76200" hR="76200" stAng="10800000" swAng="5400000"/>
                <a:lnTo>
                  <a:pt x="76200" y="0"/>
                </a:lnTo>
                <a:arcTo wR="38100" hR="76200" stAng="16200000" swAng="-5400000"/>
                <a:lnTo>
                  <a:pt x="38100" y="482044"/>
                </a:lnTo>
                <a:arcTo wR="38100" hR="76200" stAng="10800000" swAng="-5400000"/>
                <a:close/>
              </a:path>
            </a:pathLst>
          </a:custGeom>
          <a:solidFill>
            <a:srgbClr val="F0B04A"/>
          </a:solidFill>
          <a:ln/>
        </p:spPr>
        <p:txBody>
          <a:bodyPr/>
          <a:lstStyle/>
          <a:p>
            <a:endParaRPr lang="en-IN"/>
          </a:p>
        </p:txBody>
      </p:sp>
      <p:sp>
        <p:nvSpPr>
          <p:cNvPr id="10" name="Text 6"/>
          <p:cNvSpPr/>
          <p:nvPr/>
        </p:nvSpPr>
        <p:spPr>
          <a:xfrm>
            <a:off x="1051560" y="5436158"/>
            <a:ext cx="10428173" cy="278844"/>
          </a:xfrm>
          <a:prstGeom prst="rect">
            <a:avLst/>
          </a:prstGeom>
          <a:noFill/>
          <a:ln/>
        </p:spPr>
        <p:txBody>
          <a:bodyPr wrap="square" lIns="0" tIns="0" rIns="0" bIns="0" rtlCol="0" anchor="t">
            <a:normAutofit/>
          </a:bodyPr>
          <a:lstStyle/>
          <a:p>
            <a:pPr marL="0" indent="0" algn="l">
              <a:lnSpc>
                <a:spcPts val="2021"/>
              </a:lnSpc>
              <a:buNone/>
            </a:pPr>
            <a:r>
              <a:rPr lang="en-US" sz="1444" dirty="0">
                <a:solidFill>
                  <a:srgbClr val="FAF6F1"/>
                </a:solidFill>
                <a:latin typeface="DM Sans" pitchFamily="34" charset="0"/>
                <a:ea typeface="DM Sans" pitchFamily="34" charset="-122"/>
                <a:cs typeface="DM Sans" pitchFamily="34" charset="-120"/>
              </a:rPr>
              <a:t>Customer </a:t>
            </a:r>
            <a:r>
              <a:rPr lang="en-US" sz="1444" b="1" dirty="0">
                <a:solidFill>
                  <a:srgbClr val="FAF6F1"/>
                </a:solidFill>
                <a:latin typeface="DM Sans" pitchFamily="34" charset="0"/>
                <a:ea typeface="DM Sans" pitchFamily="34" charset="-122"/>
                <a:cs typeface="DM Sans" pitchFamily="34" charset="-120"/>
              </a:rPr>
              <a:t>C00381</a:t>
            </a:r>
            <a:r>
              <a:rPr lang="en-US" sz="1444" dirty="0">
                <a:solidFill>
                  <a:srgbClr val="FAF6F1"/>
                </a:solidFill>
                <a:latin typeface="DM Sans" pitchFamily="34" charset="0"/>
                <a:ea typeface="DM Sans" pitchFamily="34" charset="-122"/>
                <a:cs typeface="DM Sans" pitchFamily="34" charset="-120"/>
              </a:rPr>
              <a:t> leads at ₹15,933 from 16 delivered orders.</a:t>
            </a:r>
            <a:endParaRPr lang="en-US" sz="1444" dirty="0"/>
          </a:p>
        </p:txBody>
      </p:sp>
      <p:sp>
        <p:nvSpPr>
          <p:cNvPr id="11" name="Text 7"/>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162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ANALYSIS · QUESTION 2 OF 4</a:t>
            </a:r>
            <a:endParaRPr lang="en-US" sz="1400" dirty="0"/>
          </a:p>
        </p:txBody>
      </p:sp>
      <p:sp>
        <p:nvSpPr>
          <p:cNvPr id="3" name="Text 1"/>
          <p:cNvSpPr>
            <a:spLocks noGrp="1"/>
          </p:cNvSpPr>
          <p:nvPr>
            <p:ph type="title"/>
          </p:nvPr>
        </p:nvSpPr>
        <p:spPr>
          <a:xfrm>
            <a:off x="812800" y="1135224"/>
            <a:ext cx="10883392" cy="357584"/>
          </a:xfrm>
          <a:prstGeom prst="rect">
            <a:avLst/>
          </a:prstGeom>
          <a:noFill/>
          <a:ln/>
        </p:spPr>
        <p:txBody>
          <a:bodyPr wrap="square" lIns="0" tIns="0" rIns="0" bIns="0" rtlCol="0" anchor="t">
            <a:normAutofit/>
          </a:bodyPr>
          <a:lstStyle/>
          <a:p>
            <a:pPr marL="0" indent="0" algn="l">
              <a:lnSpc>
                <a:spcPts val="2620"/>
              </a:lnSpc>
              <a:buNone/>
            </a:pPr>
            <a:r>
              <a:rPr lang="en-US" sz="2278" b="1" i="0" dirty="0">
                <a:solidFill>
                  <a:srgbClr val="FAF6F1"/>
                </a:solidFill>
                <a:latin typeface="DM Sans" pitchFamily="34" charset="0"/>
                <a:ea typeface="DM Sans" pitchFamily="34" charset="-122"/>
                <a:cs typeface="DM Sans" pitchFamily="34" charset="-120"/>
              </a:rPr>
              <a:t>What percentage of revenue comes from top customers?</a:t>
            </a:r>
            <a:endParaRPr lang="en-US" sz="2278" dirty="0"/>
          </a:p>
        </p:txBody>
      </p:sp>
      <p:sp>
        <p:nvSpPr>
          <p:cNvPr id="4" name="Shape 2"/>
          <p:cNvSpPr/>
          <p:nvPr/>
        </p:nvSpPr>
        <p:spPr>
          <a:xfrm>
            <a:off x="815975" y="1648383"/>
            <a:ext cx="10560050" cy="4190445"/>
          </a:xfrm>
          <a:prstGeom prst="roundRect">
            <a:avLst>
              <a:gd name="adj" fmla="val 234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28087"/>
            <a:ext cx="10506659" cy="236617"/>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SQL QUERY</a:t>
            </a:r>
            <a:endParaRPr lang="en-US" sz="1196" dirty="0"/>
          </a:p>
        </p:txBody>
      </p:sp>
      <p:sp>
        <p:nvSpPr>
          <p:cNvPr id="6" name="Text 4"/>
          <p:cNvSpPr/>
          <p:nvPr/>
        </p:nvSpPr>
        <p:spPr>
          <a:xfrm>
            <a:off x="995680" y="2128205"/>
            <a:ext cx="5122520" cy="3556317"/>
          </a:xfrm>
          <a:prstGeom prst="rect">
            <a:avLst/>
          </a:prstGeom>
          <a:noFill/>
          <a:ln/>
        </p:spPr>
        <p:txBody>
          <a:bodyPr wrap="square" lIns="0" tIns="0" rIns="0" bIns="0" rtlCol="0" anchor="t">
            <a:normAutofit/>
          </a:bodyPr>
          <a:lstStyle/>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WITH customer_revenue AS (</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SELECT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SUM(order_amount - discount_amount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 delivery_fee) AS revenue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FROM orders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WHERE order_status = 'Delivered'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GROUP BY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ranked_customers AS (</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SELECT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revenue,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ROW_NUMBER() OVER</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(ORDER BY revenue DESC)</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AS customer_rank</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FROM customer_revenue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a:t>
            </a:r>
            <a:endParaRPr lang="en-US" sz="1189" dirty="0"/>
          </a:p>
        </p:txBody>
      </p:sp>
      <p:sp>
        <p:nvSpPr>
          <p:cNvPr id="7" name="Text 5"/>
          <p:cNvSpPr/>
          <p:nvPr/>
        </p:nvSpPr>
        <p:spPr>
          <a:xfrm>
            <a:off x="5309118" y="2064705"/>
            <a:ext cx="6036402" cy="3556318"/>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SUM(CASE WHEN customer_rank &lt;= 20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THEN revenue ELSE 0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AS top_20_revenue,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SUM(revenue) AS total_revenue,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100.0 * SUM(CASE WHEN customer_rank</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&lt;= 20 THEN revenue ELSE 0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SUM(revenue),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top_20_revenue_percentage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ranked_customers;</a:t>
            </a:r>
            <a:endParaRPr lang="en-US" sz="1200" dirty="0"/>
          </a:p>
        </p:txBody>
      </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ANALYSIS · QUESTION 2 OF 4 · OUTPUT</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What percentage of revenue comes from top customers?</a:t>
            </a:r>
            <a:endParaRPr lang="en-US" sz="2300" dirty="0"/>
          </a:p>
        </p:txBody>
      </p:sp>
      <p:sp>
        <p:nvSpPr>
          <p:cNvPr id="4" name="Shape 2"/>
          <p:cNvSpPr/>
          <p:nvPr/>
        </p:nvSpPr>
        <p:spPr>
          <a:xfrm>
            <a:off x="815975" y="1654814"/>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9514840" cy="713740"/>
        </p:xfrm>
        <a:graphic>
          <a:graphicData uri="http://schemas.openxmlformats.org/drawingml/2006/table">
            <a:tbl>
              <a:tblPr/>
              <a:tblGrid>
                <a:gridCol w="2854452">
                  <a:extLst>
                    <a:ext uri="{9D8B030D-6E8A-4147-A177-3AD203B41FA5}">
                      <a16:colId xmlns:a16="http://schemas.microsoft.com/office/drawing/2014/main" val="20000"/>
                    </a:ext>
                  </a:extLst>
                </a:gridCol>
                <a:gridCol w="2664155">
                  <a:extLst>
                    <a:ext uri="{9D8B030D-6E8A-4147-A177-3AD203B41FA5}">
                      <a16:colId xmlns:a16="http://schemas.microsoft.com/office/drawing/2014/main" val="20001"/>
                    </a:ext>
                  </a:extLst>
                </a:gridCol>
                <a:gridCol w="3996233">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top_20_revenue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total_revenue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top_20_revenue_percentage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278248.750200272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26965797.1539078</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1.03</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7" name="Text 4"/>
          <p:cNvSpPr/>
          <p:nvPr/>
        </p:nvSpPr>
        <p:spPr>
          <a:xfrm>
            <a:off x="812800" y="3221354"/>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dirty="0">
                <a:solidFill>
                  <a:srgbClr val="FAF6F1"/>
                </a:solidFill>
                <a:latin typeface="DM Sans" pitchFamily="34" charset="0"/>
                <a:ea typeface="DM Sans" pitchFamily="34" charset="-122"/>
                <a:cs typeface="DM Sans" pitchFamily="34" charset="-120"/>
              </a:rPr>
              <a:t>The top 20 customers bring in ₹278K of ₹26.97M, only </a:t>
            </a:r>
            <a:r>
              <a:rPr lang="en-US" sz="1500" b="1" dirty="0">
                <a:solidFill>
                  <a:srgbClr val="FAF6F1"/>
                </a:solidFill>
                <a:latin typeface="DM Sans" pitchFamily="34" charset="0"/>
                <a:ea typeface="DM Sans" pitchFamily="34" charset="-122"/>
                <a:cs typeface="DM Sans" pitchFamily="34" charset="-120"/>
              </a:rPr>
              <a:t>1.03%</a:t>
            </a:r>
            <a:r>
              <a:rPr lang="en-US" sz="1500" dirty="0">
                <a:solidFill>
                  <a:srgbClr val="FAF6F1"/>
                </a:solidFill>
                <a:latin typeface="DM Sans" pitchFamily="34" charset="0"/>
                <a:ea typeface="DM Sans" pitchFamily="34" charset="-122"/>
                <a:cs typeface="DM Sans" pitchFamily="34" charset="-120"/>
              </a:rPr>
              <a:t> of revenue.</a:t>
            </a:r>
            <a:endParaRPr lang="en-US" sz="1500" dirty="0"/>
          </a:p>
        </p:txBody>
      </p:sp>
      <p:sp>
        <p:nvSpPr>
          <p:cNvPr id="8" name="Shape 5"/>
          <p:cNvSpPr/>
          <p:nvPr/>
        </p:nvSpPr>
        <p:spPr>
          <a:xfrm>
            <a:off x="812800" y="3221354"/>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9"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ANALYSIS · QUESTION 3 OF 4</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acquisition channel brings the highest-value customers?</a:t>
            </a:r>
            <a:endParaRPr lang="en-US" sz="2300" dirty="0"/>
          </a:p>
        </p:txBody>
      </p:sp>
      <p:sp>
        <p:nvSpPr>
          <p:cNvPr id="4" name="Shape 2"/>
          <p:cNvSpPr/>
          <p:nvPr/>
        </p:nvSpPr>
        <p:spPr>
          <a:xfrm>
            <a:off x="815975" y="1654813"/>
            <a:ext cx="10560050" cy="3346395"/>
          </a:xfrm>
          <a:prstGeom prst="roundRect">
            <a:avLst>
              <a:gd name="adj" fmla="val 323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10506659" cy="34242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c.Acquisition_channel,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COUNT(DISTINCT o.customer_id) AS 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SUM(o.order_amount - o.discount_amount + o.delivery_fee) AS total_revenue,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SUM(o.order_amount - o.discount_amount + o.delivery_fee)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COUNT(DISTINCT o.customer_id) AS revenue_per_customer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o.customer_id = c.Customer_id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c.Acquisition_channel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revenue_per_customer DESC;</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ANALYSIS · QUESTION 3 OF 4 · OUTPUT</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acquisition channel brings the highest-value customers?</a:t>
            </a:r>
            <a:endParaRPr lang="en-US" sz="2300" dirty="0"/>
          </a:p>
        </p:txBody>
      </p:sp>
      <p:sp>
        <p:nvSpPr>
          <p:cNvPr id="4" name="Shape 2"/>
          <p:cNvSpPr/>
          <p:nvPr/>
        </p:nvSpPr>
        <p:spPr>
          <a:xfrm>
            <a:off x="815975" y="1654814"/>
            <a:ext cx="10560050" cy="2813050"/>
          </a:xfrm>
          <a:prstGeom prst="roundRect">
            <a:avLst>
              <a:gd name="adj" fmla="val 3499"/>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9514840" cy="2141220"/>
        </p:xfrm>
        <a:graphic>
          <a:graphicData uri="http://schemas.openxmlformats.org/drawingml/2006/table">
            <a:tbl>
              <a:tblPr/>
              <a:tblGrid>
                <a:gridCol w="2473858">
                  <a:extLst>
                    <a:ext uri="{9D8B030D-6E8A-4147-A177-3AD203B41FA5}">
                      <a16:colId xmlns:a16="http://schemas.microsoft.com/office/drawing/2014/main" val="20000"/>
                    </a:ext>
                  </a:extLst>
                </a:gridCol>
                <a:gridCol w="1332078">
                  <a:extLst>
                    <a:ext uri="{9D8B030D-6E8A-4147-A177-3AD203B41FA5}">
                      <a16:colId xmlns:a16="http://schemas.microsoft.com/office/drawing/2014/main" val="20001"/>
                    </a:ext>
                  </a:extLst>
                </a:gridCol>
                <a:gridCol w="2473858">
                  <a:extLst>
                    <a:ext uri="{9D8B030D-6E8A-4147-A177-3AD203B41FA5}">
                      <a16:colId xmlns:a16="http://schemas.microsoft.com/office/drawing/2014/main" val="20002"/>
                    </a:ext>
                  </a:extLst>
                </a:gridCol>
                <a:gridCol w="3235046">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Acquisition_channel</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customers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total_revenue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revenue_per_customer</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WhatsApp Campaign</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989</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5432472.02135658</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5492.89385374781</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Google Ads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990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5406384.09809303</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5460.99403847781</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Organic</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987</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5350063.55837631</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5420.53045428198</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Referral</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5364781.18751335</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5364.78118751335</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Instagram Ads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1024</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5406991.48857307</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5280.26512555964</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bl>
          </a:graphicData>
        </a:graphic>
      </p:graphicFrame>
      <p:sp>
        <p:nvSpPr>
          <p:cNvPr id="7" name="Text 4"/>
          <p:cNvSpPr/>
          <p:nvPr/>
        </p:nvSpPr>
        <p:spPr>
          <a:xfrm>
            <a:off x="812800" y="4648839"/>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b="1" dirty="0">
                <a:solidFill>
                  <a:srgbClr val="FAF6F1"/>
                </a:solidFill>
                <a:latin typeface="DM Sans" pitchFamily="34" charset="0"/>
                <a:ea typeface="DM Sans" pitchFamily="34" charset="-122"/>
                <a:cs typeface="DM Sans" pitchFamily="34" charset="-120"/>
              </a:rPr>
              <a:t>WhatsApp Campaign</a:t>
            </a:r>
            <a:r>
              <a:rPr lang="en-US" sz="1500" dirty="0">
                <a:solidFill>
                  <a:srgbClr val="FAF6F1"/>
                </a:solidFill>
                <a:latin typeface="DM Sans" pitchFamily="34" charset="0"/>
                <a:ea typeface="DM Sans" pitchFamily="34" charset="-122"/>
                <a:cs typeface="DM Sans" pitchFamily="34" charset="-120"/>
              </a:rPr>
              <a:t> gives the highest revenue per customer at ₹5,493; Instagram Ads the lowest at ₹5,280.</a:t>
            </a:r>
            <a:endParaRPr lang="en-US" sz="1500" dirty="0"/>
          </a:p>
        </p:txBody>
      </p:sp>
      <p:sp>
        <p:nvSpPr>
          <p:cNvPr id="8" name="Shape 5"/>
          <p:cNvSpPr/>
          <p:nvPr/>
        </p:nvSpPr>
        <p:spPr>
          <a:xfrm>
            <a:off x="812800" y="4648839"/>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9"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ANALYSIS · QUESTION 4 OF 4</a:t>
            </a:r>
            <a:endParaRPr lang="en-US" sz="1400" dirty="0"/>
          </a:p>
        </p:txBody>
      </p:sp>
      <p:sp>
        <p:nvSpPr>
          <p:cNvPr id="3" name="Text 1"/>
          <p:cNvSpPr>
            <a:spLocks noGrp="1"/>
          </p:cNvSpPr>
          <p:nvPr>
            <p:ph type="title"/>
          </p:nvPr>
        </p:nvSpPr>
        <p:spPr>
          <a:xfrm>
            <a:off x="812800" y="1137921"/>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How many repeat customers do we have?</a:t>
            </a:r>
            <a:endParaRPr lang="en-US" sz="2300" dirty="0"/>
          </a:p>
        </p:txBody>
      </p:sp>
      <p:sp>
        <p:nvSpPr>
          <p:cNvPr id="4" name="Shape 2"/>
          <p:cNvSpPr/>
          <p:nvPr/>
        </p:nvSpPr>
        <p:spPr>
          <a:xfrm>
            <a:off x="815975" y="1654814"/>
            <a:ext cx="10560050" cy="4065265"/>
          </a:xfrm>
          <a:prstGeom prst="roundRect">
            <a:avLst>
              <a:gd name="adj" fmla="val 2569"/>
            </a:avLst>
          </a:prstGeom>
          <a:solidFill>
            <a:srgbClr val="141111"/>
          </a:solidFill>
          <a:ln w="6350">
            <a:solidFill>
              <a:srgbClr val="4A4343"/>
            </a:solidFill>
            <a:prstDash val="solid"/>
          </a:ln>
        </p:spPr>
        <p:txBody>
          <a:bodyPr/>
          <a:lstStyle/>
          <a:p>
            <a:endParaRPr lang="en-IN" dirty="0"/>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14420"/>
            <a:ext cx="9951551" cy="390842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WITH frst AS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MIN(order_timestamp) AS first_time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GROUP BY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DATETRUNC(month, a.order_timestamp) AS Month,</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COUNT(DISTINCT a.customer_id) AS repeated_cust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a</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frst b</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a.customer_id = b.customer_id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AND DATETRUNC(month, a.order_timestamp) &lt;&gt; DATETRUNC(month, b.first_time)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DATETRUNC(month, a.order_timestamp)</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Month;</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0350"/>
          </a:xfrm>
          <a:prstGeom prst="rect">
            <a:avLst/>
          </a:prstGeom>
          <a:noFill/>
          <a:ln/>
        </p:spPr>
        <p:txBody>
          <a:bodyPr wrap="square" lIns="0" tIns="0" rIns="0" bIns="0" rtlCol="0" anchor="t">
            <a:normAutofit/>
          </a:bodyPr>
          <a:lstStyle/>
          <a:p>
            <a:pPr marL="0" indent="0" algn="l">
              <a:lnSpc>
                <a:spcPts val="1874"/>
              </a:lnSpc>
              <a:buNone/>
            </a:pPr>
            <a:r>
              <a:rPr lang="en-US" sz="1339" b="1" kern="0" spc="200" dirty="0">
                <a:solidFill>
                  <a:srgbClr val="F0B04A"/>
                </a:solidFill>
                <a:latin typeface="DM Sans" pitchFamily="34" charset="0"/>
                <a:ea typeface="DM Sans" pitchFamily="34" charset="-122"/>
                <a:cs typeface="DM Sans" pitchFamily="34" charset="-120"/>
              </a:rPr>
              <a:t>CUSTOMER ANALYSIS · QUESTION 4 OF 4 · OUTPUT</a:t>
            </a:r>
            <a:endParaRPr lang="en-US" sz="1339" dirty="0"/>
          </a:p>
        </p:txBody>
      </p:sp>
      <p:sp>
        <p:nvSpPr>
          <p:cNvPr id="3" name="Text 1"/>
          <p:cNvSpPr>
            <a:spLocks noGrp="1"/>
          </p:cNvSpPr>
          <p:nvPr>
            <p:ph type="title"/>
          </p:nvPr>
        </p:nvSpPr>
        <p:spPr>
          <a:xfrm>
            <a:off x="812800" y="1123950"/>
            <a:ext cx="10883392" cy="342503"/>
          </a:xfrm>
          <a:prstGeom prst="rect">
            <a:avLst/>
          </a:prstGeom>
          <a:noFill/>
          <a:ln/>
        </p:spPr>
        <p:txBody>
          <a:bodyPr wrap="square" lIns="0" tIns="0" rIns="0" bIns="0" rtlCol="0" anchor="t">
            <a:normAutofit/>
          </a:bodyPr>
          <a:lstStyle/>
          <a:p>
            <a:pPr marL="0" indent="0" algn="l">
              <a:lnSpc>
                <a:spcPts val="2521"/>
              </a:lnSpc>
              <a:buNone/>
            </a:pPr>
            <a:r>
              <a:rPr lang="en-US" sz="2192" b="1" i="0" dirty="0">
                <a:solidFill>
                  <a:srgbClr val="FAF6F1"/>
                </a:solidFill>
                <a:latin typeface="DM Sans" pitchFamily="34" charset="0"/>
                <a:ea typeface="DM Sans" pitchFamily="34" charset="-122"/>
                <a:cs typeface="DM Sans" pitchFamily="34" charset="-120"/>
              </a:rPr>
              <a:t>How many repeat customers do we have?</a:t>
            </a:r>
            <a:endParaRPr lang="en-US" sz="2192" dirty="0"/>
          </a:p>
        </p:txBody>
      </p:sp>
      <p:sp>
        <p:nvSpPr>
          <p:cNvPr id="4" name="Shape 2"/>
          <p:cNvSpPr/>
          <p:nvPr/>
        </p:nvSpPr>
        <p:spPr>
          <a:xfrm>
            <a:off x="815975" y="1622028"/>
            <a:ext cx="10560050" cy="3480753"/>
          </a:xfrm>
          <a:prstGeom prst="roundRect">
            <a:avLst>
              <a:gd name="adj" fmla="val 2828"/>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01738"/>
            <a:ext cx="10506659" cy="227886"/>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F0B04A"/>
                </a:solidFill>
                <a:latin typeface="DM Sans" pitchFamily="34" charset="0"/>
                <a:ea typeface="DM Sans" pitchFamily="34" charset="-122"/>
                <a:cs typeface="DM Sans" pitchFamily="34" charset="-120"/>
              </a:rPr>
              <a:t>OUTPUT · FIRST 15 MONTHS</a:t>
            </a:r>
            <a:endParaRPr lang="en-US" sz="1159"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03279"/>
          <a:ext cx="4942840" cy="2971800"/>
        </p:xfrm>
        <a:graphic>
          <a:graphicData uri="http://schemas.openxmlformats.org/drawingml/2006/table">
            <a:tbl>
              <a:tblPr/>
              <a:tblGrid>
                <a:gridCol w="2471420">
                  <a:extLst>
                    <a:ext uri="{9D8B030D-6E8A-4147-A177-3AD203B41FA5}">
                      <a16:colId xmlns:a16="http://schemas.microsoft.com/office/drawing/2014/main" val="20000"/>
                    </a:ext>
                  </a:extLst>
                </a:gridCol>
                <a:gridCol w="2471420">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Month</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repeated_cust</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2024-02-01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432</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2024-03-01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773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2024-04-01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1009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2024-05-01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1181</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2024-06-01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1254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2024-07-01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1283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2024-08-01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1381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2024-09-01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1416</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11240" y="2103279"/>
          <a:ext cx="4942840" cy="2641600"/>
        </p:xfrm>
        <a:graphic>
          <a:graphicData uri="http://schemas.openxmlformats.org/drawingml/2006/table">
            <a:tbl>
              <a:tblPr/>
              <a:tblGrid>
                <a:gridCol w="2471420">
                  <a:extLst>
                    <a:ext uri="{9D8B030D-6E8A-4147-A177-3AD203B41FA5}">
                      <a16:colId xmlns:a16="http://schemas.microsoft.com/office/drawing/2014/main" val="20000"/>
                    </a:ext>
                  </a:extLst>
                </a:gridCol>
                <a:gridCol w="2471420">
                  <a:extLst>
                    <a:ext uri="{9D8B030D-6E8A-4147-A177-3AD203B41FA5}">
                      <a16:colId xmlns:a16="http://schemas.microsoft.com/office/drawing/2014/main" val="20001"/>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Month</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repeated_cust</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2024-10-01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1497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2024-11-01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1448</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2024-12-01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1473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2025-01-01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1566</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2025-02-01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1385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2025-03-01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1473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2025-04-01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1449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bl>
          </a:graphicData>
        </a:graphic>
      </p:graphicFrame>
      <p:sp>
        <p:nvSpPr>
          <p:cNvPr id="8" name="Shape 4"/>
          <p:cNvSpPr/>
          <p:nvPr/>
        </p:nvSpPr>
        <p:spPr>
          <a:xfrm>
            <a:off x="812800" y="5283758"/>
            <a:ext cx="10566400" cy="558244"/>
          </a:xfrm>
          <a:prstGeom prst="roundRect">
            <a:avLst>
              <a:gd name="adj" fmla="val 13650"/>
            </a:avLst>
          </a:prstGeom>
          <a:solidFill>
            <a:srgbClr val="2B2727"/>
          </a:solidFill>
          <a:ln/>
        </p:spPr>
        <p:txBody>
          <a:bodyPr/>
          <a:lstStyle/>
          <a:p>
            <a:endParaRPr lang="en-IN"/>
          </a:p>
        </p:txBody>
      </p:sp>
      <p:sp>
        <p:nvSpPr>
          <p:cNvPr id="9" name="Shape 5"/>
          <p:cNvSpPr/>
          <p:nvPr/>
        </p:nvSpPr>
        <p:spPr>
          <a:xfrm>
            <a:off x="812800" y="5283758"/>
            <a:ext cx="10566400" cy="558244"/>
          </a:xfrm>
          <a:custGeom>
            <a:avLst/>
            <a:gdLst/>
            <a:ahLst/>
            <a:cxnLst/>
            <a:rect l="l" t="t" r="r" b="b"/>
            <a:pathLst>
              <a:path w="10566400" h="558244">
                <a:moveTo>
                  <a:pt x="76200" y="558244"/>
                </a:moveTo>
                <a:lnTo>
                  <a:pt x="76200" y="558244"/>
                </a:lnTo>
                <a:arcTo wR="76200" hR="76200" stAng="5400000" swAng="5400000"/>
                <a:lnTo>
                  <a:pt x="0" y="76200"/>
                </a:lnTo>
                <a:arcTo wR="76200" hR="76200" stAng="10800000" swAng="5400000"/>
                <a:lnTo>
                  <a:pt x="76200" y="0"/>
                </a:lnTo>
                <a:arcTo wR="38100" hR="76200" stAng="16200000" swAng="-5400000"/>
                <a:lnTo>
                  <a:pt x="38100" y="482044"/>
                </a:lnTo>
                <a:arcTo wR="38100" hR="76200" stAng="10800000" swAng="-5400000"/>
                <a:close/>
              </a:path>
            </a:pathLst>
          </a:custGeom>
          <a:solidFill>
            <a:srgbClr val="F0B04A"/>
          </a:solidFill>
          <a:ln/>
        </p:spPr>
        <p:txBody>
          <a:bodyPr/>
          <a:lstStyle/>
          <a:p>
            <a:endParaRPr lang="en-IN"/>
          </a:p>
        </p:txBody>
      </p:sp>
      <p:sp>
        <p:nvSpPr>
          <p:cNvPr id="10" name="Text 6"/>
          <p:cNvSpPr/>
          <p:nvPr/>
        </p:nvSpPr>
        <p:spPr>
          <a:xfrm>
            <a:off x="1051560" y="5436158"/>
            <a:ext cx="10428173" cy="278844"/>
          </a:xfrm>
          <a:prstGeom prst="rect">
            <a:avLst/>
          </a:prstGeom>
          <a:noFill/>
          <a:ln/>
        </p:spPr>
        <p:txBody>
          <a:bodyPr wrap="square" lIns="0" tIns="0" rIns="0" bIns="0" rtlCol="0" anchor="t">
            <a:normAutofit/>
          </a:bodyPr>
          <a:lstStyle/>
          <a:p>
            <a:pPr marL="0" indent="0" algn="l">
              <a:lnSpc>
                <a:spcPts val="2021"/>
              </a:lnSpc>
              <a:buNone/>
            </a:pPr>
            <a:r>
              <a:rPr lang="en-US" sz="1444" dirty="0">
                <a:solidFill>
                  <a:srgbClr val="FAF6F1"/>
                </a:solidFill>
                <a:latin typeface="DM Sans" pitchFamily="34" charset="0"/>
                <a:ea typeface="DM Sans" pitchFamily="34" charset="-122"/>
                <a:cs typeface="DM Sans" pitchFamily="34" charset="-120"/>
              </a:rPr>
              <a:t>Repeat customers grow from </a:t>
            </a:r>
            <a:r>
              <a:rPr lang="en-US" sz="1444" b="1" dirty="0">
                <a:solidFill>
                  <a:srgbClr val="FAF6F1"/>
                </a:solidFill>
                <a:latin typeface="DM Sans" pitchFamily="34" charset="0"/>
                <a:ea typeface="DM Sans" pitchFamily="34" charset="-122"/>
                <a:cs typeface="DM Sans" pitchFamily="34" charset="-120"/>
              </a:rPr>
              <a:t>432</a:t>
            </a:r>
            <a:r>
              <a:rPr lang="en-US" sz="1444" dirty="0">
                <a:solidFill>
                  <a:srgbClr val="FAF6F1"/>
                </a:solidFill>
                <a:latin typeface="DM Sans" pitchFamily="34" charset="0"/>
                <a:ea typeface="DM Sans" pitchFamily="34" charset="-122"/>
                <a:cs typeface="DM Sans" pitchFamily="34" charset="-120"/>
              </a:rPr>
              <a:t> in Feb 2024 to </a:t>
            </a:r>
            <a:r>
              <a:rPr lang="en-US" sz="1444" b="1" dirty="0">
                <a:solidFill>
                  <a:srgbClr val="FAF6F1"/>
                </a:solidFill>
                <a:latin typeface="DM Sans" pitchFamily="34" charset="0"/>
                <a:ea typeface="DM Sans" pitchFamily="34" charset="-122"/>
                <a:cs typeface="DM Sans" pitchFamily="34" charset="-120"/>
              </a:rPr>
              <a:t>1,449</a:t>
            </a:r>
            <a:r>
              <a:rPr lang="en-US" sz="1444" dirty="0">
                <a:solidFill>
                  <a:srgbClr val="FAF6F1"/>
                </a:solidFill>
                <a:latin typeface="DM Sans" pitchFamily="34" charset="0"/>
                <a:ea typeface="DM Sans" pitchFamily="34" charset="-122"/>
                <a:cs typeface="DM Sans" pitchFamily="34" charset="-120"/>
              </a:rPr>
              <a:t> in Apr 2025.</a:t>
            </a:r>
            <a:endParaRPr lang="en-US" sz="1444" dirty="0"/>
          </a:p>
        </p:txBody>
      </p:sp>
      <p:sp>
        <p:nvSpPr>
          <p:cNvPr id="11" name="Text 7"/>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1 OF 5</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restaurants generate the highest revenue?</a:t>
            </a:r>
            <a:endParaRPr lang="en-US" sz="2300" dirty="0"/>
          </a:p>
        </p:txBody>
      </p:sp>
      <p:sp>
        <p:nvSpPr>
          <p:cNvPr id="4" name="Shape 2"/>
          <p:cNvSpPr/>
          <p:nvPr/>
        </p:nvSpPr>
        <p:spPr>
          <a:xfrm>
            <a:off x="689661" y="1630362"/>
            <a:ext cx="10560050" cy="3053606"/>
          </a:xfrm>
          <a:prstGeom prst="roundRect">
            <a:avLst>
              <a:gd name="adj" fmla="val 3724"/>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1" y="2136774"/>
            <a:ext cx="9921136" cy="297640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TOP 10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SUM(o.order_amount - o.discount_amount + o.delivery_fee) AS 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restaurants 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o.restaurant_id =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r.restaurant_id,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revenue DESC;</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7017"/>
          </a:xfrm>
          <a:prstGeom prst="rect">
            <a:avLst/>
          </a:prstGeom>
          <a:noFill/>
          <a:ln/>
        </p:spPr>
        <p:txBody>
          <a:bodyPr wrap="square" lIns="0" tIns="0" rIns="0" bIns="0" rtlCol="0" anchor="t">
            <a:normAutofit/>
          </a:bodyPr>
          <a:lstStyle/>
          <a:p>
            <a:pPr marL="0" indent="0" algn="l">
              <a:lnSpc>
                <a:spcPts val="1923"/>
              </a:lnSpc>
              <a:buNone/>
            </a:pPr>
            <a:r>
              <a:rPr lang="en-US" sz="1374" b="1" kern="0" spc="200" dirty="0">
                <a:solidFill>
                  <a:srgbClr val="F0B04A"/>
                </a:solidFill>
                <a:latin typeface="DM Sans" pitchFamily="34" charset="0"/>
                <a:ea typeface="DM Sans" pitchFamily="34" charset="-122"/>
                <a:cs typeface="DM Sans" pitchFamily="34" charset="-120"/>
              </a:rPr>
              <a:t>RESTAURANT PERFORMANCE · QUESTION 1 OF 5 · OUTPUT</a:t>
            </a:r>
            <a:endParaRPr lang="en-US" sz="1374" dirty="0"/>
          </a:p>
        </p:txBody>
      </p:sp>
      <p:sp>
        <p:nvSpPr>
          <p:cNvPr id="3" name="Text 1"/>
          <p:cNvSpPr>
            <a:spLocks noGrp="1"/>
          </p:cNvSpPr>
          <p:nvPr>
            <p:ph type="title"/>
          </p:nvPr>
        </p:nvSpPr>
        <p:spPr>
          <a:xfrm>
            <a:off x="812800" y="1130622"/>
            <a:ext cx="10883392" cy="351393"/>
          </a:xfrm>
          <a:prstGeom prst="rect">
            <a:avLst/>
          </a:prstGeom>
          <a:noFill/>
          <a:ln/>
        </p:spPr>
        <p:txBody>
          <a:bodyPr wrap="square" lIns="0" tIns="0" rIns="0" bIns="0" rtlCol="0" anchor="t">
            <a:normAutofit/>
          </a:bodyPr>
          <a:lstStyle/>
          <a:p>
            <a:pPr marL="0" indent="0" algn="l">
              <a:lnSpc>
                <a:spcPts val="2571"/>
              </a:lnSpc>
              <a:buNone/>
            </a:pPr>
            <a:r>
              <a:rPr lang="en-US" sz="2235" b="1" i="0" dirty="0">
                <a:solidFill>
                  <a:srgbClr val="FAF6F1"/>
                </a:solidFill>
                <a:latin typeface="DM Sans" pitchFamily="34" charset="0"/>
                <a:ea typeface="DM Sans" pitchFamily="34" charset="-122"/>
                <a:cs typeface="DM Sans" pitchFamily="34" charset="-120"/>
              </a:rPr>
              <a:t>Which restaurants generate the highest revenue?</a:t>
            </a:r>
            <a:endParaRPr lang="en-US" sz="2235" dirty="0"/>
          </a:p>
        </p:txBody>
      </p:sp>
      <p:sp>
        <p:nvSpPr>
          <p:cNvPr id="4" name="Shape 2"/>
          <p:cNvSpPr/>
          <p:nvPr/>
        </p:nvSpPr>
        <p:spPr>
          <a:xfrm>
            <a:off x="815975" y="1637593"/>
            <a:ext cx="10560050" cy="4201239"/>
          </a:xfrm>
          <a:prstGeom prst="roundRect">
            <a:avLst>
              <a:gd name="adj" fmla="val 2343"/>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17291"/>
            <a:ext cx="10506659" cy="233045"/>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OUTPUT</a:t>
            </a:r>
            <a:endParaRPr lang="en-US" sz="1196"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24003"/>
          <a:ext cx="8244840" cy="3535121"/>
        </p:xfrm>
        <a:graphic>
          <a:graphicData uri="http://schemas.openxmlformats.org/drawingml/2006/table">
            <a:tbl>
              <a:tblPr/>
              <a:tblGrid>
                <a:gridCol w="2143658">
                  <a:extLst>
                    <a:ext uri="{9D8B030D-6E8A-4147-A177-3AD203B41FA5}">
                      <a16:colId xmlns:a16="http://schemas.microsoft.com/office/drawing/2014/main" val="20000"/>
                    </a:ext>
                  </a:extLst>
                </a:gridCol>
                <a:gridCol w="2638349">
                  <a:extLst>
                    <a:ext uri="{9D8B030D-6E8A-4147-A177-3AD203B41FA5}">
                      <a16:colId xmlns:a16="http://schemas.microsoft.com/office/drawing/2014/main" val="20001"/>
                    </a:ext>
                  </a:extLst>
                </a:gridCol>
                <a:gridCol w="3462833">
                  <a:extLst>
                    <a:ext uri="{9D8B030D-6E8A-4147-A177-3AD203B41FA5}">
                      <a16:colId xmlns:a16="http://schemas.microsoft.com/office/drawing/2014/main" val="20002"/>
                    </a:ext>
                  </a:extLst>
                </a:gridCol>
              </a:tblGrid>
              <a:tr h="321310">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restaurant_id</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restaurant_name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revenue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21310">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KFC</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166589.759836197</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72.00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Biryani By Kilo</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160277.99036026</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149.00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Barbeque Nation</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159827.850112915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193.00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McDonald's</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158718.8396492</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116.00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Haldiram's</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158325.139640808</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40.00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Behrouz Biryani</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158298.460926056</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58.00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KFC</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158069.510389328</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199.00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Burger King</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157824.969747543</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192.00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Haldiram's</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156491.850166321</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9"/>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Subway</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155758.470384598</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10"/>
                  </a:ext>
                </a:extLst>
              </a:tr>
            </a:tbl>
          </a:graphicData>
        </a:graphic>
      </p:graphicFrame>
      <p:sp>
        <p:nvSpPr>
          <p:cNvPr id="7"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2 OF 5</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restaurants receive the most orders?</a:t>
            </a:r>
            <a:endParaRPr lang="en-US" sz="2300" dirty="0"/>
          </a:p>
        </p:txBody>
      </p:sp>
      <p:sp>
        <p:nvSpPr>
          <p:cNvPr id="4" name="Shape 2"/>
          <p:cNvSpPr/>
          <p:nvPr/>
        </p:nvSpPr>
        <p:spPr>
          <a:xfrm>
            <a:off x="815975" y="1654807"/>
            <a:ext cx="10560050" cy="3129917"/>
          </a:xfrm>
          <a:prstGeom prst="roundRect">
            <a:avLst>
              <a:gd name="adj" fmla="val 3724"/>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9958459" cy="2647949"/>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TOP 10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COUNT(o.order_id) AS total_orders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restaurants 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o.restaurant_id =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r.restaurant_id,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total_orders DESC;</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7017"/>
          </a:xfrm>
          <a:prstGeom prst="rect">
            <a:avLst/>
          </a:prstGeom>
          <a:noFill/>
          <a:ln/>
        </p:spPr>
        <p:txBody>
          <a:bodyPr wrap="square" lIns="0" tIns="0" rIns="0" bIns="0" rtlCol="0" anchor="t">
            <a:normAutofit/>
          </a:bodyPr>
          <a:lstStyle/>
          <a:p>
            <a:pPr marL="0" indent="0" algn="l">
              <a:lnSpc>
                <a:spcPts val="1923"/>
              </a:lnSpc>
              <a:buNone/>
            </a:pPr>
            <a:r>
              <a:rPr lang="en-US" sz="1374" b="1" kern="0" spc="200" dirty="0">
                <a:solidFill>
                  <a:srgbClr val="F0B04A"/>
                </a:solidFill>
                <a:latin typeface="DM Sans" pitchFamily="34" charset="0"/>
                <a:ea typeface="DM Sans" pitchFamily="34" charset="-122"/>
                <a:cs typeface="DM Sans" pitchFamily="34" charset="-120"/>
              </a:rPr>
              <a:t>RESTAURANT PERFORMANCE · QUESTION 2 OF 5 · OUTPUT</a:t>
            </a:r>
            <a:endParaRPr lang="en-US" sz="1374" dirty="0"/>
          </a:p>
        </p:txBody>
      </p:sp>
      <p:sp>
        <p:nvSpPr>
          <p:cNvPr id="3" name="Text 1"/>
          <p:cNvSpPr>
            <a:spLocks noGrp="1"/>
          </p:cNvSpPr>
          <p:nvPr>
            <p:ph type="title"/>
          </p:nvPr>
        </p:nvSpPr>
        <p:spPr>
          <a:xfrm>
            <a:off x="812800" y="1130622"/>
            <a:ext cx="10883392" cy="351393"/>
          </a:xfrm>
          <a:prstGeom prst="rect">
            <a:avLst/>
          </a:prstGeom>
          <a:noFill/>
          <a:ln/>
        </p:spPr>
        <p:txBody>
          <a:bodyPr wrap="square" lIns="0" tIns="0" rIns="0" bIns="0" rtlCol="0" anchor="t">
            <a:normAutofit/>
          </a:bodyPr>
          <a:lstStyle/>
          <a:p>
            <a:pPr marL="0" indent="0" algn="l">
              <a:lnSpc>
                <a:spcPts val="2571"/>
              </a:lnSpc>
              <a:buNone/>
            </a:pPr>
            <a:r>
              <a:rPr lang="en-US" sz="2235" b="1" i="0" dirty="0">
                <a:solidFill>
                  <a:srgbClr val="FAF6F1"/>
                </a:solidFill>
                <a:latin typeface="DM Sans" pitchFamily="34" charset="0"/>
                <a:ea typeface="DM Sans" pitchFamily="34" charset="-122"/>
                <a:cs typeface="DM Sans" pitchFamily="34" charset="-120"/>
              </a:rPr>
              <a:t>Which restaurants receive the most orders?</a:t>
            </a:r>
            <a:endParaRPr lang="en-US" sz="2235" dirty="0"/>
          </a:p>
        </p:txBody>
      </p:sp>
      <p:sp>
        <p:nvSpPr>
          <p:cNvPr id="4" name="Shape 2"/>
          <p:cNvSpPr/>
          <p:nvPr/>
        </p:nvSpPr>
        <p:spPr>
          <a:xfrm>
            <a:off x="815975" y="1637593"/>
            <a:ext cx="10560050" cy="4201239"/>
          </a:xfrm>
          <a:prstGeom prst="roundRect">
            <a:avLst>
              <a:gd name="adj" fmla="val 2343"/>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17291"/>
            <a:ext cx="10506659" cy="233045"/>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OUTPUT</a:t>
            </a:r>
            <a:endParaRPr lang="en-US" sz="1196"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24003"/>
          <a:ext cx="8244840" cy="3535121"/>
        </p:xfrm>
        <a:graphic>
          <a:graphicData uri="http://schemas.openxmlformats.org/drawingml/2006/table">
            <a:tbl>
              <a:tblPr/>
              <a:tblGrid>
                <a:gridCol w="2473452">
                  <a:extLst>
                    <a:ext uri="{9D8B030D-6E8A-4147-A177-3AD203B41FA5}">
                      <a16:colId xmlns:a16="http://schemas.microsoft.com/office/drawing/2014/main" val="20000"/>
                    </a:ext>
                  </a:extLst>
                </a:gridCol>
                <a:gridCol w="3133039">
                  <a:extLst>
                    <a:ext uri="{9D8B030D-6E8A-4147-A177-3AD203B41FA5}">
                      <a16:colId xmlns:a16="http://schemas.microsoft.com/office/drawing/2014/main" val="20001"/>
                    </a:ext>
                  </a:extLst>
                </a:gridCol>
                <a:gridCol w="2638349">
                  <a:extLst>
                    <a:ext uri="{9D8B030D-6E8A-4147-A177-3AD203B41FA5}">
                      <a16:colId xmlns:a16="http://schemas.microsoft.com/office/drawing/2014/main" val="20002"/>
                    </a:ext>
                  </a:extLst>
                </a:gridCol>
              </a:tblGrid>
              <a:tr h="321310">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restaurant_id</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restaurant_name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total_orders</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21310">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KFC</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185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116.00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Haldiram's</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181</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72.00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Biryani By Kilo</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179</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193.00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McDonald's</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177</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133.00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Burger King</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82.00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Chaayos</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174</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58.00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KFC</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174</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149.00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Barbeque Nation</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174</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Subway</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173</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9"/>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111.00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Biryani By Kilo</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173</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10"/>
                  </a:ext>
                </a:extLst>
              </a:tr>
            </a:tbl>
          </a:graphicData>
        </a:graphic>
      </p:graphicFrame>
      <p:sp>
        <p:nvSpPr>
          <p:cNvPr id="7" name="Text 4"/>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3 OF 5</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cuisines are most popular?</a:t>
            </a:r>
            <a:endParaRPr lang="en-US" sz="2300" dirty="0"/>
          </a:p>
        </p:txBody>
      </p:sp>
      <p:sp>
        <p:nvSpPr>
          <p:cNvPr id="4" name="Shape 2"/>
          <p:cNvSpPr/>
          <p:nvPr/>
        </p:nvSpPr>
        <p:spPr>
          <a:xfrm>
            <a:off x="815975" y="1654807"/>
            <a:ext cx="10560050" cy="3129917"/>
          </a:xfrm>
          <a:prstGeom prst="roundRect">
            <a:avLst>
              <a:gd name="adj" fmla="val 3724"/>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4"/>
            <a:ext cx="9743855" cy="3191006"/>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r.cuisine,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COUNT(o.order_id) AS total_orders,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SUM(o.order_amount - o.discount_amount + o.delivery_fee) AS 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restaurants 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o.restaurant_id =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r.cuisine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total_orders DESC;</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3 OF 5 · OUTPUT</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cuisines are most popular?</a:t>
            </a:r>
            <a:endParaRPr lang="en-US" sz="2300" dirty="0"/>
          </a:p>
        </p:txBody>
      </p:sp>
      <p:sp>
        <p:nvSpPr>
          <p:cNvPr id="4" name="Shape 2"/>
          <p:cNvSpPr/>
          <p:nvPr/>
        </p:nvSpPr>
        <p:spPr>
          <a:xfrm>
            <a:off x="815975" y="1654808"/>
            <a:ext cx="10560050" cy="3169920"/>
          </a:xfrm>
          <a:prstGeom prst="roundRect">
            <a:avLst>
              <a:gd name="adj" fmla="val 3105"/>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8244840" cy="2498090"/>
        </p:xfrm>
        <a:graphic>
          <a:graphicData uri="http://schemas.openxmlformats.org/drawingml/2006/table">
            <a:tbl>
              <a:tblPr/>
              <a:tblGrid>
                <a:gridCol w="2473452">
                  <a:extLst>
                    <a:ext uri="{9D8B030D-6E8A-4147-A177-3AD203B41FA5}">
                      <a16:colId xmlns:a16="http://schemas.microsoft.com/office/drawing/2014/main" val="20000"/>
                    </a:ext>
                  </a:extLst>
                </a:gridCol>
                <a:gridCol w="2308555">
                  <a:extLst>
                    <a:ext uri="{9D8B030D-6E8A-4147-A177-3AD203B41FA5}">
                      <a16:colId xmlns:a16="http://schemas.microsoft.com/office/drawing/2014/main" val="20001"/>
                    </a:ext>
                  </a:extLst>
                </a:gridCol>
                <a:gridCol w="3462833">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cuisine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total_orders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revenue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North Indian</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5869</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5254133.56032181</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Pizza</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5706</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5161393.74858856</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Fast Food</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5378</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4872601.84784889</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Cafe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4536</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4117375.39120674</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Healthy</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4489</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4076357.82613564</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Biryani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3859</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3483934.77980614</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bl>
          </a:graphicData>
        </a:graphic>
      </p:graphicFrame>
      <p:sp>
        <p:nvSpPr>
          <p:cNvPr id="7" name="Text 4"/>
          <p:cNvSpPr/>
          <p:nvPr/>
        </p:nvSpPr>
        <p:spPr>
          <a:xfrm>
            <a:off x="812800" y="5005710"/>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b="1" dirty="0">
                <a:solidFill>
                  <a:srgbClr val="FAF6F1"/>
                </a:solidFill>
                <a:latin typeface="DM Sans" pitchFamily="34" charset="0"/>
                <a:ea typeface="DM Sans" pitchFamily="34" charset="-122"/>
                <a:cs typeface="DM Sans" pitchFamily="34" charset="-120"/>
              </a:rPr>
              <a:t>North Indian</a:t>
            </a:r>
            <a:r>
              <a:rPr lang="en-US" sz="1500" dirty="0">
                <a:solidFill>
                  <a:srgbClr val="FAF6F1"/>
                </a:solidFill>
                <a:latin typeface="DM Sans" pitchFamily="34" charset="0"/>
                <a:ea typeface="DM Sans" pitchFamily="34" charset="-122"/>
                <a:cs typeface="DM Sans" pitchFamily="34" charset="-120"/>
              </a:rPr>
              <a:t> is the most popular cuisine with 5,869 delivered orders; Biryani is the least with 3,859.</a:t>
            </a:r>
            <a:endParaRPr lang="en-US" sz="1500" dirty="0"/>
          </a:p>
        </p:txBody>
      </p:sp>
      <p:sp>
        <p:nvSpPr>
          <p:cNvPr id="8" name="Shape 5"/>
          <p:cNvSpPr/>
          <p:nvPr/>
        </p:nvSpPr>
        <p:spPr>
          <a:xfrm>
            <a:off x="812800" y="5005710"/>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9"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4 OF 5</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Do highly-rated restaurants generate more revenue?</a:t>
            </a:r>
            <a:endParaRPr lang="en-US" sz="2300" dirty="0"/>
          </a:p>
        </p:txBody>
      </p:sp>
      <p:sp>
        <p:nvSpPr>
          <p:cNvPr id="4" name="Shape 2"/>
          <p:cNvSpPr/>
          <p:nvPr/>
        </p:nvSpPr>
        <p:spPr>
          <a:xfrm>
            <a:off x="815975" y="1654808"/>
            <a:ext cx="10560050" cy="4065265"/>
          </a:xfrm>
          <a:prstGeom prst="roundRect">
            <a:avLst>
              <a:gd name="adj" fmla="val 256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1" y="2136775"/>
            <a:ext cx="9706532" cy="349891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COUNT(DISTINCT r.restaurant_id) AS restaurants,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r.avg_rating,</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AVG(CAST(x.revenue AS DECIMAL(18,2))) AS avg_revenue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restaurants 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SUM(order_amount - discount_amount + delivery_fee) AS 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GROUP BY 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x</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r.restaurant_id = x.restaurant_id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r.avg_rating</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r.avg_rating desc;</a:t>
            </a:r>
            <a:endParaRPr lang="en-US" sz="1200" dirty="0"/>
          </a:p>
        </p:txBody>
      </p:sp>
      <p:sp>
        <p:nvSpPr>
          <p:cNvPr id="7" name="Text 5"/>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0350"/>
          </a:xfrm>
          <a:prstGeom prst="rect">
            <a:avLst/>
          </a:prstGeom>
          <a:noFill/>
          <a:ln/>
        </p:spPr>
        <p:txBody>
          <a:bodyPr wrap="square" lIns="0" tIns="0" rIns="0" bIns="0" rtlCol="0" anchor="t">
            <a:normAutofit/>
          </a:bodyPr>
          <a:lstStyle/>
          <a:p>
            <a:pPr marL="0" indent="0" algn="l">
              <a:lnSpc>
                <a:spcPts val="1874"/>
              </a:lnSpc>
              <a:buNone/>
            </a:pPr>
            <a:r>
              <a:rPr lang="en-US" sz="1339" b="1" kern="0" spc="200" dirty="0">
                <a:solidFill>
                  <a:srgbClr val="F0B04A"/>
                </a:solidFill>
                <a:latin typeface="DM Sans" pitchFamily="34" charset="0"/>
                <a:ea typeface="DM Sans" pitchFamily="34" charset="-122"/>
                <a:cs typeface="DM Sans" pitchFamily="34" charset="-120"/>
              </a:rPr>
              <a:t>RESTAURANT PERFORMANCE · QUESTION 4 OF 5 · OUTPUT</a:t>
            </a:r>
            <a:endParaRPr lang="en-US" sz="1339" dirty="0"/>
          </a:p>
        </p:txBody>
      </p:sp>
      <p:sp>
        <p:nvSpPr>
          <p:cNvPr id="3" name="Text 1"/>
          <p:cNvSpPr>
            <a:spLocks noGrp="1"/>
          </p:cNvSpPr>
          <p:nvPr>
            <p:ph type="title"/>
          </p:nvPr>
        </p:nvSpPr>
        <p:spPr>
          <a:xfrm>
            <a:off x="812800" y="1123950"/>
            <a:ext cx="10883392" cy="342503"/>
          </a:xfrm>
          <a:prstGeom prst="rect">
            <a:avLst/>
          </a:prstGeom>
          <a:noFill/>
          <a:ln/>
        </p:spPr>
        <p:txBody>
          <a:bodyPr wrap="square" lIns="0" tIns="0" rIns="0" bIns="0" rtlCol="0" anchor="t">
            <a:normAutofit/>
          </a:bodyPr>
          <a:lstStyle/>
          <a:p>
            <a:pPr marL="0" indent="0" algn="l">
              <a:lnSpc>
                <a:spcPts val="2521"/>
              </a:lnSpc>
              <a:buNone/>
            </a:pPr>
            <a:r>
              <a:rPr lang="en-US" sz="2192" b="1" i="0" dirty="0">
                <a:solidFill>
                  <a:srgbClr val="FAF6F1"/>
                </a:solidFill>
                <a:latin typeface="DM Sans" pitchFamily="34" charset="0"/>
                <a:ea typeface="DM Sans" pitchFamily="34" charset="-122"/>
                <a:cs typeface="DM Sans" pitchFamily="34" charset="-120"/>
              </a:rPr>
              <a:t>Do highly-rated restaurants generate more revenue?</a:t>
            </a:r>
            <a:endParaRPr lang="en-US" sz="2192" dirty="0"/>
          </a:p>
        </p:txBody>
      </p:sp>
      <p:sp>
        <p:nvSpPr>
          <p:cNvPr id="4" name="Shape 2"/>
          <p:cNvSpPr/>
          <p:nvPr/>
        </p:nvSpPr>
        <p:spPr>
          <a:xfrm>
            <a:off x="815975" y="1622028"/>
            <a:ext cx="10560050" cy="3480753"/>
          </a:xfrm>
          <a:prstGeom prst="roundRect">
            <a:avLst>
              <a:gd name="adj" fmla="val 2828"/>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01738"/>
            <a:ext cx="10506659" cy="227886"/>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F0B04A"/>
                </a:solidFill>
                <a:latin typeface="DM Sans" pitchFamily="34" charset="0"/>
                <a:ea typeface="DM Sans" pitchFamily="34" charset="-122"/>
                <a:cs typeface="DM Sans" pitchFamily="34" charset="-120"/>
              </a:rPr>
              <a:t>OUTPUT · 15 RATING BANDS</a:t>
            </a:r>
            <a:endParaRPr lang="en-US" sz="1159"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03279"/>
          <a:ext cx="4942840" cy="2971800"/>
        </p:xfrm>
        <a:graphic>
          <a:graphicData uri="http://schemas.openxmlformats.org/drawingml/2006/table">
            <a:tbl>
              <a:tblPr/>
              <a:tblGrid>
                <a:gridCol w="1383995">
                  <a:extLst>
                    <a:ext uri="{9D8B030D-6E8A-4147-A177-3AD203B41FA5}">
                      <a16:colId xmlns:a16="http://schemas.microsoft.com/office/drawing/2014/main" val="20000"/>
                    </a:ext>
                  </a:extLst>
                </a:gridCol>
                <a:gridCol w="1878279">
                  <a:extLst>
                    <a:ext uri="{9D8B030D-6E8A-4147-A177-3AD203B41FA5}">
                      <a16:colId xmlns:a16="http://schemas.microsoft.com/office/drawing/2014/main" val="20001"/>
                    </a:ext>
                  </a:extLst>
                </a:gridCol>
                <a:gridCol w="1680566">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restaurants</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avg_rating</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avg_revenue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138946.402000</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4.90000009536743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140164.538461</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4.80000019073486</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135402.360714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10</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4.69999980926514</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131067.615000</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4.59999990463257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136729.352777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132541.000588</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4.40000009536743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135398.938461</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4.30000019073486</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128300.195833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graphicFrame>
        <p:nvGraphicFramePr>
          <p:cNvPr id="7" name="Table 1"/>
          <p:cNvGraphicFramePr>
            <a:graphicFrameLocks noGrp="1"/>
          </p:cNvGraphicFramePr>
          <p:nvPr>
            <p:extLst>
              <p:ext uri="{D42A27DB-BD31-4B8C-83A1-F6EECF244321}">
                <p14:modId xmlns:p14="http://schemas.microsoft.com/office/powerpoint/2010/main" val="1579011935"/>
              </p:ext>
            </p:extLst>
          </p:nvPr>
        </p:nvGraphicFramePr>
        <p:xfrm>
          <a:off x="6111240" y="2103279"/>
          <a:ext cx="4942840" cy="2641600"/>
        </p:xfrm>
        <a:graphic>
          <a:graphicData uri="http://schemas.openxmlformats.org/drawingml/2006/table">
            <a:tbl>
              <a:tblPr/>
              <a:tblGrid>
                <a:gridCol w="1383995">
                  <a:extLst>
                    <a:ext uri="{9D8B030D-6E8A-4147-A177-3AD203B41FA5}">
                      <a16:colId xmlns:a16="http://schemas.microsoft.com/office/drawing/2014/main" val="20000"/>
                    </a:ext>
                  </a:extLst>
                </a:gridCol>
                <a:gridCol w="1878279">
                  <a:extLst>
                    <a:ext uri="{9D8B030D-6E8A-4147-A177-3AD203B41FA5}">
                      <a16:colId xmlns:a16="http://schemas.microsoft.com/office/drawing/2014/main" val="20001"/>
                    </a:ext>
                  </a:extLst>
                </a:gridCol>
                <a:gridCol w="1680566">
                  <a:extLst>
                    <a:ext uri="{9D8B030D-6E8A-4147-A177-3AD203B41FA5}">
                      <a16:colId xmlns:a16="http://schemas.microsoft.com/office/drawing/2014/main" val="20002"/>
                    </a:ext>
                  </a:extLst>
                </a:gridCol>
              </a:tblGrid>
              <a:tr h="33020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restaurants</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avg_rating</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avg_revenue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4.19999980926514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134769.884705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4.09999990463257</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129845.656923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137923.265882</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3.90000009536743</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133073.395714</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3.79999995231628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133886.484000</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3.70000004768372</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138270.165384</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3.59999990463257</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135003.413333</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bl>
          </a:graphicData>
        </a:graphic>
      </p:graphicFrame>
      <p:sp>
        <p:nvSpPr>
          <p:cNvPr id="8" name="Shape 4"/>
          <p:cNvSpPr/>
          <p:nvPr/>
        </p:nvSpPr>
        <p:spPr>
          <a:xfrm>
            <a:off x="812800" y="5283758"/>
            <a:ext cx="10566400" cy="558244"/>
          </a:xfrm>
          <a:prstGeom prst="roundRect">
            <a:avLst>
              <a:gd name="adj" fmla="val 13650"/>
            </a:avLst>
          </a:prstGeom>
          <a:solidFill>
            <a:srgbClr val="2B2727"/>
          </a:solidFill>
          <a:ln/>
        </p:spPr>
        <p:txBody>
          <a:bodyPr/>
          <a:lstStyle/>
          <a:p>
            <a:endParaRPr lang="en-IN"/>
          </a:p>
        </p:txBody>
      </p:sp>
      <p:sp>
        <p:nvSpPr>
          <p:cNvPr id="9" name="Shape 5"/>
          <p:cNvSpPr/>
          <p:nvPr/>
        </p:nvSpPr>
        <p:spPr>
          <a:xfrm>
            <a:off x="812800" y="5283758"/>
            <a:ext cx="10566400" cy="558244"/>
          </a:xfrm>
          <a:custGeom>
            <a:avLst/>
            <a:gdLst/>
            <a:ahLst/>
            <a:cxnLst/>
            <a:rect l="l" t="t" r="r" b="b"/>
            <a:pathLst>
              <a:path w="10566400" h="558244">
                <a:moveTo>
                  <a:pt x="76200" y="558244"/>
                </a:moveTo>
                <a:lnTo>
                  <a:pt x="76200" y="558244"/>
                </a:lnTo>
                <a:arcTo wR="76200" hR="76200" stAng="5400000" swAng="5400000"/>
                <a:lnTo>
                  <a:pt x="0" y="76200"/>
                </a:lnTo>
                <a:arcTo wR="76200" hR="76200" stAng="10800000" swAng="5400000"/>
                <a:lnTo>
                  <a:pt x="76200" y="0"/>
                </a:lnTo>
                <a:arcTo wR="38100" hR="76200" stAng="16200000" swAng="-5400000"/>
                <a:lnTo>
                  <a:pt x="38100" y="482044"/>
                </a:lnTo>
                <a:arcTo wR="38100" hR="76200" stAng="10800000" swAng="-5400000"/>
                <a:close/>
              </a:path>
            </a:pathLst>
          </a:custGeom>
          <a:solidFill>
            <a:srgbClr val="F0B04A"/>
          </a:solidFill>
          <a:ln/>
        </p:spPr>
        <p:txBody>
          <a:bodyPr/>
          <a:lstStyle/>
          <a:p>
            <a:endParaRPr lang="en-IN"/>
          </a:p>
        </p:txBody>
      </p:sp>
      <p:sp>
        <p:nvSpPr>
          <p:cNvPr id="10" name="Text 6"/>
          <p:cNvSpPr/>
          <p:nvPr/>
        </p:nvSpPr>
        <p:spPr>
          <a:xfrm>
            <a:off x="1051560" y="5436158"/>
            <a:ext cx="10428173" cy="278844"/>
          </a:xfrm>
          <a:prstGeom prst="rect">
            <a:avLst/>
          </a:prstGeom>
          <a:noFill/>
          <a:ln/>
        </p:spPr>
        <p:txBody>
          <a:bodyPr wrap="square" lIns="0" tIns="0" rIns="0" bIns="0" rtlCol="0" anchor="t">
            <a:normAutofit/>
          </a:bodyPr>
          <a:lstStyle/>
          <a:p>
            <a:pPr marL="0" indent="0" algn="l">
              <a:lnSpc>
                <a:spcPts val="2021"/>
              </a:lnSpc>
              <a:buNone/>
            </a:pPr>
            <a:r>
              <a:rPr lang="en-US" sz="1444" dirty="0">
                <a:solidFill>
                  <a:srgbClr val="FAF6F1"/>
                </a:solidFill>
                <a:latin typeface="DM Sans" pitchFamily="34" charset="0"/>
                <a:ea typeface="DM Sans" pitchFamily="34" charset="-122"/>
                <a:cs typeface="DM Sans" pitchFamily="34" charset="-120"/>
              </a:rPr>
              <a:t>Revenue does not rise with rating: average revenue stays between </a:t>
            </a:r>
            <a:r>
              <a:rPr lang="en-US" sz="1444" b="1" dirty="0">
                <a:solidFill>
                  <a:srgbClr val="FAF6F1"/>
                </a:solidFill>
                <a:latin typeface="DM Sans" pitchFamily="34" charset="0"/>
                <a:ea typeface="DM Sans" pitchFamily="34" charset="-122"/>
                <a:cs typeface="DM Sans" pitchFamily="34" charset="-120"/>
              </a:rPr>
              <a:t>₹128K and ₹140K</a:t>
            </a:r>
            <a:r>
              <a:rPr lang="en-US" sz="1444" dirty="0">
                <a:solidFill>
                  <a:srgbClr val="FAF6F1"/>
                </a:solidFill>
                <a:latin typeface="DM Sans" pitchFamily="34" charset="0"/>
                <a:ea typeface="DM Sans" pitchFamily="34" charset="-122"/>
                <a:cs typeface="DM Sans" pitchFamily="34" charset="-120"/>
              </a:rPr>
              <a:t> across rating bands.</a:t>
            </a:r>
            <a:endParaRPr lang="en-US" sz="1444" dirty="0"/>
          </a:p>
        </p:txBody>
      </p:sp>
      <p:sp>
        <p:nvSpPr>
          <p:cNvPr id="11" name="Text 7"/>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5 OF 5</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are the last 5 restaurants?</a:t>
            </a:r>
            <a:endParaRPr lang="en-US" sz="2300" dirty="0"/>
          </a:p>
        </p:txBody>
      </p:sp>
      <p:sp>
        <p:nvSpPr>
          <p:cNvPr id="4" name="Shape 2"/>
          <p:cNvSpPr/>
          <p:nvPr/>
        </p:nvSpPr>
        <p:spPr>
          <a:xfrm>
            <a:off x="815975" y="1654808"/>
            <a:ext cx="5175250" cy="1850390"/>
          </a:xfrm>
          <a:prstGeom prst="roundRect">
            <a:avLst>
              <a:gd name="adj" fmla="val 531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496031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 · BASED ON AVERAGE RATINGS</a:t>
            </a:r>
            <a:endParaRPr lang="en-US" sz="1200" dirty="0"/>
          </a:p>
        </p:txBody>
      </p:sp>
      <p:sp>
        <p:nvSpPr>
          <p:cNvPr id="6" name="Text 4"/>
          <p:cNvSpPr/>
          <p:nvPr/>
        </p:nvSpPr>
        <p:spPr>
          <a:xfrm>
            <a:off x="995680" y="2136775"/>
            <a:ext cx="4960315" cy="121412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TOP 5</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avg_rating</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restaurants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avg_rating ASC;</a:t>
            </a:r>
            <a:endParaRPr lang="en-US" sz="1200" dirty="0"/>
          </a:p>
        </p:txBody>
      </p:sp>
      <p:sp>
        <p:nvSpPr>
          <p:cNvPr id="7" name="Shape 5"/>
          <p:cNvSpPr/>
          <p:nvPr/>
        </p:nvSpPr>
        <p:spPr>
          <a:xfrm>
            <a:off x="6200775" y="1654808"/>
            <a:ext cx="5175250" cy="3327740"/>
          </a:xfrm>
          <a:prstGeom prst="roundRect">
            <a:avLst>
              <a:gd name="adj" fmla="val 3239"/>
            </a:avLst>
          </a:prstGeom>
          <a:solidFill>
            <a:srgbClr val="141111"/>
          </a:solidFill>
          <a:ln w="6350">
            <a:solidFill>
              <a:srgbClr val="4A4343"/>
            </a:solidFill>
            <a:prstDash val="solid"/>
          </a:ln>
        </p:spPr>
        <p:txBody>
          <a:bodyPr/>
          <a:lstStyle/>
          <a:p>
            <a:endParaRPr lang="en-IN"/>
          </a:p>
        </p:txBody>
      </p:sp>
      <p:sp>
        <p:nvSpPr>
          <p:cNvPr id="8" name="Text 6"/>
          <p:cNvSpPr/>
          <p:nvPr/>
        </p:nvSpPr>
        <p:spPr>
          <a:xfrm>
            <a:off x="6380480" y="1834517"/>
            <a:ext cx="4960315"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 · BASED ON REVENUE</a:t>
            </a:r>
            <a:endParaRPr lang="en-US" sz="1200" dirty="0"/>
          </a:p>
        </p:txBody>
      </p:sp>
      <p:sp>
        <p:nvSpPr>
          <p:cNvPr id="9" name="Text 7"/>
          <p:cNvSpPr/>
          <p:nvPr/>
        </p:nvSpPr>
        <p:spPr>
          <a:xfrm>
            <a:off x="6380480" y="2136775"/>
            <a:ext cx="4638973" cy="34242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TOP 5</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SUM(o.order_amount - o.discount_amount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o.delivery_fee) AS revenue,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r.avg_rating</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restaurants 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on r.restaurant_id = o.restaurant_id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r.restaurant_name, r.avg_rating</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r.avg_rating asc;</a:t>
            </a:r>
            <a:endParaRPr lang="en-US" sz="1200" dirty="0"/>
          </a:p>
        </p:txBody>
      </p:sp>
      <p:sp>
        <p:nvSpPr>
          <p:cNvPr id="10" name="Text 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RESTAURANT PERFORMANCE · QUESTION 5 OF 5 · OUTPUT</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are the last 5 restaurants?</a:t>
            </a:r>
            <a:endParaRPr lang="en-US" sz="2300" dirty="0"/>
          </a:p>
        </p:txBody>
      </p:sp>
      <p:sp>
        <p:nvSpPr>
          <p:cNvPr id="4" name="Shape 2"/>
          <p:cNvSpPr/>
          <p:nvPr/>
        </p:nvSpPr>
        <p:spPr>
          <a:xfrm>
            <a:off x="815975" y="1654808"/>
            <a:ext cx="4438650" cy="2967990"/>
          </a:xfrm>
          <a:prstGeom prst="roundRect">
            <a:avLst>
              <a:gd name="adj" fmla="val 3316"/>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17"/>
            <a:ext cx="420161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 · BY AVERAGE RATING</a:t>
            </a:r>
            <a:endParaRPr lang="en-US" sz="1200" dirty="0"/>
          </a:p>
        </p:txBody>
      </p:sp>
      <p:sp>
        <p:nvSpPr>
          <p:cNvPr id="6" name="Shape 4"/>
          <p:cNvSpPr/>
          <p:nvPr/>
        </p:nvSpPr>
        <p:spPr>
          <a:xfrm>
            <a:off x="995680" y="2141855"/>
            <a:ext cx="4064000" cy="0"/>
          </a:xfrm>
          <a:prstGeom prst="line">
            <a:avLst/>
          </a:prstGeom>
          <a:noFill/>
          <a:ln w="10160">
            <a:solidFill>
              <a:srgbClr val="FAF9F5">
                <a:alpha val="22000"/>
              </a:srgbClr>
            </a:solidFill>
            <a:prstDash val="solid"/>
          </a:ln>
        </p:spPr>
        <p:txBody>
          <a:bodyPr/>
          <a:lstStyle/>
          <a:p>
            <a:endParaRPr lang="en-IN"/>
          </a:p>
        </p:txBody>
      </p:sp>
      <p:sp>
        <p:nvSpPr>
          <p:cNvPr id="7" name="Shape 5"/>
          <p:cNvSpPr/>
          <p:nvPr/>
        </p:nvSpPr>
        <p:spPr>
          <a:xfrm>
            <a:off x="1000760" y="2136775"/>
            <a:ext cx="0" cy="2306320"/>
          </a:xfrm>
          <a:prstGeom prst="line">
            <a:avLst/>
          </a:prstGeom>
          <a:noFill/>
          <a:ln w="10160">
            <a:solidFill>
              <a:srgbClr val="FAF9F5">
                <a:alpha val="22000"/>
              </a:srgbClr>
            </a:solidFill>
            <a:prstDash val="solid"/>
          </a:ln>
        </p:spPr>
        <p:txBody>
          <a:bodyPr/>
          <a:lstStyle/>
          <a:p>
            <a:endParaRPr lang="en-IN"/>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1069340" y="2197735"/>
          <a:ext cx="3926840" cy="2194560"/>
        </p:xfrm>
        <a:graphic>
          <a:graphicData uri="http://schemas.openxmlformats.org/drawingml/2006/table">
            <a:tbl>
              <a:tblPr/>
              <a:tblGrid>
                <a:gridCol w="1178052">
                  <a:extLst>
                    <a:ext uri="{9D8B030D-6E8A-4147-A177-3AD203B41FA5}">
                      <a16:colId xmlns:a16="http://schemas.microsoft.com/office/drawing/2014/main" val="20000"/>
                    </a:ext>
                  </a:extLst>
                </a:gridCol>
                <a:gridCol w="1492199">
                  <a:extLst>
                    <a:ext uri="{9D8B030D-6E8A-4147-A177-3AD203B41FA5}">
                      <a16:colId xmlns:a16="http://schemas.microsoft.com/office/drawing/2014/main" val="20001"/>
                    </a:ext>
                  </a:extLst>
                </a:gridCol>
                <a:gridCol w="1256589">
                  <a:extLst>
                    <a:ext uri="{9D8B030D-6E8A-4147-A177-3AD203B41FA5}">
                      <a16:colId xmlns:a16="http://schemas.microsoft.com/office/drawing/2014/main" val="20002"/>
                    </a:ext>
                  </a:extLst>
                </a:gridCol>
              </a:tblGrid>
              <a:tr h="54356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restaurant_id</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restaurant_name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avg_rating</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26.00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Haldiram's</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47.00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Starbucks</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65.00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Burger King</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89.00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Starbucks</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111.00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Biryani By Kilo</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bl>
          </a:graphicData>
        </a:graphic>
      </p:graphicFrame>
      <p:sp>
        <p:nvSpPr>
          <p:cNvPr id="9" name="Shape 6"/>
          <p:cNvSpPr/>
          <p:nvPr/>
        </p:nvSpPr>
        <p:spPr>
          <a:xfrm>
            <a:off x="5413375" y="1654808"/>
            <a:ext cx="5962650" cy="2967990"/>
          </a:xfrm>
          <a:prstGeom prst="roundRect">
            <a:avLst>
              <a:gd name="adj" fmla="val 3316"/>
            </a:avLst>
          </a:prstGeom>
          <a:solidFill>
            <a:srgbClr val="2B2727"/>
          </a:solidFill>
          <a:ln w="6350">
            <a:solidFill>
              <a:srgbClr val="4A4343"/>
            </a:solidFill>
            <a:prstDash val="solid"/>
          </a:ln>
        </p:spPr>
        <p:txBody>
          <a:bodyPr/>
          <a:lstStyle/>
          <a:p>
            <a:endParaRPr lang="en-IN"/>
          </a:p>
        </p:txBody>
      </p:sp>
      <p:sp>
        <p:nvSpPr>
          <p:cNvPr id="10" name="Text 7"/>
          <p:cNvSpPr/>
          <p:nvPr/>
        </p:nvSpPr>
        <p:spPr>
          <a:xfrm>
            <a:off x="5593080" y="1834517"/>
            <a:ext cx="577133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 · BY REVENUE</a:t>
            </a:r>
            <a:endParaRPr lang="en-US" sz="1200" dirty="0"/>
          </a:p>
        </p:txBody>
      </p:sp>
      <p:sp>
        <p:nvSpPr>
          <p:cNvPr id="11" name="Shape 8"/>
          <p:cNvSpPr/>
          <p:nvPr/>
        </p:nvSpPr>
        <p:spPr>
          <a:xfrm>
            <a:off x="5593080" y="2141855"/>
            <a:ext cx="5613400" cy="0"/>
          </a:xfrm>
          <a:prstGeom prst="line">
            <a:avLst/>
          </a:prstGeom>
          <a:noFill/>
          <a:ln w="10160">
            <a:solidFill>
              <a:srgbClr val="FAF9F5">
                <a:alpha val="22000"/>
              </a:srgbClr>
            </a:solidFill>
            <a:prstDash val="solid"/>
          </a:ln>
        </p:spPr>
        <p:txBody>
          <a:bodyPr/>
          <a:lstStyle/>
          <a:p>
            <a:endParaRPr lang="en-IN"/>
          </a:p>
        </p:txBody>
      </p:sp>
      <p:sp>
        <p:nvSpPr>
          <p:cNvPr id="12" name="Shape 9"/>
          <p:cNvSpPr/>
          <p:nvPr/>
        </p:nvSpPr>
        <p:spPr>
          <a:xfrm>
            <a:off x="5598160" y="2136775"/>
            <a:ext cx="0" cy="2306320"/>
          </a:xfrm>
          <a:prstGeom prst="line">
            <a:avLst/>
          </a:prstGeom>
          <a:noFill/>
          <a:ln w="10160">
            <a:solidFill>
              <a:srgbClr val="FAF9F5">
                <a:alpha val="22000"/>
              </a:srgbClr>
            </a:solidFill>
            <a:prstDash val="solid"/>
          </a:ln>
        </p:spPr>
        <p:txBody>
          <a:bodyPr/>
          <a:lstStyle/>
          <a:p>
            <a:endParaRPr lang="en-IN"/>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5666740" y="2197735"/>
          <a:ext cx="5476240" cy="2194560"/>
        </p:xfrm>
        <a:graphic>
          <a:graphicData uri="http://schemas.openxmlformats.org/drawingml/2006/table">
            <a:tbl>
              <a:tblPr/>
              <a:tblGrid>
                <a:gridCol w="1204773">
                  <a:extLst>
                    <a:ext uri="{9D8B030D-6E8A-4147-A177-3AD203B41FA5}">
                      <a16:colId xmlns:a16="http://schemas.microsoft.com/office/drawing/2014/main" val="20000"/>
                    </a:ext>
                  </a:extLst>
                </a:gridCol>
                <a:gridCol w="1478585">
                  <a:extLst>
                    <a:ext uri="{9D8B030D-6E8A-4147-A177-3AD203B41FA5}">
                      <a16:colId xmlns:a16="http://schemas.microsoft.com/office/drawing/2014/main" val="20001"/>
                    </a:ext>
                  </a:extLst>
                </a:gridCol>
                <a:gridCol w="1697634">
                  <a:extLst>
                    <a:ext uri="{9D8B030D-6E8A-4147-A177-3AD203B41FA5}">
                      <a16:colId xmlns:a16="http://schemas.microsoft.com/office/drawing/2014/main" val="20002"/>
                    </a:ext>
                  </a:extLst>
                </a:gridCol>
                <a:gridCol w="1095248">
                  <a:extLst>
                    <a:ext uri="{9D8B030D-6E8A-4147-A177-3AD203B41FA5}">
                      <a16:colId xmlns:a16="http://schemas.microsoft.com/office/drawing/2014/main" val="20003"/>
                    </a:ext>
                  </a:extLst>
                </a:gridCol>
              </a:tblGrid>
              <a:tr h="543560">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restaurant_id</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restaurant_name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revenue</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80"/>
                        </a:lnSpc>
                        <a:buNone/>
                      </a:pPr>
                      <a:r>
                        <a:rPr lang="en-US" sz="1200" b="1" dirty="0">
                          <a:solidFill>
                            <a:srgbClr val="F0B04A"/>
                          </a:solidFill>
                          <a:latin typeface="DM Sans" pitchFamily="34" charset="0"/>
                          <a:ea typeface="DM Sans" pitchFamily="34" charset="-122"/>
                          <a:cs typeface="DM Sans" pitchFamily="34" charset="-120"/>
                        </a:rPr>
                        <a:t>avg_rating</a:t>
                      </a:r>
                      <a:endParaRPr lang="en-US" sz="1200" dirty="0">
                        <a:latin typeface="DM Sans" charset="0"/>
                        <a:ea typeface="DM Sans" charset="0"/>
                        <a:cs typeface="DM Sans" charset="0"/>
                      </a:endParaRPr>
                    </a:p>
                  </a:txBody>
                  <a:tcPr marL="53340" marR="53340" marT="53340" marB="533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0" cap="flat" cmpd="sng" algn="ctr">
                      <a:noFill/>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26.00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Haldiram's</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228833.899934769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47.00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Starbucks</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212167.410167908</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65.00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Burger King</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223368.01076889</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89.00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Starbucks</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233790.080192566</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30200">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111.00</a:t>
                      </a:r>
                      <a:endParaRPr lang="en-US" sz="1200" dirty="0">
                        <a:latin typeface="DM Sans" charset="0"/>
                        <a:ea typeface="DM Sans" charset="0"/>
                        <a:cs typeface="DM Sans" charset="0"/>
                      </a:endParaRPr>
                    </a:p>
                  </a:txBody>
                  <a:tcPr marL="53340" marR="53340" marT="53340" marB="53340">
                    <a:lnL w="0" cap="flat" cmpd="sng" algn="ctr">
                      <a:noFill/>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Biryani By Kilo</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245838.890274048</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80"/>
                        </a:lnSpc>
                        <a:buNone/>
                      </a:pPr>
                      <a:r>
                        <a:rPr lang="en-US" sz="1200" dirty="0">
                          <a:solidFill>
                            <a:srgbClr val="FAF6F1"/>
                          </a:solidFill>
                          <a:latin typeface="DM Sans" pitchFamily="34" charset="0"/>
                          <a:ea typeface="DM Sans" pitchFamily="34" charset="-122"/>
                          <a:cs typeface="DM Sans" pitchFamily="34" charset="-120"/>
                        </a:rPr>
                        <a:t>3.5</a:t>
                      </a:r>
                      <a:endParaRPr lang="en-US" sz="1200" dirty="0">
                        <a:latin typeface="DM Sans" charset="0"/>
                        <a:ea typeface="DM Sans" charset="0"/>
                        <a:cs typeface="DM Sans" charset="0"/>
                      </a:endParaRPr>
                    </a:p>
                  </a:txBody>
                  <a:tcPr marL="53340" marR="53340" marT="53340" marB="533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bl>
          </a:graphicData>
        </a:graphic>
      </p:graphicFrame>
      <p:sp>
        <p:nvSpPr>
          <p:cNvPr id="14" name="Text 10"/>
          <p:cNvSpPr/>
          <p:nvPr/>
        </p:nvSpPr>
        <p:spPr>
          <a:xfrm>
            <a:off x="812800" y="4803775"/>
            <a:ext cx="10566400" cy="838200"/>
          </a:xfrm>
          <a:prstGeom prst="roundRect">
            <a:avLst>
              <a:gd name="adj" fmla="val 9091"/>
            </a:avLst>
          </a:prstGeom>
          <a:solidFill>
            <a:srgbClr val="2B2727"/>
          </a:solidFill>
          <a:ln/>
        </p:spPr>
        <p:txBody>
          <a:bodyPr wrap="square" lIns="216442" tIns="130082" rIns="0" bIns="104682" rtlCol="0" anchor="t">
            <a:normAutofit/>
          </a:bodyPr>
          <a:lstStyle/>
          <a:p>
            <a:pPr marL="0" indent="0" algn="l">
              <a:lnSpc>
                <a:spcPts val="2100"/>
              </a:lnSpc>
              <a:buNone/>
            </a:pPr>
            <a:r>
              <a:rPr lang="en-US" sz="1500" dirty="0">
                <a:solidFill>
                  <a:srgbClr val="FAF6F1"/>
                </a:solidFill>
                <a:latin typeface="DM Sans" pitchFamily="34" charset="0"/>
                <a:ea typeface="DM Sans" pitchFamily="34" charset="-122"/>
                <a:cs typeface="DM Sans" pitchFamily="34" charset="-120"/>
              </a:rPr>
              <a:t>Five restaurants tie for the lowest rating of </a:t>
            </a:r>
            <a:r>
              <a:rPr lang="en-US" sz="1500" b="1" dirty="0">
                <a:solidFill>
                  <a:srgbClr val="FAF6F1"/>
                </a:solidFill>
                <a:latin typeface="DM Sans" pitchFamily="34" charset="0"/>
                <a:ea typeface="DM Sans" pitchFamily="34" charset="-122"/>
                <a:cs typeface="DM Sans" pitchFamily="34" charset="-120"/>
              </a:rPr>
              <a:t>3.5</a:t>
            </a:r>
            <a:r>
              <a:rPr lang="en-US" sz="1500" dirty="0">
                <a:solidFill>
                  <a:srgbClr val="FAF6F1"/>
                </a:solidFill>
                <a:latin typeface="DM Sans" pitchFamily="34" charset="0"/>
                <a:ea typeface="DM Sans" pitchFamily="34" charset="-122"/>
                <a:cs typeface="DM Sans" pitchFamily="34" charset="-120"/>
              </a:rPr>
              <a:t>. The revenue query has no Delivered filter, so its figures count every order status.</a:t>
            </a:r>
            <a:endParaRPr lang="en-US" sz="1500" dirty="0"/>
          </a:p>
        </p:txBody>
      </p:sp>
      <p:sp>
        <p:nvSpPr>
          <p:cNvPr id="15" name="Shape 11"/>
          <p:cNvSpPr/>
          <p:nvPr/>
        </p:nvSpPr>
        <p:spPr>
          <a:xfrm>
            <a:off x="812800" y="4803775"/>
            <a:ext cx="10566400" cy="838200"/>
          </a:xfrm>
          <a:custGeom>
            <a:avLst/>
            <a:gdLst/>
            <a:ahLst/>
            <a:cxnLst/>
            <a:rect l="l" t="t" r="r" b="b"/>
            <a:pathLst>
              <a:path w="10566400" h="838200">
                <a:moveTo>
                  <a:pt x="76200" y="838200"/>
                </a:moveTo>
                <a:lnTo>
                  <a:pt x="76200" y="838200"/>
                </a:lnTo>
                <a:arcTo wR="76200" hR="76200" stAng="5400000" swAng="5400000"/>
                <a:lnTo>
                  <a:pt x="0" y="76200"/>
                </a:lnTo>
                <a:arcTo wR="76200" hR="76200" stAng="10800000" swAng="5400000"/>
                <a:lnTo>
                  <a:pt x="76200" y="0"/>
                </a:lnTo>
                <a:arcTo wR="38100" hR="76200" stAng="16200000" swAng="-5400000"/>
                <a:lnTo>
                  <a:pt x="38100" y="762000"/>
                </a:lnTo>
                <a:arcTo wR="38100" hR="76200" stAng="10800000" swAng="-5400000"/>
                <a:close/>
              </a:path>
            </a:pathLst>
          </a:custGeom>
          <a:solidFill>
            <a:srgbClr val="F0B04A"/>
          </a:solidFill>
          <a:ln/>
        </p:spPr>
        <p:txBody>
          <a:bodyPr/>
          <a:lstStyle/>
          <a:p>
            <a:endParaRPr lang="en-IN"/>
          </a:p>
        </p:txBody>
      </p:sp>
      <p:sp>
        <p:nvSpPr>
          <p:cNvPr id="16" name="Text 12"/>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2256"/>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COUPON ANALYSIS · QUESTION 1 OF 4</a:t>
            </a:r>
            <a:endParaRPr lang="en-US" sz="1400" dirty="0"/>
          </a:p>
        </p:txBody>
      </p:sp>
      <p:sp>
        <p:nvSpPr>
          <p:cNvPr id="3" name="Text 1"/>
          <p:cNvSpPr>
            <a:spLocks noGrp="1"/>
          </p:cNvSpPr>
          <p:nvPr>
            <p:ph type="title"/>
          </p:nvPr>
        </p:nvSpPr>
        <p:spPr>
          <a:xfrm>
            <a:off x="812800" y="1135856"/>
            <a:ext cx="10883392" cy="358616"/>
          </a:xfrm>
          <a:prstGeom prst="rect">
            <a:avLst/>
          </a:prstGeom>
          <a:noFill/>
          <a:ln/>
        </p:spPr>
        <p:txBody>
          <a:bodyPr wrap="square" lIns="0" tIns="0" rIns="0" bIns="0" rtlCol="0" anchor="t">
            <a:normAutofit/>
          </a:bodyPr>
          <a:lstStyle/>
          <a:p>
            <a:pPr marL="0" indent="0" algn="l">
              <a:lnSpc>
                <a:spcPts val="2620"/>
              </a:lnSpc>
              <a:buNone/>
            </a:pPr>
            <a:r>
              <a:rPr lang="en-US" sz="2278" b="1" i="0" dirty="0">
                <a:solidFill>
                  <a:srgbClr val="FAF6F1"/>
                </a:solidFill>
                <a:latin typeface="DM Sans" pitchFamily="34" charset="0"/>
                <a:ea typeface="DM Sans" pitchFamily="34" charset="-122"/>
                <a:cs typeface="DM Sans" pitchFamily="34" charset="-120"/>
              </a:rPr>
              <a:t>What percentage of orders use coupons?</a:t>
            </a:r>
            <a:endParaRPr lang="en-US" sz="2278" dirty="0"/>
          </a:p>
        </p:txBody>
      </p:sp>
      <p:sp>
        <p:nvSpPr>
          <p:cNvPr id="4" name="Shape 2"/>
          <p:cNvSpPr/>
          <p:nvPr/>
        </p:nvSpPr>
        <p:spPr>
          <a:xfrm>
            <a:off x="815975" y="1650045"/>
            <a:ext cx="10560050" cy="2631996"/>
          </a:xfrm>
          <a:prstGeom prst="roundRect">
            <a:avLst>
              <a:gd name="adj" fmla="val 3747"/>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29755"/>
            <a:ext cx="10506659" cy="23717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SQL QUERY</a:t>
            </a:r>
            <a:endParaRPr lang="en-US" sz="1196" dirty="0"/>
          </a:p>
        </p:txBody>
      </p:sp>
      <p:sp>
        <p:nvSpPr>
          <p:cNvPr id="6" name="Text 4"/>
          <p:cNvSpPr/>
          <p:nvPr/>
        </p:nvSpPr>
        <p:spPr>
          <a:xfrm>
            <a:off x="995680" y="2130425"/>
            <a:ext cx="10506659" cy="2256563"/>
          </a:xfrm>
          <a:prstGeom prst="rect">
            <a:avLst/>
          </a:prstGeom>
          <a:noFill/>
          <a:ln/>
        </p:spPr>
        <p:txBody>
          <a:bodyPr wrap="square" lIns="0" tIns="0" rIns="0" bIns="0" rtlCol="0" anchor="t">
            <a:normAutofit/>
          </a:bodyPr>
          <a:lstStyle/>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SELECT</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COUNT(*) AS total_delivered_orders,</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SUM(CASE WHEN discount_amount &gt; 0 THEN 1 ELSE 0 END) AS coupon_orders,</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ROUND(</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100.0 * SUM(CASE WHEN discount_amount &gt; 0 THEN 1 ELSE 0 END)</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 COUNT(*),</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2</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  ) AS coupon_usage_percentage</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FROM orders</a:t>
            </a:r>
            <a:endParaRPr lang="en-US" sz="1193" dirty="0"/>
          </a:p>
          <a:p>
            <a:pPr marL="0" indent="0" algn="l">
              <a:lnSpc>
                <a:spcPts val="1550"/>
              </a:lnSpc>
              <a:buNone/>
            </a:pPr>
            <a:r>
              <a:rPr lang="en-US" sz="1193" dirty="0">
                <a:solidFill>
                  <a:srgbClr val="E8DFD6"/>
                </a:solidFill>
                <a:latin typeface="Courier New" pitchFamily="49" charset="0"/>
                <a:ea typeface="Courier New" pitchFamily="49" charset="-122"/>
                <a:cs typeface="Courier New" pitchFamily="49" charset="-120"/>
              </a:rPr>
              <a:t>WHERE order_status = 'Delivered';</a:t>
            </a:r>
            <a:endParaRPr lang="en-US" sz="1193" dirty="0"/>
          </a:p>
        </p:txBody>
      </p:sp>
      <p:sp>
        <p:nvSpPr>
          <p:cNvPr id="7" name="Shape 5"/>
          <p:cNvSpPr/>
          <p:nvPr/>
        </p:nvSpPr>
        <p:spPr>
          <a:xfrm>
            <a:off x="815975" y="4460639"/>
            <a:ext cx="10560050" cy="1378188"/>
          </a:xfrm>
          <a:prstGeom prst="roundRect">
            <a:avLst>
              <a:gd name="adj" fmla="val 7142"/>
            </a:avLst>
          </a:prstGeom>
          <a:solidFill>
            <a:srgbClr val="2B2727"/>
          </a:solidFill>
          <a:ln w="6350">
            <a:solidFill>
              <a:srgbClr val="4A4343"/>
            </a:solidFill>
            <a:prstDash val="solid"/>
          </a:ln>
        </p:spPr>
        <p:txBody>
          <a:bodyPr/>
          <a:lstStyle/>
          <a:p>
            <a:endParaRPr lang="en-IN"/>
          </a:p>
        </p:txBody>
      </p:sp>
      <p:sp>
        <p:nvSpPr>
          <p:cNvPr id="8" name="Text 6"/>
          <p:cNvSpPr/>
          <p:nvPr/>
        </p:nvSpPr>
        <p:spPr>
          <a:xfrm>
            <a:off x="995680" y="4640349"/>
            <a:ext cx="10506659" cy="237093"/>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OUTPUT</a:t>
            </a:r>
            <a:endParaRPr lang="en-US" sz="1196"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4951093"/>
          <a:ext cx="8244840" cy="709136"/>
        </p:xfrm>
        <a:graphic>
          <a:graphicData uri="http://schemas.openxmlformats.org/drawingml/2006/table">
            <a:tbl>
              <a:tblPr/>
              <a:tblGrid>
                <a:gridCol w="2968142">
                  <a:extLst>
                    <a:ext uri="{9D8B030D-6E8A-4147-A177-3AD203B41FA5}">
                      <a16:colId xmlns:a16="http://schemas.microsoft.com/office/drawing/2014/main" val="20000"/>
                    </a:ext>
                  </a:extLst>
                </a:gridCol>
                <a:gridCol w="1813865">
                  <a:extLst>
                    <a:ext uri="{9D8B030D-6E8A-4147-A177-3AD203B41FA5}">
                      <a16:colId xmlns:a16="http://schemas.microsoft.com/office/drawing/2014/main" val="20001"/>
                    </a:ext>
                  </a:extLst>
                </a:gridCol>
                <a:gridCol w="3462833">
                  <a:extLst>
                    <a:ext uri="{9D8B030D-6E8A-4147-A177-3AD203B41FA5}">
                      <a16:colId xmlns:a16="http://schemas.microsoft.com/office/drawing/2014/main" val="20002"/>
                    </a:ext>
                  </a:extLst>
                </a:gridCol>
              </a:tblGrid>
              <a:tr h="354568">
                <a:tc>
                  <a:txBody>
                    <a:bodyPr/>
                    <a:lstStyle/>
                    <a:p>
                      <a:pPr marL="0" indent="0">
                        <a:lnSpc>
                          <a:spcPts val="1809"/>
                        </a:lnSpc>
                        <a:buNone/>
                      </a:pPr>
                      <a:r>
                        <a:rPr lang="en-US" sz="1292" b="1" dirty="0">
                          <a:solidFill>
                            <a:srgbClr val="F0B04A"/>
                          </a:solidFill>
                          <a:latin typeface="DM Sans" pitchFamily="34" charset="0"/>
                          <a:ea typeface="DM Sans" pitchFamily="34" charset="-122"/>
                          <a:cs typeface="DM Sans" pitchFamily="34" charset="-120"/>
                        </a:rPr>
                        <a:t>total_delivered_orders</a:t>
                      </a:r>
                      <a:endParaRPr lang="en-US" sz="1292" dirty="0">
                        <a:latin typeface="DM Sans" charset="0"/>
                        <a:ea typeface="DM Sans" charset="0"/>
                        <a:cs typeface="DM Sans" charset="0"/>
                      </a:endParaRPr>
                    </a:p>
                  </a:txBody>
                  <a:tcPr marL="57424" marR="57424" marT="57424" marB="57424">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09"/>
                        </a:lnSpc>
                        <a:buNone/>
                      </a:pPr>
                      <a:r>
                        <a:rPr lang="en-US" sz="1292" b="1" dirty="0">
                          <a:solidFill>
                            <a:srgbClr val="F0B04A"/>
                          </a:solidFill>
                          <a:latin typeface="DM Sans" pitchFamily="34" charset="0"/>
                          <a:ea typeface="DM Sans" pitchFamily="34" charset="-122"/>
                          <a:cs typeface="DM Sans" pitchFamily="34" charset="-120"/>
                        </a:rPr>
                        <a:t>coupon_orders</a:t>
                      </a:r>
                      <a:endParaRPr lang="en-US" sz="1292" dirty="0">
                        <a:latin typeface="DM Sans" charset="0"/>
                        <a:ea typeface="DM Sans" charset="0"/>
                        <a:cs typeface="DM Sans" charset="0"/>
                      </a:endParaRPr>
                    </a:p>
                  </a:txBody>
                  <a:tcPr marL="57424" marR="57424" marT="57424" marB="57424">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09"/>
                        </a:lnSpc>
                        <a:buNone/>
                      </a:pPr>
                      <a:r>
                        <a:rPr lang="en-US" sz="1292" b="1" dirty="0">
                          <a:solidFill>
                            <a:srgbClr val="F0B04A"/>
                          </a:solidFill>
                          <a:latin typeface="DM Sans" pitchFamily="34" charset="0"/>
                          <a:ea typeface="DM Sans" pitchFamily="34" charset="-122"/>
                          <a:cs typeface="DM Sans" pitchFamily="34" charset="-120"/>
                        </a:rPr>
                        <a:t>coupon_usage_percentage</a:t>
                      </a:r>
                      <a:endParaRPr lang="en-US" sz="1292" dirty="0">
                        <a:latin typeface="DM Sans" charset="0"/>
                        <a:ea typeface="DM Sans" charset="0"/>
                        <a:cs typeface="DM Sans" charset="0"/>
                      </a:endParaRPr>
                    </a:p>
                  </a:txBody>
                  <a:tcPr marL="57424" marR="57424" marT="57424" marB="57424">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4568">
                <a:tc>
                  <a:txBody>
                    <a:bodyPr/>
                    <a:lstStyle/>
                    <a:p>
                      <a:pPr marL="0" indent="0">
                        <a:lnSpc>
                          <a:spcPts val="1809"/>
                        </a:lnSpc>
                        <a:buNone/>
                      </a:pPr>
                      <a:r>
                        <a:rPr lang="en-US" sz="1292" dirty="0">
                          <a:solidFill>
                            <a:srgbClr val="FAF6F1"/>
                          </a:solidFill>
                          <a:latin typeface="DM Sans" pitchFamily="34" charset="0"/>
                          <a:ea typeface="DM Sans" pitchFamily="34" charset="-122"/>
                          <a:cs typeface="DM Sans" pitchFamily="34" charset="-120"/>
                        </a:rPr>
                        <a:t>29837</a:t>
                      </a:r>
                      <a:endParaRPr lang="en-US" sz="1292" dirty="0">
                        <a:latin typeface="DM Sans" charset="0"/>
                        <a:ea typeface="DM Sans" charset="0"/>
                        <a:cs typeface="DM Sans" charset="0"/>
                      </a:endParaRPr>
                    </a:p>
                  </a:txBody>
                  <a:tcPr marL="57424" marR="57424" marT="57424" marB="57424">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09"/>
                        </a:lnSpc>
                        <a:buNone/>
                      </a:pPr>
                      <a:r>
                        <a:rPr lang="en-US" sz="1292" dirty="0">
                          <a:solidFill>
                            <a:srgbClr val="FAF6F1"/>
                          </a:solidFill>
                          <a:latin typeface="DM Sans" pitchFamily="34" charset="0"/>
                          <a:ea typeface="DM Sans" pitchFamily="34" charset="-122"/>
                          <a:cs typeface="DM Sans" pitchFamily="34" charset="-120"/>
                        </a:rPr>
                        <a:t>12030</a:t>
                      </a:r>
                      <a:endParaRPr lang="en-US" sz="1292" dirty="0">
                        <a:latin typeface="DM Sans" charset="0"/>
                        <a:ea typeface="DM Sans" charset="0"/>
                        <a:cs typeface="DM Sans" charset="0"/>
                      </a:endParaRPr>
                    </a:p>
                  </a:txBody>
                  <a:tcPr marL="57424" marR="57424" marT="57424" marB="57424">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09"/>
                        </a:lnSpc>
                        <a:buNone/>
                      </a:pPr>
                      <a:r>
                        <a:rPr lang="en-US" sz="1292" dirty="0">
                          <a:solidFill>
                            <a:srgbClr val="FAF6F1"/>
                          </a:solidFill>
                          <a:latin typeface="DM Sans" pitchFamily="34" charset="0"/>
                          <a:ea typeface="DM Sans" pitchFamily="34" charset="-122"/>
                          <a:cs typeface="DM Sans" pitchFamily="34" charset="-120"/>
                        </a:rPr>
                        <a:t>40.320000000000</a:t>
                      </a:r>
                      <a:endParaRPr lang="en-US" sz="1292" dirty="0">
                        <a:latin typeface="DM Sans" charset="0"/>
                        <a:ea typeface="DM Sans" charset="0"/>
                        <a:cs typeface="DM Sans" charset="0"/>
                      </a:endParaRPr>
                    </a:p>
                  </a:txBody>
                  <a:tcPr marL="57424" marR="57424" marT="57424" marB="57424">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1541"/>
          </a:xfrm>
          <a:prstGeom prst="rect">
            <a:avLst/>
          </a:prstGeom>
          <a:noFill/>
          <a:ln/>
        </p:spPr>
        <p:txBody>
          <a:bodyPr wrap="square" lIns="0" tIns="0" rIns="0" bIns="0" rtlCol="0" anchor="t">
            <a:normAutofit/>
          </a:bodyPr>
          <a:lstStyle/>
          <a:p>
            <a:pPr marL="0" indent="0" algn="l">
              <a:lnSpc>
                <a:spcPts val="1874"/>
              </a:lnSpc>
              <a:buNone/>
            </a:pPr>
            <a:r>
              <a:rPr lang="en-US" sz="1339" b="1" kern="0" spc="200" dirty="0">
                <a:solidFill>
                  <a:srgbClr val="F0B04A"/>
                </a:solidFill>
                <a:latin typeface="DM Sans" pitchFamily="34" charset="0"/>
                <a:ea typeface="DM Sans" pitchFamily="34" charset="-122"/>
                <a:cs typeface="DM Sans" pitchFamily="34" charset="-120"/>
              </a:rPr>
              <a:t>COUPON ANALYSIS · QUESTION 2 OF 4</a:t>
            </a:r>
            <a:endParaRPr lang="en-US" sz="1339" dirty="0"/>
          </a:p>
        </p:txBody>
      </p:sp>
      <p:sp>
        <p:nvSpPr>
          <p:cNvPr id="3" name="Text 1"/>
          <p:cNvSpPr>
            <a:spLocks noGrp="1"/>
          </p:cNvSpPr>
          <p:nvPr>
            <p:ph type="title"/>
          </p:nvPr>
        </p:nvSpPr>
        <p:spPr>
          <a:xfrm>
            <a:off x="812800" y="1125141"/>
            <a:ext cx="10883392" cy="344091"/>
          </a:xfrm>
          <a:prstGeom prst="rect">
            <a:avLst/>
          </a:prstGeom>
          <a:noFill/>
          <a:ln/>
        </p:spPr>
        <p:txBody>
          <a:bodyPr wrap="square" lIns="0" tIns="0" rIns="0" bIns="0" rtlCol="0" anchor="t">
            <a:normAutofit/>
          </a:bodyPr>
          <a:lstStyle/>
          <a:p>
            <a:pPr marL="0" indent="0" algn="l">
              <a:lnSpc>
                <a:spcPts val="2521"/>
              </a:lnSpc>
              <a:buNone/>
            </a:pPr>
            <a:r>
              <a:rPr lang="en-US" sz="2192" b="1" i="0" dirty="0">
                <a:solidFill>
                  <a:srgbClr val="FAF6F1"/>
                </a:solidFill>
                <a:latin typeface="DM Sans" pitchFamily="34" charset="0"/>
                <a:ea typeface="DM Sans" pitchFamily="34" charset="-122"/>
                <a:cs typeface="DM Sans" pitchFamily="34" charset="-120"/>
              </a:rPr>
              <a:t>Do coupon users spend more than non-coupon users?</a:t>
            </a:r>
            <a:endParaRPr lang="en-US" sz="2192" dirty="0"/>
          </a:p>
        </p:txBody>
      </p:sp>
      <p:sp>
        <p:nvSpPr>
          <p:cNvPr id="4" name="Shape 2"/>
          <p:cNvSpPr/>
          <p:nvPr/>
        </p:nvSpPr>
        <p:spPr>
          <a:xfrm>
            <a:off x="815975" y="1624806"/>
            <a:ext cx="10560050" cy="2350135"/>
          </a:xfrm>
          <a:prstGeom prst="roundRect">
            <a:avLst>
              <a:gd name="adj" fmla="val 4188"/>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04516"/>
            <a:ext cx="10506659" cy="228679"/>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F0B04A"/>
                </a:solidFill>
                <a:latin typeface="DM Sans" pitchFamily="34" charset="0"/>
                <a:ea typeface="DM Sans" pitchFamily="34" charset="-122"/>
                <a:cs typeface="DM Sans" pitchFamily="34" charset="-120"/>
              </a:rPr>
              <a:t>SQL QUERY</a:t>
            </a:r>
            <a:endParaRPr lang="en-US" sz="1159" dirty="0"/>
          </a:p>
        </p:txBody>
      </p:sp>
      <p:sp>
        <p:nvSpPr>
          <p:cNvPr id="6" name="Text 4"/>
          <p:cNvSpPr/>
          <p:nvPr/>
        </p:nvSpPr>
        <p:spPr>
          <a:xfrm>
            <a:off x="995680" y="2096691"/>
            <a:ext cx="5122520" cy="1988736"/>
          </a:xfrm>
          <a:prstGeom prst="rect">
            <a:avLst/>
          </a:prstGeom>
          <a:noFill/>
          <a:ln/>
        </p:spPr>
        <p:txBody>
          <a:bodyPr wrap="square" lIns="0" tIns="0" rIns="0" bIns="0" rtlCol="0" anchor="t">
            <a:normAutofit/>
          </a:bodyPr>
          <a:lstStyle/>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SELECT</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CASE</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WHEN discount_amount &gt; 0 THEN 'Coupon User'</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ELSE 'Non-Coupon User'</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END AS customer_type,</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COUNT(*) AS orders,</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ROUND(AVG(order_amount), 2) AS avg_order_value,</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ROUND(AVG(order_amount - discount_amount</a:t>
            </a:r>
            <a:endParaRPr lang="en-US" sz="1140" dirty="0"/>
          </a:p>
          <a:p>
            <a:pPr marL="0" indent="0" algn="l">
              <a:lnSpc>
                <a:spcPts val="1482"/>
              </a:lnSpc>
              <a:buNone/>
            </a:pPr>
            <a:r>
              <a:rPr lang="en-US" sz="1140" dirty="0">
                <a:solidFill>
                  <a:srgbClr val="E8DFD6"/>
                </a:solidFill>
                <a:latin typeface="Courier New" pitchFamily="49" charset="0"/>
                <a:ea typeface="Courier New" pitchFamily="49" charset="-122"/>
                <a:cs typeface="Courier New" pitchFamily="49" charset="-120"/>
              </a:rPr>
              <a:t>    + delivery_fee), 2) AS avg_realized_revenue</a:t>
            </a:r>
            <a:endParaRPr lang="en-US" sz="1140" dirty="0"/>
          </a:p>
        </p:txBody>
      </p:sp>
      <p:sp>
        <p:nvSpPr>
          <p:cNvPr id="7" name="Text 5"/>
          <p:cNvSpPr/>
          <p:nvPr/>
        </p:nvSpPr>
        <p:spPr>
          <a:xfrm>
            <a:off x="6223000" y="2096690"/>
            <a:ext cx="4973320" cy="178484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CASE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WHEN discount_amount &gt; 0 THEN 'Coupon User'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ELSE 'Non-Coupon User'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END;</a:t>
            </a:r>
            <a:endParaRPr lang="en-US" sz="1200" dirty="0"/>
          </a:p>
        </p:txBody>
      </p:sp>
      <p:sp>
        <p:nvSpPr>
          <p:cNvPr id="8" name="Shape 6"/>
          <p:cNvSpPr/>
          <p:nvPr/>
        </p:nvSpPr>
        <p:spPr>
          <a:xfrm>
            <a:off x="815975" y="4159089"/>
            <a:ext cx="10560050" cy="1679734"/>
          </a:xfrm>
          <a:prstGeom prst="roundRect">
            <a:avLst>
              <a:gd name="adj" fmla="val 5860"/>
            </a:avLst>
          </a:prstGeom>
          <a:solidFill>
            <a:srgbClr val="2B2727"/>
          </a:solidFill>
          <a:ln w="6350">
            <a:solidFill>
              <a:srgbClr val="4A4343"/>
            </a:solidFill>
            <a:prstDash val="solid"/>
          </a:ln>
        </p:spPr>
        <p:txBody>
          <a:bodyPr/>
          <a:lstStyle/>
          <a:p>
            <a:endParaRPr lang="en-IN"/>
          </a:p>
        </p:txBody>
      </p:sp>
      <p:sp>
        <p:nvSpPr>
          <p:cNvPr id="9" name="Text 7"/>
          <p:cNvSpPr/>
          <p:nvPr/>
        </p:nvSpPr>
        <p:spPr>
          <a:xfrm>
            <a:off x="995680" y="4338799"/>
            <a:ext cx="10506659" cy="228362"/>
          </a:xfrm>
          <a:prstGeom prst="rect">
            <a:avLst/>
          </a:prstGeom>
          <a:noFill/>
          <a:ln/>
        </p:spPr>
        <p:txBody>
          <a:bodyPr wrap="square" lIns="0" tIns="0" rIns="0" bIns="0" rtlCol="0" anchor="t">
            <a:normAutofit/>
          </a:bodyPr>
          <a:lstStyle/>
          <a:p>
            <a:pPr marL="0" indent="0" algn="l">
              <a:lnSpc>
                <a:spcPts val="1622"/>
              </a:lnSpc>
              <a:buNone/>
            </a:pPr>
            <a:r>
              <a:rPr lang="en-US" sz="1159" b="1" kern="0" spc="100" dirty="0">
                <a:solidFill>
                  <a:srgbClr val="F0B04A"/>
                </a:solidFill>
                <a:latin typeface="DM Sans" pitchFamily="34" charset="0"/>
                <a:ea typeface="DM Sans" pitchFamily="34" charset="-122"/>
                <a:cs typeface="DM Sans" pitchFamily="34" charset="-120"/>
              </a:rPr>
              <a:t>OUTPUT</a:t>
            </a:r>
            <a:endParaRPr lang="en-US" sz="1159"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1005840" y="4640823"/>
          <a:ext cx="8244841" cy="1021080"/>
        </p:xfrm>
        <a:graphic>
          <a:graphicData uri="http://schemas.openxmlformats.org/drawingml/2006/table">
            <a:tbl>
              <a:tblPr/>
              <a:tblGrid>
                <a:gridCol w="2308555">
                  <a:extLst>
                    <a:ext uri="{9D8B030D-6E8A-4147-A177-3AD203B41FA5}">
                      <a16:colId xmlns:a16="http://schemas.microsoft.com/office/drawing/2014/main" val="20000"/>
                    </a:ext>
                  </a:extLst>
                </a:gridCol>
                <a:gridCol w="1154278">
                  <a:extLst>
                    <a:ext uri="{9D8B030D-6E8A-4147-A177-3AD203B41FA5}">
                      <a16:colId xmlns:a16="http://schemas.microsoft.com/office/drawing/2014/main" val="20001"/>
                    </a:ext>
                  </a:extLst>
                </a:gridCol>
                <a:gridCol w="1978762">
                  <a:extLst>
                    <a:ext uri="{9D8B030D-6E8A-4147-A177-3AD203B41FA5}">
                      <a16:colId xmlns:a16="http://schemas.microsoft.com/office/drawing/2014/main" val="20002"/>
                    </a:ext>
                  </a:extLst>
                </a:gridCol>
                <a:gridCol w="2803246">
                  <a:extLst>
                    <a:ext uri="{9D8B030D-6E8A-4147-A177-3AD203B41FA5}">
                      <a16:colId xmlns:a16="http://schemas.microsoft.com/office/drawing/2014/main" val="20003"/>
                    </a:ext>
                  </a:extLst>
                </a:gridCol>
              </a:tblGrid>
              <a:tr h="340360">
                <a:tc>
                  <a:txBody>
                    <a:bodyPr/>
                    <a:lstStyle/>
                    <a:p>
                      <a:pPr marL="0" indent="0">
                        <a:lnSpc>
                          <a:spcPts val="1735"/>
                        </a:lnSpc>
                        <a:buNone/>
                      </a:pPr>
                      <a:r>
                        <a:rPr lang="en-US" sz="1239" b="1" dirty="0">
                          <a:solidFill>
                            <a:srgbClr val="F0B04A"/>
                          </a:solidFill>
                          <a:latin typeface="DM Sans" pitchFamily="34" charset="0"/>
                          <a:ea typeface="DM Sans" pitchFamily="34" charset="-122"/>
                          <a:cs typeface="DM Sans" pitchFamily="34" charset="-120"/>
                        </a:rPr>
                        <a:t>customer_type</a:t>
                      </a:r>
                      <a:endParaRPr lang="en-US" sz="1239" dirty="0">
                        <a:latin typeface="DM Sans" charset="0"/>
                        <a:ea typeface="DM Sans" charset="0"/>
                        <a:cs typeface="DM Sans" charset="0"/>
                      </a:endParaRPr>
                    </a:p>
                  </a:txBody>
                  <a:tcPr marL="55076" marR="55076" marT="55076" marB="55076">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735"/>
                        </a:lnSpc>
                        <a:buNone/>
                      </a:pPr>
                      <a:r>
                        <a:rPr lang="en-US" sz="1239" b="1" dirty="0">
                          <a:solidFill>
                            <a:srgbClr val="F0B04A"/>
                          </a:solidFill>
                          <a:latin typeface="DM Sans" pitchFamily="34" charset="0"/>
                          <a:ea typeface="DM Sans" pitchFamily="34" charset="-122"/>
                          <a:cs typeface="DM Sans" pitchFamily="34" charset="-120"/>
                        </a:rPr>
                        <a:t>orders</a:t>
                      </a:r>
                      <a:endParaRPr lang="en-US" sz="1239" dirty="0">
                        <a:latin typeface="DM Sans" charset="0"/>
                        <a:ea typeface="DM Sans" charset="0"/>
                        <a:cs typeface="DM Sans" charset="0"/>
                      </a:endParaRPr>
                    </a:p>
                  </a:txBody>
                  <a:tcPr marL="55076" marR="55076" marT="55076" marB="55076">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735"/>
                        </a:lnSpc>
                        <a:buNone/>
                      </a:pPr>
                      <a:r>
                        <a:rPr lang="en-US" sz="1239" b="1" dirty="0">
                          <a:solidFill>
                            <a:srgbClr val="F0B04A"/>
                          </a:solidFill>
                          <a:latin typeface="DM Sans" pitchFamily="34" charset="0"/>
                          <a:ea typeface="DM Sans" pitchFamily="34" charset="-122"/>
                          <a:cs typeface="DM Sans" pitchFamily="34" charset="-120"/>
                        </a:rPr>
                        <a:t>avg_order_value</a:t>
                      </a:r>
                      <a:endParaRPr lang="en-US" sz="1239" dirty="0">
                        <a:latin typeface="DM Sans" charset="0"/>
                        <a:ea typeface="DM Sans" charset="0"/>
                        <a:cs typeface="DM Sans" charset="0"/>
                      </a:endParaRPr>
                    </a:p>
                  </a:txBody>
                  <a:tcPr marL="55076" marR="55076" marT="55076" marB="55076">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735"/>
                        </a:lnSpc>
                        <a:buNone/>
                      </a:pPr>
                      <a:r>
                        <a:rPr lang="en-US" sz="1239" b="1" dirty="0">
                          <a:solidFill>
                            <a:srgbClr val="F0B04A"/>
                          </a:solidFill>
                          <a:latin typeface="DM Sans" pitchFamily="34" charset="0"/>
                          <a:ea typeface="DM Sans" pitchFamily="34" charset="-122"/>
                          <a:cs typeface="DM Sans" pitchFamily="34" charset="-120"/>
                        </a:rPr>
                        <a:t>avg_realized_revenue</a:t>
                      </a:r>
                      <a:endParaRPr lang="en-US" sz="1239" dirty="0">
                        <a:latin typeface="DM Sans" charset="0"/>
                        <a:ea typeface="DM Sans" charset="0"/>
                        <a:cs typeface="DM Sans" charset="0"/>
                      </a:endParaRPr>
                    </a:p>
                  </a:txBody>
                  <a:tcPr marL="55076" marR="55076" marT="55076" marB="55076">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40360">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Coupon User</a:t>
                      </a:r>
                      <a:endParaRPr lang="en-US" sz="1239" dirty="0">
                        <a:latin typeface="DM Sans" charset="0"/>
                        <a:ea typeface="DM Sans" charset="0"/>
                        <a:cs typeface="DM Sans" charset="0"/>
                      </a:endParaRPr>
                    </a:p>
                  </a:txBody>
                  <a:tcPr marL="55076" marR="55076" marT="55076" marB="55076">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12030</a:t>
                      </a:r>
                      <a:endParaRPr lang="en-US" sz="1239" dirty="0">
                        <a:latin typeface="DM Sans" charset="0"/>
                        <a:ea typeface="DM Sans" charset="0"/>
                        <a:cs typeface="DM Sans" charset="0"/>
                      </a:endParaRPr>
                    </a:p>
                  </a:txBody>
                  <a:tcPr marL="55076" marR="55076" marT="55076" marB="55076">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904.59</a:t>
                      </a:r>
                      <a:endParaRPr lang="en-US" sz="1239" dirty="0">
                        <a:latin typeface="DM Sans" charset="0"/>
                        <a:ea typeface="DM Sans" charset="0"/>
                        <a:cs typeface="DM Sans" charset="0"/>
                      </a:endParaRPr>
                    </a:p>
                  </a:txBody>
                  <a:tcPr marL="55076" marR="55076" marT="55076" marB="55076">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854.14</a:t>
                      </a:r>
                      <a:endParaRPr lang="en-US" sz="1239" dirty="0">
                        <a:latin typeface="DM Sans" charset="0"/>
                        <a:ea typeface="DM Sans" charset="0"/>
                        <a:cs typeface="DM Sans" charset="0"/>
                      </a:endParaRPr>
                    </a:p>
                  </a:txBody>
                  <a:tcPr marL="55076" marR="55076" marT="55076" marB="55076">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r h="340360">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Non-Coupon User</a:t>
                      </a:r>
                      <a:endParaRPr lang="en-US" sz="1239" dirty="0">
                        <a:latin typeface="DM Sans" charset="0"/>
                        <a:ea typeface="DM Sans" charset="0"/>
                        <a:cs typeface="DM Sans" charset="0"/>
                      </a:endParaRPr>
                    </a:p>
                  </a:txBody>
                  <a:tcPr marL="55076" marR="55076" marT="55076" marB="55076">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17807</a:t>
                      </a:r>
                      <a:endParaRPr lang="en-US" sz="1239" dirty="0">
                        <a:latin typeface="DM Sans" charset="0"/>
                        <a:ea typeface="DM Sans" charset="0"/>
                        <a:cs typeface="DM Sans" charset="0"/>
                      </a:endParaRPr>
                    </a:p>
                  </a:txBody>
                  <a:tcPr marL="55076" marR="55076" marT="55076" marB="55076">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897.24</a:t>
                      </a:r>
                      <a:endParaRPr lang="en-US" sz="1239" dirty="0">
                        <a:latin typeface="DM Sans" charset="0"/>
                        <a:ea typeface="DM Sans" charset="0"/>
                        <a:cs typeface="DM Sans" charset="0"/>
                      </a:endParaRPr>
                    </a:p>
                  </a:txBody>
                  <a:tcPr marL="55076" marR="55076" marT="55076" marB="55076">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735"/>
                        </a:lnSpc>
                        <a:buNone/>
                      </a:pPr>
                      <a:r>
                        <a:rPr lang="en-US" sz="1239" dirty="0">
                          <a:solidFill>
                            <a:srgbClr val="FAF6F1"/>
                          </a:solidFill>
                          <a:latin typeface="DM Sans" pitchFamily="34" charset="0"/>
                          <a:ea typeface="DM Sans" pitchFamily="34" charset="-122"/>
                          <a:cs typeface="DM Sans" pitchFamily="34" charset="-120"/>
                        </a:rPr>
                        <a:t>937.3</a:t>
                      </a:r>
                      <a:endParaRPr lang="en-US" sz="1239" dirty="0">
                        <a:latin typeface="DM Sans" charset="0"/>
                        <a:ea typeface="DM Sans" charset="0"/>
                        <a:cs typeface="DM Sans" charset="0"/>
                      </a:endParaRPr>
                    </a:p>
                  </a:txBody>
                  <a:tcPr marL="55076" marR="55076" marT="55076" marB="55076">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2"/>
                  </a:ext>
                </a:extLst>
              </a:tr>
            </a:tbl>
          </a:graphicData>
        </a:graphic>
      </p:graphicFrame>
      <p:sp>
        <p:nvSpPr>
          <p:cNvPr id="11" name="Text 8"/>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COUPON ANALYSIS · QUESTION 3 OF 4</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city uses the most coupons?</a:t>
            </a:r>
            <a:endParaRPr lang="en-US" sz="2300" dirty="0"/>
          </a:p>
        </p:txBody>
      </p:sp>
      <p:sp>
        <p:nvSpPr>
          <p:cNvPr id="4" name="Shape 2"/>
          <p:cNvSpPr/>
          <p:nvPr/>
        </p:nvSpPr>
        <p:spPr>
          <a:xfrm>
            <a:off x="815975" y="1654807"/>
            <a:ext cx="5200650" cy="2822579"/>
          </a:xfrm>
          <a:prstGeom prst="roundRect">
            <a:avLst>
              <a:gd name="adj" fmla="val 3724"/>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17"/>
            <a:ext cx="498647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4602687" cy="2340612"/>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c.City,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SUM(CASE WHEN o.discount_amount &gt; 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THEN 1 ELSE 0 END) AS coupon_orders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o.customer_id = c.Customer_id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c.City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coupon_orders DESC;</a:t>
            </a:r>
            <a:endParaRPr lang="en-US" sz="1200" dirty="0"/>
          </a:p>
        </p:txBody>
      </p:sp>
      <p:sp>
        <p:nvSpPr>
          <p:cNvPr id="7" name="Shape 5"/>
          <p:cNvSpPr/>
          <p:nvPr/>
        </p:nvSpPr>
        <p:spPr>
          <a:xfrm>
            <a:off x="6226175" y="1654808"/>
            <a:ext cx="5149850" cy="3883660"/>
          </a:xfrm>
          <a:prstGeom prst="roundRect">
            <a:avLst>
              <a:gd name="adj" fmla="val 253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6405880" y="1834517"/>
            <a:ext cx="493415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16040" y="2146935"/>
          <a:ext cx="4053840" cy="3211830"/>
        </p:xfrm>
        <a:graphic>
          <a:graphicData uri="http://schemas.openxmlformats.org/drawingml/2006/table">
            <a:tbl>
              <a:tblPr/>
              <a:tblGrid>
                <a:gridCol w="1824228">
                  <a:extLst>
                    <a:ext uri="{9D8B030D-6E8A-4147-A177-3AD203B41FA5}">
                      <a16:colId xmlns:a16="http://schemas.microsoft.com/office/drawing/2014/main" val="20000"/>
                    </a:ext>
                  </a:extLst>
                </a:gridCol>
                <a:gridCol w="2229612">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City</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coupon_orders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Noida</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1600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Pune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1598</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Delhi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1507</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Gurugram</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1483</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Bengaluru</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1482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Hyderabad</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1474</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Chennai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1467</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Mumbai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1418</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sp>
        <p:nvSpPr>
          <p:cNvPr id="10" name="Text 7"/>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162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COUPON ANALYSIS · QUESTION 4 OF 4</a:t>
            </a:r>
            <a:endParaRPr lang="en-US" sz="1400" dirty="0"/>
          </a:p>
        </p:txBody>
      </p:sp>
      <p:sp>
        <p:nvSpPr>
          <p:cNvPr id="3" name="Text 1"/>
          <p:cNvSpPr>
            <a:spLocks noGrp="1"/>
          </p:cNvSpPr>
          <p:nvPr>
            <p:ph type="title"/>
          </p:nvPr>
        </p:nvSpPr>
        <p:spPr>
          <a:xfrm>
            <a:off x="812800" y="1135224"/>
            <a:ext cx="10883392" cy="357584"/>
          </a:xfrm>
          <a:prstGeom prst="rect">
            <a:avLst/>
          </a:prstGeom>
          <a:noFill/>
          <a:ln/>
        </p:spPr>
        <p:txBody>
          <a:bodyPr wrap="square" lIns="0" tIns="0" rIns="0" bIns="0" rtlCol="0" anchor="t">
            <a:normAutofit/>
          </a:bodyPr>
          <a:lstStyle/>
          <a:p>
            <a:pPr marL="0" indent="0" algn="l">
              <a:lnSpc>
                <a:spcPts val="2620"/>
              </a:lnSpc>
              <a:buNone/>
            </a:pPr>
            <a:r>
              <a:rPr lang="en-US" sz="2278" b="1" i="0" dirty="0">
                <a:solidFill>
                  <a:srgbClr val="FAF6F1"/>
                </a:solidFill>
                <a:latin typeface="DM Sans" pitchFamily="34" charset="0"/>
                <a:ea typeface="DM Sans" pitchFamily="34" charset="-122"/>
                <a:cs typeface="DM Sans" pitchFamily="34" charset="-120"/>
              </a:rPr>
              <a:t>Are coupons helping customer retention?</a:t>
            </a:r>
            <a:endParaRPr lang="en-US" sz="2278" dirty="0"/>
          </a:p>
        </p:txBody>
      </p:sp>
      <p:sp>
        <p:nvSpPr>
          <p:cNvPr id="4" name="Shape 2"/>
          <p:cNvSpPr/>
          <p:nvPr/>
        </p:nvSpPr>
        <p:spPr>
          <a:xfrm>
            <a:off x="815975" y="1648383"/>
            <a:ext cx="10560050" cy="4190445"/>
          </a:xfrm>
          <a:prstGeom prst="roundRect">
            <a:avLst>
              <a:gd name="adj" fmla="val 234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28093"/>
            <a:ext cx="10506659" cy="236617"/>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SQL QUERY</a:t>
            </a:r>
            <a:endParaRPr lang="en-US" sz="1196" dirty="0"/>
          </a:p>
        </p:txBody>
      </p:sp>
      <p:sp>
        <p:nvSpPr>
          <p:cNvPr id="6" name="Text 4"/>
          <p:cNvSpPr/>
          <p:nvPr/>
        </p:nvSpPr>
        <p:spPr>
          <a:xfrm>
            <a:off x="995680" y="2128205"/>
            <a:ext cx="5122520" cy="3556317"/>
          </a:xfrm>
          <a:prstGeom prst="rect">
            <a:avLst/>
          </a:prstGeom>
          <a:noFill/>
          <a:ln/>
        </p:spPr>
        <p:txBody>
          <a:bodyPr wrap="square" lIns="0" tIns="0" rIns="0" bIns="0" rtlCol="0" anchor="t">
            <a:normAutofit/>
          </a:bodyPr>
          <a:lstStyle/>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WITH customer_orders AS (</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SELECT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COUNT(order_id) AS total_orders,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SUM(CASE WHEN discount_amount &gt; 0</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THEN 1 ELSE 0 END) AS coupon_orders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FROM orders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WHERE order_status = 'Delivered'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GROUP BY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customer_segments AS (</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SELECT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total_orders,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CASE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WHEN coupon_orders &gt; 0 THEN 'Coupon User'</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ELSE 'Non-Coupon User'</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END AS customer_type,</a:t>
            </a:r>
            <a:endParaRPr lang="en-US" sz="1189" dirty="0"/>
          </a:p>
        </p:txBody>
      </p:sp>
      <p:sp>
        <p:nvSpPr>
          <p:cNvPr id="7" name="Text 5"/>
          <p:cNvSpPr/>
          <p:nvPr/>
        </p:nvSpPr>
        <p:spPr>
          <a:xfrm>
            <a:off x="6096000" y="2128204"/>
            <a:ext cx="5100320" cy="359457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CASE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WHEN total_orders &gt; 1 THEN 1</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ELSE 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END AS is_repeat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customer_orders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customer_type,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 AS 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SUM(is_repeat) AS repeat_customers,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100.0 * SUM(is_repeat) / COUNT(*),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repeat_rate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customer_segments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customer_type;</a:t>
            </a:r>
            <a:endParaRPr lang="en-US" sz="1200" dirty="0"/>
          </a:p>
        </p:txBody>
      </p:sp>
      <p:sp>
        <p:nvSpPr>
          <p:cNvPr id="8" name="Text 6"/>
          <p:cNvSpPr/>
          <p:nvPr/>
        </p:nvSpPr>
        <p:spPr>
          <a:xfrm>
            <a:off x="812800" y="6238242"/>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COUPON ANALYSIS · QUESTION 4 OF 4 · OUTPUT</a:t>
            </a:r>
            <a:endParaRPr lang="en-US" sz="1400" dirty="0"/>
          </a:p>
        </p:txBody>
      </p:sp>
      <p:sp>
        <p:nvSpPr>
          <p:cNvPr id="3" name="Text 1"/>
          <p:cNvSpPr>
            <a:spLocks noGrp="1"/>
          </p:cNvSpPr>
          <p:nvPr>
            <p:ph type="title"/>
          </p:nvPr>
        </p:nvSpPr>
        <p:spPr>
          <a:xfrm>
            <a:off x="812800" y="1137927"/>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Are coupons helping customer retention?</a:t>
            </a:r>
            <a:endParaRPr lang="en-US" sz="2300" dirty="0"/>
          </a:p>
        </p:txBody>
      </p:sp>
      <p:sp>
        <p:nvSpPr>
          <p:cNvPr id="4" name="Shape 2"/>
          <p:cNvSpPr/>
          <p:nvPr/>
        </p:nvSpPr>
        <p:spPr>
          <a:xfrm>
            <a:off x="815975" y="1654808"/>
            <a:ext cx="10560050" cy="1742440"/>
          </a:xfrm>
          <a:prstGeom prst="roundRect">
            <a:avLst>
              <a:gd name="adj" fmla="val 5649"/>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17"/>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8244840" cy="1070610"/>
        </p:xfrm>
        <a:graphic>
          <a:graphicData uri="http://schemas.openxmlformats.org/drawingml/2006/table">
            <a:tbl>
              <a:tblPr/>
              <a:tblGrid>
                <a:gridCol w="2308555">
                  <a:extLst>
                    <a:ext uri="{9D8B030D-6E8A-4147-A177-3AD203B41FA5}">
                      <a16:colId xmlns:a16="http://schemas.microsoft.com/office/drawing/2014/main" val="20000"/>
                    </a:ext>
                  </a:extLst>
                </a:gridCol>
                <a:gridCol w="1484071">
                  <a:extLst>
                    <a:ext uri="{9D8B030D-6E8A-4147-A177-3AD203B41FA5}">
                      <a16:colId xmlns:a16="http://schemas.microsoft.com/office/drawing/2014/main" val="20001"/>
                    </a:ext>
                  </a:extLst>
                </a:gridCol>
                <a:gridCol w="2473452">
                  <a:extLst>
                    <a:ext uri="{9D8B030D-6E8A-4147-A177-3AD203B41FA5}">
                      <a16:colId xmlns:a16="http://schemas.microsoft.com/office/drawing/2014/main" val="20002"/>
                    </a:ext>
                  </a:extLst>
                </a:gridCol>
                <a:gridCol w="1978762">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customer_type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customers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repeat_customers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repeat_rate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Coupon User</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4559</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4530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99.360000000000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Non-Coupon User</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432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385</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89.120000000000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2"/>
                  </a:ext>
                </a:extLst>
              </a:tr>
            </a:tbl>
          </a:graphicData>
        </a:graphic>
      </p:graphicFrame>
      <p:sp>
        <p:nvSpPr>
          <p:cNvPr id="7" name="Text 4"/>
          <p:cNvSpPr/>
          <p:nvPr/>
        </p:nvSpPr>
        <p:spPr>
          <a:xfrm>
            <a:off x="812800" y="3578225"/>
            <a:ext cx="10566400" cy="838200"/>
          </a:xfrm>
          <a:prstGeom prst="roundRect">
            <a:avLst>
              <a:gd name="adj" fmla="val 9091"/>
            </a:avLst>
          </a:prstGeom>
          <a:solidFill>
            <a:srgbClr val="2B2727"/>
          </a:solidFill>
          <a:ln/>
        </p:spPr>
        <p:txBody>
          <a:bodyPr wrap="square" lIns="216442" tIns="130082" rIns="0" bIns="104682" rtlCol="0" anchor="t">
            <a:normAutofit/>
          </a:bodyPr>
          <a:lstStyle/>
          <a:p>
            <a:pPr marL="0" indent="0" algn="l">
              <a:lnSpc>
                <a:spcPts val="2100"/>
              </a:lnSpc>
              <a:buNone/>
            </a:pPr>
            <a:r>
              <a:rPr lang="en-US" sz="1500" dirty="0">
                <a:solidFill>
                  <a:srgbClr val="FAF6F1"/>
                </a:solidFill>
                <a:latin typeface="DM Sans" pitchFamily="34" charset="0"/>
                <a:ea typeface="DM Sans" pitchFamily="34" charset="-122"/>
                <a:cs typeface="DM Sans" pitchFamily="34" charset="-120"/>
              </a:rPr>
              <a:t>Coupon users repeat at </a:t>
            </a:r>
            <a:r>
              <a:rPr lang="en-US" sz="1500" b="1" dirty="0">
                <a:solidFill>
                  <a:srgbClr val="FAF6F1"/>
                </a:solidFill>
                <a:latin typeface="DM Sans" pitchFamily="34" charset="0"/>
                <a:ea typeface="DM Sans" pitchFamily="34" charset="-122"/>
                <a:cs typeface="DM Sans" pitchFamily="34" charset="-120"/>
              </a:rPr>
              <a:t>99.36%</a:t>
            </a:r>
            <a:r>
              <a:rPr lang="en-US" sz="1500" dirty="0">
                <a:solidFill>
                  <a:srgbClr val="FAF6F1"/>
                </a:solidFill>
                <a:latin typeface="DM Sans" pitchFamily="34" charset="0"/>
                <a:ea typeface="DM Sans" pitchFamily="34" charset="-122"/>
                <a:cs typeface="DM Sans" pitchFamily="34" charset="-120"/>
              </a:rPr>
              <a:t> against 89.12% for non-coupon users, but only 432 customers never used a coupon.</a:t>
            </a:r>
            <a:endParaRPr lang="en-US" sz="1500" dirty="0"/>
          </a:p>
        </p:txBody>
      </p:sp>
      <p:sp>
        <p:nvSpPr>
          <p:cNvPr id="8" name="Shape 5"/>
          <p:cNvSpPr/>
          <p:nvPr/>
        </p:nvSpPr>
        <p:spPr>
          <a:xfrm>
            <a:off x="812800" y="3578225"/>
            <a:ext cx="10566400" cy="838200"/>
          </a:xfrm>
          <a:custGeom>
            <a:avLst/>
            <a:gdLst/>
            <a:ahLst/>
            <a:cxnLst/>
            <a:rect l="l" t="t" r="r" b="b"/>
            <a:pathLst>
              <a:path w="10566400" h="838200">
                <a:moveTo>
                  <a:pt x="76200" y="838200"/>
                </a:moveTo>
                <a:lnTo>
                  <a:pt x="76200" y="838200"/>
                </a:lnTo>
                <a:arcTo wR="76200" hR="76200" stAng="5400000" swAng="5400000"/>
                <a:lnTo>
                  <a:pt x="0" y="76200"/>
                </a:lnTo>
                <a:arcTo wR="76200" hR="76200" stAng="10800000" swAng="5400000"/>
                <a:lnTo>
                  <a:pt x="76200" y="0"/>
                </a:lnTo>
                <a:arcTo wR="38100" hR="76200" stAng="16200000" swAng="-5400000"/>
                <a:lnTo>
                  <a:pt x="38100" y="762000"/>
                </a:lnTo>
                <a:arcTo wR="38100" hR="76200" stAng="10800000" swAng="-5400000"/>
                <a:close/>
              </a:path>
            </a:pathLst>
          </a:custGeom>
          <a:solidFill>
            <a:srgbClr val="F0B04A"/>
          </a:solidFill>
          <a:ln/>
        </p:spPr>
        <p:txBody>
          <a:bodyPr/>
          <a:lstStyle/>
          <a:p>
            <a:endParaRPr lang="en-IN"/>
          </a:p>
        </p:txBody>
      </p:sp>
      <p:sp>
        <p:nvSpPr>
          <p:cNvPr id="9"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CANCELLATION &amp; REFUND ANALYSIS · QUESTION 1 OF 4</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What is the cancellation rate?</a:t>
            </a:r>
            <a:endParaRPr lang="en-US" sz="2300" dirty="0"/>
          </a:p>
        </p:txBody>
      </p:sp>
      <p:sp>
        <p:nvSpPr>
          <p:cNvPr id="4" name="Shape 2"/>
          <p:cNvSpPr/>
          <p:nvPr/>
        </p:nvSpPr>
        <p:spPr>
          <a:xfrm>
            <a:off x="815975" y="1654820"/>
            <a:ext cx="10560050" cy="2444750"/>
          </a:xfrm>
          <a:prstGeom prst="roundRect">
            <a:avLst>
              <a:gd name="adj" fmla="val 4026"/>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10079757" cy="20364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 AS total_orders,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SUM(CASE WHEN order_status = 'Cancelled' THEN 1 ELSE 0 END) AS cancelled_orders,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100.0 * SUM(CASE WHEN order_status = 'Cancelled' THEN 1 ELSE 0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COUNT(*),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cancellation_rate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p:txBody>
      </p:sp>
      <p:sp>
        <p:nvSpPr>
          <p:cNvPr id="7" name="Shape 5"/>
          <p:cNvSpPr/>
          <p:nvPr/>
        </p:nvSpPr>
        <p:spPr>
          <a:xfrm>
            <a:off x="815975" y="4283720"/>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995680" y="44634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4775835"/>
          <a:ext cx="6974840" cy="713740"/>
        </p:xfrm>
        <a:graphic>
          <a:graphicData uri="http://schemas.openxmlformats.org/drawingml/2006/table">
            <a:tbl>
              <a:tblPr/>
              <a:tblGrid>
                <a:gridCol w="1952955">
                  <a:extLst>
                    <a:ext uri="{9D8B030D-6E8A-4147-A177-3AD203B41FA5}">
                      <a16:colId xmlns:a16="http://schemas.microsoft.com/office/drawing/2014/main" val="20000"/>
                    </a:ext>
                  </a:extLst>
                </a:gridCol>
                <a:gridCol w="2371446">
                  <a:extLst>
                    <a:ext uri="{9D8B030D-6E8A-4147-A177-3AD203B41FA5}">
                      <a16:colId xmlns:a16="http://schemas.microsoft.com/office/drawing/2014/main" val="20001"/>
                    </a:ext>
                  </a:extLst>
                </a:gridCol>
                <a:gridCol w="2650439">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total_orders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cancelled_orders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cancellation_rate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10095</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20.190000000000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CANCELLATION &amp; REFUND ANALYSIS · QUESTION 2 OF 4</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What is the refund rate?</a:t>
            </a:r>
            <a:endParaRPr lang="en-US" sz="2300" dirty="0"/>
          </a:p>
        </p:txBody>
      </p:sp>
      <p:sp>
        <p:nvSpPr>
          <p:cNvPr id="4" name="Shape 2"/>
          <p:cNvSpPr/>
          <p:nvPr/>
        </p:nvSpPr>
        <p:spPr>
          <a:xfrm>
            <a:off x="815975" y="1654820"/>
            <a:ext cx="10560050" cy="2444750"/>
          </a:xfrm>
          <a:prstGeom prst="roundRect">
            <a:avLst>
              <a:gd name="adj" fmla="val 4026"/>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10506659" cy="203644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 AS total_orders,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SUM(CASE WHEN order_status = 'Refunded' THEN 1 ELSE 0 END) AS refunded_orders,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100.0 * SUM(CASE WHEN order_status = 'Refunded' THEN 1 ELSE 0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COUNT(*),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refund_rate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a:t>
            </a:r>
            <a:endParaRPr lang="en-US" sz="1200" dirty="0"/>
          </a:p>
        </p:txBody>
      </p:sp>
      <p:sp>
        <p:nvSpPr>
          <p:cNvPr id="7" name="Shape 5"/>
          <p:cNvSpPr/>
          <p:nvPr/>
        </p:nvSpPr>
        <p:spPr>
          <a:xfrm>
            <a:off x="815975" y="4283720"/>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995680" y="44634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4775835"/>
          <a:ext cx="6974840" cy="713740"/>
        </p:xfrm>
        <a:graphic>
          <a:graphicData uri="http://schemas.openxmlformats.org/drawingml/2006/table">
            <a:tbl>
              <a:tblPr/>
              <a:tblGrid>
                <a:gridCol w="1952955">
                  <a:extLst>
                    <a:ext uri="{9D8B030D-6E8A-4147-A177-3AD203B41FA5}">
                      <a16:colId xmlns:a16="http://schemas.microsoft.com/office/drawing/2014/main" val="20000"/>
                    </a:ext>
                  </a:extLst>
                </a:gridCol>
                <a:gridCol w="2371446">
                  <a:extLst>
                    <a:ext uri="{9D8B030D-6E8A-4147-A177-3AD203B41FA5}">
                      <a16:colId xmlns:a16="http://schemas.microsoft.com/office/drawing/2014/main" val="20001"/>
                    </a:ext>
                  </a:extLst>
                </a:gridCol>
                <a:gridCol w="2650439">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total_orders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refunded_orders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refund_rate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10068</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20.140000000000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46380"/>
          </a:xfrm>
          <a:prstGeom prst="rect">
            <a:avLst/>
          </a:prstGeom>
          <a:noFill/>
          <a:ln/>
        </p:spPr>
        <p:txBody>
          <a:bodyPr wrap="square" lIns="0" tIns="0" rIns="0" bIns="0" rtlCol="0" anchor="t">
            <a:normAutofit/>
          </a:bodyPr>
          <a:lstStyle/>
          <a:p>
            <a:pPr marL="0" indent="0" algn="l">
              <a:lnSpc>
                <a:spcPts val="1770"/>
              </a:lnSpc>
              <a:buNone/>
            </a:pPr>
            <a:r>
              <a:rPr lang="en-US" sz="1264" b="1" kern="0" spc="200" dirty="0">
                <a:solidFill>
                  <a:srgbClr val="F0B04A"/>
                </a:solidFill>
                <a:latin typeface="DM Sans" pitchFamily="34" charset="0"/>
                <a:ea typeface="DM Sans" pitchFamily="34" charset="-122"/>
                <a:cs typeface="DM Sans" pitchFamily="34" charset="-120"/>
              </a:rPr>
              <a:t>CANCELLATION &amp; REFUND ANALYSIS · QUESTION 3 OF 4</a:t>
            </a:r>
            <a:endParaRPr lang="en-US" sz="1264" dirty="0"/>
          </a:p>
        </p:txBody>
      </p:sp>
      <p:sp>
        <p:nvSpPr>
          <p:cNvPr id="3" name="Text 1"/>
          <p:cNvSpPr>
            <a:spLocks noGrp="1"/>
          </p:cNvSpPr>
          <p:nvPr>
            <p:ph type="title"/>
          </p:nvPr>
        </p:nvSpPr>
        <p:spPr>
          <a:xfrm>
            <a:off x="812800" y="1109985"/>
            <a:ext cx="10883392" cy="323533"/>
          </a:xfrm>
          <a:prstGeom prst="rect">
            <a:avLst/>
          </a:prstGeom>
          <a:noFill/>
          <a:ln/>
        </p:spPr>
        <p:txBody>
          <a:bodyPr wrap="square" lIns="0" tIns="0" rIns="0" bIns="0" rtlCol="0" anchor="t">
            <a:normAutofit/>
          </a:bodyPr>
          <a:lstStyle/>
          <a:p>
            <a:pPr marL="0" indent="0" algn="l">
              <a:lnSpc>
                <a:spcPts val="2372"/>
              </a:lnSpc>
              <a:buNone/>
            </a:pPr>
            <a:r>
              <a:rPr lang="en-US" sz="2063" b="1" i="0" dirty="0">
                <a:solidFill>
                  <a:srgbClr val="FAF6F1"/>
                </a:solidFill>
                <a:latin typeface="DM Sans" pitchFamily="34" charset="0"/>
                <a:ea typeface="DM Sans" pitchFamily="34" charset="-122"/>
                <a:cs typeface="DM Sans" pitchFamily="34" charset="-120"/>
              </a:rPr>
              <a:t>How much revenue is lost due to cancellations?</a:t>
            </a:r>
            <a:endParaRPr lang="en-US" sz="2063" dirty="0"/>
          </a:p>
        </p:txBody>
      </p:sp>
      <p:sp>
        <p:nvSpPr>
          <p:cNvPr id="4" name="Shape 2"/>
          <p:cNvSpPr/>
          <p:nvPr/>
        </p:nvSpPr>
        <p:spPr>
          <a:xfrm>
            <a:off x="815975" y="1589088"/>
            <a:ext cx="10560050" cy="2059146"/>
          </a:xfrm>
          <a:prstGeom prst="roundRect">
            <a:avLst>
              <a:gd name="adj" fmla="val 4780"/>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768797"/>
            <a:ext cx="10506659" cy="216535"/>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F0B04A"/>
                </a:solidFill>
                <a:latin typeface="DM Sans" pitchFamily="34" charset="0"/>
                <a:ea typeface="DM Sans" pitchFamily="34" charset="-122"/>
                <a:cs typeface="DM Sans" pitchFamily="34" charset="-120"/>
              </a:rPr>
              <a:t>SQL QUERY</a:t>
            </a:r>
            <a:endParaRPr lang="en-US" sz="1088" dirty="0"/>
          </a:p>
        </p:txBody>
      </p:sp>
      <p:sp>
        <p:nvSpPr>
          <p:cNvPr id="6" name="Text 4"/>
          <p:cNvSpPr/>
          <p:nvPr/>
        </p:nvSpPr>
        <p:spPr>
          <a:xfrm>
            <a:off x="995680" y="2048842"/>
            <a:ext cx="10506659" cy="1445101"/>
          </a:xfrm>
          <a:prstGeom prst="rect">
            <a:avLst/>
          </a:prstGeom>
          <a:noFill/>
          <a:ln/>
        </p:spPr>
        <p:txBody>
          <a:bodyPr wrap="square" lIns="0" tIns="0" rIns="0" bIns="0" rtlCol="0" anchor="t">
            <a:normAutofit/>
          </a:bodyPr>
          <a:lstStyle/>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SELECT</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  SUM(</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    order_amount</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    - discount_amount</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    + delivery_fee</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  ) AS lost_revenue</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FROM orders</a:t>
            </a:r>
            <a:endParaRPr lang="en-US" sz="1076" dirty="0"/>
          </a:p>
          <a:p>
            <a:pPr marL="0" indent="0" algn="l">
              <a:lnSpc>
                <a:spcPts val="1399"/>
              </a:lnSpc>
              <a:buNone/>
            </a:pPr>
            <a:r>
              <a:rPr lang="en-US" sz="1076" dirty="0">
                <a:solidFill>
                  <a:srgbClr val="E8DFD6"/>
                </a:solidFill>
                <a:latin typeface="Courier New" pitchFamily="49" charset="0"/>
                <a:ea typeface="Courier New" pitchFamily="49" charset="-122"/>
                <a:cs typeface="Courier New" pitchFamily="49" charset="-120"/>
              </a:rPr>
              <a:t>WHERE order_status = 'Cancelled';</a:t>
            </a:r>
            <a:endParaRPr lang="en-US" sz="1076" dirty="0"/>
          </a:p>
        </p:txBody>
      </p:sp>
      <p:sp>
        <p:nvSpPr>
          <p:cNvPr id="7" name="Shape 5"/>
          <p:cNvSpPr/>
          <p:nvPr/>
        </p:nvSpPr>
        <p:spPr>
          <a:xfrm>
            <a:off x="815975" y="3832399"/>
            <a:ext cx="10560050" cy="1283653"/>
          </a:xfrm>
          <a:prstGeom prst="roundRect">
            <a:avLst>
              <a:gd name="adj" fmla="val 7668"/>
            </a:avLst>
          </a:prstGeom>
          <a:solidFill>
            <a:srgbClr val="2B2727"/>
          </a:solidFill>
          <a:ln w="6350">
            <a:solidFill>
              <a:srgbClr val="4A4343"/>
            </a:solidFill>
            <a:prstDash val="solid"/>
          </a:ln>
        </p:spPr>
        <p:txBody>
          <a:bodyPr/>
          <a:lstStyle/>
          <a:p>
            <a:endParaRPr lang="en-IN"/>
          </a:p>
        </p:txBody>
      </p:sp>
      <p:sp>
        <p:nvSpPr>
          <p:cNvPr id="8" name="Text 6"/>
          <p:cNvSpPr/>
          <p:nvPr/>
        </p:nvSpPr>
        <p:spPr>
          <a:xfrm>
            <a:off x="995680" y="4012084"/>
            <a:ext cx="10506659" cy="215344"/>
          </a:xfrm>
          <a:prstGeom prst="rect">
            <a:avLst/>
          </a:prstGeom>
          <a:noFill/>
          <a:ln/>
        </p:spPr>
        <p:txBody>
          <a:bodyPr wrap="square" lIns="0" tIns="0" rIns="0" bIns="0" rtlCol="0" anchor="t">
            <a:normAutofit/>
          </a:bodyPr>
          <a:lstStyle/>
          <a:p>
            <a:pPr marL="0" indent="0" algn="l">
              <a:lnSpc>
                <a:spcPts val="1523"/>
              </a:lnSpc>
              <a:buNone/>
            </a:pPr>
            <a:r>
              <a:rPr lang="en-US" sz="1088" b="1" kern="0" spc="100" dirty="0">
                <a:solidFill>
                  <a:srgbClr val="F0B04A"/>
                </a:solidFill>
                <a:latin typeface="DM Sans" pitchFamily="34" charset="0"/>
                <a:ea typeface="DM Sans" pitchFamily="34" charset="-122"/>
                <a:cs typeface="DM Sans" pitchFamily="34" charset="-120"/>
              </a:rPr>
              <a:t>OUTPUT</a:t>
            </a:r>
            <a:endParaRPr lang="en-US" sz="1088"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1005840" y="4301098"/>
          <a:ext cx="4053840" cy="639762"/>
        </p:xfrm>
        <a:graphic>
          <a:graphicData uri="http://schemas.openxmlformats.org/drawingml/2006/table">
            <a:tbl>
              <a:tblPr/>
              <a:tblGrid>
                <a:gridCol w="4053840">
                  <a:extLst>
                    <a:ext uri="{9D8B030D-6E8A-4147-A177-3AD203B41FA5}">
                      <a16:colId xmlns:a16="http://schemas.microsoft.com/office/drawing/2014/main" val="20000"/>
                    </a:ext>
                  </a:extLst>
                </a:gridCol>
              </a:tblGrid>
              <a:tr h="319881">
                <a:tc>
                  <a:txBody>
                    <a:bodyPr/>
                    <a:lstStyle/>
                    <a:p>
                      <a:pPr marL="0" indent="0">
                        <a:lnSpc>
                          <a:spcPts val="1627"/>
                        </a:lnSpc>
                        <a:buNone/>
                      </a:pPr>
                      <a:r>
                        <a:rPr lang="en-US" sz="1162" b="1" dirty="0">
                          <a:solidFill>
                            <a:srgbClr val="F0B04A"/>
                          </a:solidFill>
                          <a:latin typeface="DM Sans" pitchFamily="34" charset="0"/>
                          <a:ea typeface="DM Sans" pitchFamily="34" charset="-122"/>
                          <a:cs typeface="DM Sans" pitchFamily="34" charset="-120"/>
                        </a:rPr>
                        <a:t>lost_revenue</a:t>
                      </a:r>
                      <a:endParaRPr lang="en-US" sz="1162" dirty="0">
                        <a:latin typeface="DM Sans" charset="0"/>
                        <a:ea typeface="DM Sans" charset="0"/>
                        <a:cs typeface="DM Sans" charset="0"/>
                      </a:endParaRPr>
                    </a:p>
                  </a:txBody>
                  <a:tcPr marL="51645" marR="51645" marT="51645" marB="5164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19881">
                <a:tc>
                  <a:txBody>
                    <a:bodyPr/>
                    <a:lstStyle/>
                    <a:p>
                      <a:pPr marL="0" indent="0">
                        <a:lnSpc>
                          <a:spcPts val="1627"/>
                        </a:lnSpc>
                        <a:buNone/>
                      </a:pPr>
                      <a:r>
                        <a:rPr lang="en-US" sz="1162" dirty="0">
                          <a:solidFill>
                            <a:srgbClr val="FAF6F1"/>
                          </a:solidFill>
                          <a:latin typeface="DM Sans" pitchFamily="34" charset="0"/>
                          <a:ea typeface="DM Sans" pitchFamily="34" charset="-122"/>
                          <a:cs typeface="DM Sans" pitchFamily="34" charset="-120"/>
                        </a:rPr>
                        <a:t>9094421.69070625</a:t>
                      </a:r>
                      <a:endParaRPr lang="en-US" sz="1162" dirty="0">
                        <a:latin typeface="DM Sans" charset="0"/>
                        <a:ea typeface="DM Sans" charset="0"/>
                        <a:cs typeface="DM Sans" charset="0"/>
                      </a:endParaRPr>
                    </a:p>
                  </a:txBody>
                  <a:tcPr marL="51645" marR="51645" marT="51645" marB="5164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Shape 7"/>
          <p:cNvSpPr/>
          <p:nvPr/>
        </p:nvSpPr>
        <p:spPr>
          <a:xfrm>
            <a:off x="812800" y="5297016"/>
            <a:ext cx="10566400" cy="544989"/>
          </a:xfrm>
          <a:prstGeom prst="roundRect">
            <a:avLst>
              <a:gd name="adj" fmla="val 13982"/>
            </a:avLst>
          </a:prstGeom>
          <a:solidFill>
            <a:srgbClr val="2B2727"/>
          </a:solidFill>
          <a:ln/>
        </p:spPr>
        <p:txBody>
          <a:bodyPr/>
          <a:lstStyle/>
          <a:p>
            <a:endParaRPr lang="en-IN"/>
          </a:p>
        </p:txBody>
      </p:sp>
      <p:sp>
        <p:nvSpPr>
          <p:cNvPr id="11" name="Shape 8"/>
          <p:cNvSpPr/>
          <p:nvPr/>
        </p:nvSpPr>
        <p:spPr>
          <a:xfrm>
            <a:off x="812800" y="5297016"/>
            <a:ext cx="10566400" cy="544989"/>
          </a:xfrm>
          <a:custGeom>
            <a:avLst/>
            <a:gdLst/>
            <a:ahLst/>
            <a:cxnLst/>
            <a:rect l="l" t="t" r="r" b="b"/>
            <a:pathLst>
              <a:path w="10566400" h="544989">
                <a:moveTo>
                  <a:pt x="76200" y="544989"/>
                </a:moveTo>
                <a:lnTo>
                  <a:pt x="76200" y="544989"/>
                </a:lnTo>
                <a:arcTo wR="76200" hR="76200" stAng="5400000" swAng="5400000"/>
                <a:lnTo>
                  <a:pt x="0" y="76200"/>
                </a:lnTo>
                <a:arcTo wR="76200" hR="76200" stAng="10800000" swAng="5400000"/>
                <a:lnTo>
                  <a:pt x="76200" y="0"/>
                </a:lnTo>
                <a:arcTo wR="38100" hR="76200" stAng="16200000" swAng="-5400000"/>
                <a:lnTo>
                  <a:pt x="38100" y="468789"/>
                </a:lnTo>
                <a:arcTo wR="38100" hR="76200" stAng="10800000" swAng="-5400000"/>
                <a:close/>
              </a:path>
            </a:pathLst>
          </a:custGeom>
          <a:solidFill>
            <a:srgbClr val="F0B04A"/>
          </a:solidFill>
          <a:ln/>
        </p:spPr>
        <p:txBody>
          <a:bodyPr/>
          <a:lstStyle/>
          <a:p>
            <a:endParaRPr lang="en-IN"/>
          </a:p>
        </p:txBody>
      </p:sp>
      <p:sp>
        <p:nvSpPr>
          <p:cNvPr id="12" name="Text 9"/>
          <p:cNvSpPr/>
          <p:nvPr/>
        </p:nvSpPr>
        <p:spPr>
          <a:xfrm>
            <a:off x="1051560" y="5449416"/>
            <a:ext cx="10428173" cy="265589"/>
          </a:xfrm>
          <a:prstGeom prst="rect">
            <a:avLst/>
          </a:prstGeom>
          <a:noFill/>
          <a:ln/>
        </p:spPr>
        <p:txBody>
          <a:bodyPr wrap="square" lIns="0" tIns="0" rIns="0" bIns="0" rtlCol="0" anchor="t">
            <a:normAutofit/>
          </a:bodyPr>
          <a:lstStyle/>
          <a:p>
            <a:pPr marL="0" indent="0" algn="l">
              <a:lnSpc>
                <a:spcPts val="1923"/>
              </a:lnSpc>
              <a:buNone/>
            </a:pPr>
            <a:r>
              <a:rPr lang="en-US" sz="1373" dirty="0">
                <a:solidFill>
                  <a:srgbClr val="FAF6F1"/>
                </a:solidFill>
                <a:latin typeface="DM Sans" pitchFamily="34" charset="0"/>
                <a:ea typeface="DM Sans" pitchFamily="34" charset="-122"/>
                <a:cs typeface="DM Sans" pitchFamily="34" charset="-120"/>
              </a:rPr>
              <a:t>Cancelled orders represent </a:t>
            </a:r>
            <a:r>
              <a:rPr lang="en-US" sz="1373" b="1" dirty="0">
                <a:solidFill>
                  <a:srgbClr val="FAF6F1"/>
                </a:solidFill>
                <a:latin typeface="DM Sans" pitchFamily="34" charset="0"/>
                <a:ea typeface="DM Sans" pitchFamily="34" charset="-122"/>
                <a:cs typeface="DM Sans" pitchFamily="34" charset="-120"/>
              </a:rPr>
              <a:t>₹9.09M</a:t>
            </a:r>
            <a:r>
              <a:rPr lang="en-US" sz="1373" dirty="0">
                <a:solidFill>
                  <a:srgbClr val="FAF6F1"/>
                </a:solidFill>
                <a:latin typeface="DM Sans" pitchFamily="34" charset="0"/>
                <a:ea typeface="DM Sans" pitchFamily="34" charset="-122"/>
                <a:cs typeface="DM Sans" pitchFamily="34" charset="-120"/>
              </a:rPr>
              <a:t> of lost revenue.</a:t>
            </a:r>
            <a:endParaRPr lang="en-US" sz="1373" dirty="0"/>
          </a:p>
        </p:txBody>
      </p:sp>
      <p:sp>
        <p:nvSpPr>
          <p:cNvPr id="13" name="Text 10"/>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CANCELLATION &amp; REFUND ANALYSIS · QUESTION 4 OF 4</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restaurants have the highest cancellation rate?</a:t>
            </a:r>
            <a:endParaRPr lang="en-US" sz="2300" dirty="0"/>
          </a:p>
        </p:txBody>
      </p:sp>
      <p:sp>
        <p:nvSpPr>
          <p:cNvPr id="4" name="Shape 2"/>
          <p:cNvSpPr/>
          <p:nvPr/>
        </p:nvSpPr>
        <p:spPr>
          <a:xfrm>
            <a:off x="815975" y="1654820"/>
            <a:ext cx="10560050" cy="3868902"/>
          </a:xfrm>
          <a:prstGeom prst="roundRect">
            <a:avLst>
              <a:gd name="adj" fmla="val 270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5"/>
            <a:ext cx="5122520" cy="363347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 TOP 10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COUNT(o.order_id) AS total_orders,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CASE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WHEN o.order_status = 'Cancelled' THEN 1</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ELSE 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cancelled_orders,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100.0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CASE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WHEN o.order_status = 'Cancelled' THEN 1</a:t>
            </a:r>
            <a:endParaRPr lang="en-US" sz="1200" dirty="0"/>
          </a:p>
        </p:txBody>
      </p:sp>
      <p:sp>
        <p:nvSpPr>
          <p:cNvPr id="7" name="Text 5"/>
          <p:cNvSpPr/>
          <p:nvPr/>
        </p:nvSpPr>
        <p:spPr>
          <a:xfrm>
            <a:off x="6223000" y="2136774"/>
            <a:ext cx="5122520" cy="345226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ELSE 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 COUNT(o.order_id),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cancellation_rate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restaurants r</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o.restaurant_id =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r.restaurant_name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cancellation_rate DESC;</a:t>
            </a:r>
            <a:endParaRPr lang="en-US" sz="1200" dirty="0"/>
          </a:p>
        </p:txBody>
      </p:sp>
      <p:sp>
        <p:nvSpPr>
          <p:cNvPr id="8"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7017"/>
          </a:xfrm>
          <a:prstGeom prst="rect">
            <a:avLst/>
          </a:prstGeom>
          <a:noFill/>
          <a:ln/>
        </p:spPr>
        <p:txBody>
          <a:bodyPr wrap="square" lIns="0" tIns="0" rIns="0" bIns="0" rtlCol="0" anchor="t">
            <a:normAutofit/>
          </a:bodyPr>
          <a:lstStyle/>
          <a:p>
            <a:pPr marL="0" indent="0" algn="l">
              <a:lnSpc>
                <a:spcPts val="1923"/>
              </a:lnSpc>
              <a:buNone/>
            </a:pPr>
            <a:r>
              <a:rPr lang="en-US" sz="1374" b="1" kern="0" spc="200" dirty="0">
                <a:solidFill>
                  <a:srgbClr val="F0B04A"/>
                </a:solidFill>
                <a:latin typeface="DM Sans" pitchFamily="34" charset="0"/>
                <a:ea typeface="DM Sans" pitchFamily="34" charset="-122"/>
                <a:cs typeface="DM Sans" pitchFamily="34" charset="-120"/>
              </a:rPr>
              <a:t>CANCELLATION &amp; REFUND ANALYSIS · QUESTION 4 OF 4 · OUTPUT</a:t>
            </a:r>
            <a:endParaRPr lang="en-US" sz="1374" dirty="0"/>
          </a:p>
        </p:txBody>
      </p:sp>
      <p:sp>
        <p:nvSpPr>
          <p:cNvPr id="3" name="Text 1"/>
          <p:cNvSpPr>
            <a:spLocks noGrp="1"/>
          </p:cNvSpPr>
          <p:nvPr>
            <p:ph type="title"/>
          </p:nvPr>
        </p:nvSpPr>
        <p:spPr>
          <a:xfrm>
            <a:off x="812800" y="1130622"/>
            <a:ext cx="10883392" cy="351393"/>
          </a:xfrm>
          <a:prstGeom prst="rect">
            <a:avLst/>
          </a:prstGeom>
          <a:noFill/>
          <a:ln/>
        </p:spPr>
        <p:txBody>
          <a:bodyPr wrap="square" lIns="0" tIns="0" rIns="0" bIns="0" rtlCol="0" anchor="t">
            <a:normAutofit/>
          </a:bodyPr>
          <a:lstStyle/>
          <a:p>
            <a:pPr marL="0" indent="0" algn="l">
              <a:lnSpc>
                <a:spcPts val="2571"/>
              </a:lnSpc>
              <a:buNone/>
            </a:pPr>
            <a:r>
              <a:rPr lang="en-US" sz="2235" b="1" i="0" dirty="0">
                <a:solidFill>
                  <a:srgbClr val="FAF6F1"/>
                </a:solidFill>
                <a:latin typeface="DM Sans" pitchFamily="34" charset="0"/>
                <a:ea typeface="DM Sans" pitchFamily="34" charset="-122"/>
                <a:cs typeface="DM Sans" pitchFamily="34" charset="-120"/>
              </a:rPr>
              <a:t>Which restaurants have the highest cancellation rate?</a:t>
            </a:r>
            <a:endParaRPr lang="en-US" sz="2235" dirty="0"/>
          </a:p>
        </p:txBody>
      </p:sp>
      <p:sp>
        <p:nvSpPr>
          <p:cNvPr id="4" name="Shape 2"/>
          <p:cNvSpPr/>
          <p:nvPr/>
        </p:nvSpPr>
        <p:spPr>
          <a:xfrm>
            <a:off x="815975" y="1637581"/>
            <a:ext cx="10560050" cy="4201239"/>
          </a:xfrm>
          <a:prstGeom prst="roundRect">
            <a:avLst>
              <a:gd name="adj" fmla="val 2343"/>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17291"/>
            <a:ext cx="10506659" cy="233045"/>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OUTPUT</a:t>
            </a:r>
            <a:endParaRPr lang="en-US" sz="1196"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23991"/>
          <a:ext cx="9514840" cy="3535121"/>
        </p:xfrm>
        <a:graphic>
          <a:graphicData uri="http://schemas.openxmlformats.org/drawingml/2006/table">
            <a:tbl>
              <a:tblPr/>
              <a:tblGrid>
                <a:gridCol w="1712671">
                  <a:extLst>
                    <a:ext uri="{9D8B030D-6E8A-4147-A177-3AD203B41FA5}">
                      <a16:colId xmlns:a16="http://schemas.microsoft.com/office/drawing/2014/main" val="20000"/>
                    </a:ext>
                  </a:extLst>
                </a:gridCol>
                <a:gridCol w="2093265">
                  <a:extLst>
                    <a:ext uri="{9D8B030D-6E8A-4147-A177-3AD203B41FA5}">
                      <a16:colId xmlns:a16="http://schemas.microsoft.com/office/drawing/2014/main" val="20001"/>
                    </a:ext>
                  </a:extLst>
                </a:gridCol>
                <a:gridCol w="1617523">
                  <a:extLst>
                    <a:ext uri="{9D8B030D-6E8A-4147-A177-3AD203B41FA5}">
                      <a16:colId xmlns:a16="http://schemas.microsoft.com/office/drawing/2014/main" val="20002"/>
                    </a:ext>
                  </a:extLst>
                </a:gridCol>
                <a:gridCol w="1902968">
                  <a:extLst>
                    <a:ext uri="{9D8B030D-6E8A-4147-A177-3AD203B41FA5}">
                      <a16:colId xmlns:a16="http://schemas.microsoft.com/office/drawing/2014/main" val="20003"/>
                    </a:ext>
                  </a:extLst>
                </a:gridCol>
                <a:gridCol w="2188413">
                  <a:extLst>
                    <a:ext uri="{9D8B030D-6E8A-4147-A177-3AD203B41FA5}">
                      <a16:colId xmlns:a16="http://schemas.microsoft.com/office/drawing/2014/main" val="20004"/>
                    </a:ext>
                  </a:extLst>
                </a:gridCol>
              </a:tblGrid>
              <a:tr h="321310">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restaurant_id</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restaurant_name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total_orders</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cancelled_orders</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cancellation_rate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21310">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194.00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Haldiram's</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67</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27.350000000000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185.00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Barbeque Nation</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251</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66</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26.290000000000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Biryani By Kilo</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222</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58</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26.130000000000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46.00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KFC</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243</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63</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25.930000000000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64.00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Chaayos</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263</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66</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25.100000000000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155.00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McDonald's</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267</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67</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25.090000000000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49.00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Barbeque Nation</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25.000000000000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21.00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Barbeque Nation</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241</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24.900000000000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22.00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Behrouz Biryani</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61</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24.900000000000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9"/>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99.00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Chaayos</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267</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66</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24.720000000000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10"/>
                  </a:ext>
                </a:extLst>
              </a:tr>
            </a:tbl>
          </a:graphicData>
        </a:graphic>
      </p:graphicFrame>
      <p:sp>
        <p:nvSpPr>
          <p:cNvPr id="7" name="Text 4"/>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1 OF 5</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How many customers have churned?</a:t>
            </a:r>
            <a:endParaRPr lang="en-US" sz="2300" dirty="0"/>
          </a:p>
        </p:txBody>
      </p:sp>
      <p:sp>
        <p:nvSpPr>
          <p:cNvPr id="4" name="Shape 2"/>
          <p:cNvSpPr/>
          <p:nvPr/>
        </p:nvSpPr>
        <p:spPr>
          <a:xfrm>
            <a:off x="815975" y="1654820"/>
            <a:ext cx="5708650" cy="3840912"/>
          </a:xfrm>
          <a:prstGeom prst="roundRect">
            <a:avLst>
              <a:gd name="adj" fmla="val 270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30"/>
            <a:ext cx="5509717"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4"/>
            <a:ext cx="5509717" cy="3433601"/>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WITH last_order AS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MAX(order_timestamp) AS last_order_date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GROUP BY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 AS churned_customers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LEFT JOIN last_order 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c.Customer_id = l.customer_id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l.last_order_date &lt; DATEADD(DAY, -90, '2026-04-30')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OR l.last_order_date IS NULL;</a:t>
            </a:r>
            <a:endParaRPr lang="en-US" sz="1200" dirty="0"/>
          </a:p>
        </p:txBody>
      </p:sp>
      <p:sp>
        <p:nvSpPr>
          <p:cNvPr id="7" name="Shape 5"/>
          <p:cNvSpPr/>
          <p:nvPr/>
        </p:nvSpPr>
        <p:spPr>
          <a:xfrm>
            <a:off x="6734175" y="1654820"/>
            <a:ext cx="46418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8" name="Text 6"/>
          <p:cNvSpPr/>
          <p:nvPr/>
        </p:nvSpPr>
        <p:spPr>
          <a:xfrm>
            <a:off x="6913880" y="1834530"/>
            <a:ext cx="4410913"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924040" y="2146935"/>
          <a:ext cx="2656840" cy="713740"/>
        </p:xfrm>
        <a:graphic>
          <a:graphicData uri="http://schemas.openxmlformats.org/drawingml/2006/table">
            <a:tbl>
              <a:tblPr/>
              <a:tblGrid>
                <a:gridCol w="2656840">
                  <a:extLst>
                    <a:ext uri="{9D8B030D-6E8A-4147-A177-3AD203B41FA5}">
                      <a16:colId xmlns:a16="http://schemas.microsoft.com/office/drawing/2014/main" val="20000"/>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churned_customers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2672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10" name="Text 7"/>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1621"/>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2 OF 5</a:t>
            </a:r>
            <a:endParaRPr lang="en-US" sz="1400" dirty="0"/>
          </a:p>
        </p:txBody>
      </p:sp>
      <p:sp>
        <p:nvSpPr>
          <p:cNvPr id="3" name="Text 1"/>
          <p:cNvSpPr>
            <a:spLocks noGrp="1"/>
          </p:cNvSpPr>
          <p:nvPr>
            <p:ph type="title"/>
          </p:nvPr>
        </p:nvSpPr>
        <p:spPr>
          <a:xfrm>
            <a:off x="812800" y="1135236"/>
            <a:ext cx="10883392" cy="357584"/>
          </a:xfrm>
          <a:prstGeom prst="rect">
            <a:avLst/>
          </a:prstGeom>
          <a:noFill/>
          <a:ln/>
        </p:spPr>
        <p:txBody>
          <a:bodyPr wrap="square" lIns="0" tIns="0" rIns="0" bIns="0" rtlCol="0" anchor="t">
            <a:normAutofit/>
          </a:bodyPr>
          <a:lstStyle/>
          <a:p>
            <a:pPr marL="0" indent="0" algn="l">
              <a:lnSpc>
                <a:spcPts val="2620"/>
              </a:lnSpc>
              <a:buNone/>
            </a:pPr>
            <a:r>
              <a:rPr lang="en-US" sz="2278" b="1" i="0" dirty="0">
                <a:solidFill>
                  <a:srgbClr val="FAF6F1"/>
                </a:solidFill>
                <a:latin typeface="DM Sans" pitchFamily="34" charset="0"/>
                <a:ea typeface="DM Sans" pitchFamily="34" charset="-122"/>
                <a:cs typeface="DM Sans" pitchFamily="34" charset="-120"/>
              </a:rPr>
              <a:t>What is the churn rate?</a:t>
            </a:r>
            <a:endParaRPr lang="en-US" sz="2278" dirty="0"/>
          </a:p>
        </p:txBody>
      </p:sp>
      <p:sp>
        <p:nvSpPr>
          <p:cNvPr id="4" name="Shape 2"/>
          <p:cNvSpPr/>
          <p:nvPr/>
        </p:nvSpPr>
        <p:spPr>
          <a:xfrm>
            <a:off x="815975" y="1648396"/>
            <a:ext cx="10560050" cy="4190445"/>
          </a:xfrm>
          <a:prstGeom prst="roundRect">
            <a:avLst>
              <a:gd name="adj" fmla="val 234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28081"/>
            <a:ext cx="10506659" cy="236617"/>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SQL QUERY</a:t>
            </a:r>
            <a:endParaRPr lang="en-US" sz="1196" dirty="0"/>
          </a:p>
        </p:txBody>
      </p:sp>
      <p:sp>
        <p:nvSpPr>
          <p:cNvPr id="6" name="Text 4"/>
          <p:cNvSpPr/>
          <p:nvPr/>
        </p:nvSpPr>
        <p:spPr>
          <a:xfrm>
            <a:off x="995680" y="2128217"/>
            <a:ext cx="5122520" cy="3556317"/>
          </a:xfrm>
          <a:prstGeom prst="rect">
            <a:avLst/>
          </a:prstGeom>
          <a:noFill/>
          <a:ln/>
        </p:spPr>
        <p:txBody>
          <a:bodyPr wrap="square" lIns="0" tIns="0" rIns="0" bIns="0" rtlCol="0" anchor="t">
            <a:normAutofit/>
          </a:bodyPr>
          <a:lstStyle/>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WITH last_order AS (</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SELECT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MAX(order_timestamp) AS last_order_date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FROM orders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WHERE order_status = 'Delivered'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GROUP BY customer_id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SELECT</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COUNT(*) AS total_customers,</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SUM(</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CASE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WHEN l.last_order_date</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&lt; DATEADD(DAY, -90, '2026-04-30')</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OR l.last_order_date IS NULL</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THEN 1 ELSE 0</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END</a:t>
            </a:r>
            <a:endParaRPr lang="en-US" sz="1189" dirty="0"/>
          </a:p>
          <a:p>
            <a:pPr marL="0" indent="0" algn="l">
              <a:lnSpc>
                <a:spcPts val="1545"/>
              </a:lnSpc>
              <a:buNone/>
            </a:pPr>
            <a:r>
              <a:rPr lang="en-US" sz="1189" dirty="0">
                <a:solidFill>
                  <a:srgbClr val="E8DFD6"/>
                </a:solidFill>
                <a:latin typeface="Courier New" pitchFamily="49" charset="0"/>
                <a:ea typeface="Courier New" pitchFamily="49" charset="-122"/>
                <a:cs typeface="Courier New" pitchFamily="49" charset="-120"/>
              </a:rPr>
              <a:t>  ) AS churned_customers,</a:t>
            </a:r>
            <a:endParaRPr lang="en-US" sz="1189" dirty="0"/>
          </a:p>
        </p:txBody>
      </p:sp>
      <p:sp>
        <p:nvSpPr>
          <p:cNvPr id="7" name="Text 5"/>
          <p:cNvSpPr/>
          <p:nvPr/>
        </p:nvSpPr>
        <p:spPr>
          <a:xfrm>
            <a:off x="6223000" y="2128217"/>
            <a:ext cx="5122520" cy="353816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100.0 * SUM(</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CASE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WHEN l.last_order_date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&lt; DATEADD(DAY, -90, '2026-04-30')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OR l.last_order_date IS NULL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THEN 1 ELSE 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END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 COUNT(*),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churn_rate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LEFT JOIN last_order 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c.Customer_id = l.customer_id;</a:t>
            </a:r>
            <a:endParaRPr lang="en-US" sz="1200" dirty="0"/>
          </a:p>
        </p:txBody>
      </p:sp>
      <p:sp>
        <p:nvSpPr>
          <p:cNvPr id="8"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2 OF 5 · OUTPUT</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What is the churn rate?</a:t>
            </a:r>
            <a:endParaRPr lang="en-US" sz="2300" dirty="0"/>
          </a:p>
        </p:txBody>
      </p:sp>
      <p:sp>
        <p:nvSpPr>
          <p:cNvPr id="4" name="Shape 2"/>
          <p:cNvSpPr/>
          <p:nvPr/>
        </p:nvSpPr>
        <p:spPr>
          <a:xfrm>
            <a:off x="815975" y="1654820"/>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6974840" cy="713740"/>
        </p:xfrm>
        <a:graphic>
          <a:graphicData uri="http://schemas.openxmlformats.org/drawingml/2006/table">
            <a:tbl>
              <a:tblPr/>
              <a:tblGrid>
                <a:gridCol w="2092452">
                  <a:extLst>
                    <a:ext uri="{9D8B030D-6E8A-4147-A177-3AD203B41FA5}">
                      <a16:colId xmlns:a16="http://schemas.microsoft.com/office/drawing/2014/main" val="20000"/>
                    </a:ext>
                  </a:extLst>
                </a:gridCol>
                <a:gridCol w="2510942">
                  <a:extLst>
                    <a:ext uri="{9D8B030D-6E8A-4147-A177-3AD203B41FA5}">
                      <a16:colId xmlns:a16="http://schemas.microsoft.com/office/drawing/2014/main" val="20001"/>
                    </a:ext>
                  </a:extLst>
                </a:gridCol>
                <a:gridCol w="2371446">
                  <a:extLst>
                    <a:ext uri="{9D8B030D-6E8A-4147-A177-3AD203B41FA5}">
                      <a16:colId xmlns:a16="http://schemas.microsoft.com/office/drawing/2014/main" val="20002"/>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total_customers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churned_customers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churn_rate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4999</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2672</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53.450000000000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7" name="Text 4"/>
          <p:cNvSpPr/>
          <p:nvPr/>
        </p:nvSpPr>
        <p:spPr>
          <a:xfrm>
            <a:off x="812800" y="3221360"/>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b="1" dirty="0">
                <a:solidFill>
                  <a:srgbClr val="FAF6F1"/>
                </a:solidFill>
                <a:latin typeface="DM Sans" pitchFamily="34" charset="0"/>
                <a:ea typeface="DM Sans" pitchFamily="34" charset="-122"/>
                <a:cs typeface="DM Sans" pitchFamily="34" charset="-120"/>
              </a:rPr>
              <a:t>53.45%</a:t>
            </a:r>
            <a:r>
              <a:rPr lang="en-US" sz="1500" dirty="0">
                <a:solidFill>
                  <a:srgbClr val="FAF6F1"/>
                </a:solidFill>
                <a:latin typeface="DM Sans" pitchFamily="34" charset="0"/>
                <a:ea typeface="DM Sans" pitchFamily="34" charset="-122"/>
                <a:cs typeface="DM Sans" pitchFamily="34" charset="-120"/>
              </a:rPr>
              <a:t> of customers (2,672 of 4,999) have no delivered order in the 90 days before 30 Apr 2026.</a:t>
            </a:r>
            <a:endParaRPr lang="en-US" sz="1500" dirty="0"/>
          </a:p>
        </p:txBody>
      </p:sp>
      <p:sp>
        <p:nvSpPr>
          <p:cNvPr id="8" name="Shape 5"/>
          <p:cNvSpPr/>
          <p:nvPr/>
        </p:nvSpPr>
        <p:spPr>
          <a:xfrm>
            <a:off x="812800" y="3221360"/>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9"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3 OF 5</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city has the highest churn?</a:t>
            </a:r>
            <a:endParaRPr lang="en-US" sz="2300" dirty="0"/>
          </a:p>
        </p:txBody>
      </p:sp>
      <p:sp>
        <p:nvSpPr>
          <p:cNvPr id="4" name="Shape 2"/>
          <p:cNvSpPr/>
          <p:nvPr/>
        </p:nvSpPr>
        <p:spPr>
          <a:xfrm>
            <a:off x="815975" y="1654819"/>
            <a:ext cx="10560050" cy="4009375"/>
          </a:xfrm>
          <a:prstGeom prst="roundRect">
            <a:avLst>
              <a:gd name="adj" fmla="val 2569"/>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4"/>
            <a:ext cx="5122520" cy="3505225"/>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WITH last_order AS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MAX(order_timestamp) AS last_order_date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GROUP BY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customer_churn AS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c.City,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CASE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WHEN l.last_order_date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&lt; DATEADD(DAY, -90, '2026-04-30')</a:t>
            </a:r>
            <a:endParaRPr lang="en-US" sz="1200" dirty="0"/>
          </a:p>
        </p:txBody>
      </p:sp>
      <p:sp>
        <p:nvSpPr>
          <p:cNvPr id="7" name="Text 5"/>
          <p:cNvSpPr/>
          <p:nvPr/>
        </p:nvSpPr>
        <p:spPr>
          <a:xfrm>
            <a:off x="6223000" y="2136775"/>
            <a:ext cx="5122520" cy="3583310"/>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OR l.last_order_date IS NULL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THEN 1 ELSE 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END AS churned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LEFT JOIN last_order 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c.Customer_id = l.customer_id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City,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COUNT(*) AS total_customers,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SUM(churned) AS churned_customers,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ROUND(100.0 * SUM(churned) / COUNT(*), 2)</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AS churn_rate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customer_churn</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GROUP BY City</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ORDER BY churn_rate DESC;</a:t>
            </a:r>
            <a:endParaRPr lang="en-US" sz="1200" dirty="0"/>
          </a:p>
        </p:txBody>
      </p:sp>
      <p:sp>
        <p:nvSpPr>
          <p:cNvPr id="8"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3 OF 5 · OUTPUT</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Which city has the highest churn?</a:t>
            </a:r>
            <a:endParaRPr lang="en-US" sz="2300" dirty="0"/>
          </a:p>
        </p:txBody>
      </p:sp>
      <p:sp>
        <p:nvSpPr>
          <p:cNvPr id="4" name="Shape 2"/>
          <p:cNvSpPr/>
          <p:nvPr/>
        </p:nvSpPr>
        <p:spPr>
          <a:xfrm>
            <a:off x="815975" y="1654820"/>
            <a:ext cx="10560050" cy="3883660"/>
          </a:xfrm>
          <a:prstGeom prst="roundRect">
            <a:avLst>
              <a:gd name="adj" fmla="val 2534"/>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8244840" cy="3211830"/>
        </p:xfrm>
        <a:graphic>
          <a:graphicData uri="http://schemas.openxmlformats.org/drawingml/2006/table">
            <a:tbl>
              <a:tblPr/>
              <a:tblGrid>
                <a:gridCol w="1648968">
                  <a:extLst>
                    <a:ext uri="{9D8B030D-6E8A-4147-A177-3AD203B41FA5}">
                      <a16:colId xmlns:a16="http://schemas.microsoft.com/office/drawing/2014/main" val="20000"/>
                    </a:ext>
                  </a:extLst>
                </a:gridCol>
                <a:gridCol w="1978762">
                  <a:extLst>
                    <a:ext uri="{9D8B030D-6E8A-4147-A177-3AD203B41FA5}">
                      <a16:colId xmlns:a16="http://schemas.microsoft.com/office/drawing/2014/main" val="20001"/>
                    </a:ext>
                  </a:extLst>
                </a:gridCol>
                <a:gridCol w="2308555">
                  <a:extLst>
                    <a:ext uri="{9D8B030D-6E8A-4147-A177-3AD203B41FA5}">
                      <a16:colId xmlns:a16="http://schemas.microsoft.com/office/drawing/2014/main" val="20002"/>
                    </a:ext>
                  </a:extLst>
                </a:gridCol>
                <a:gridCol w="2308555">
                  <a:extLst>
                    <a:ext uri="{9D8B030D-6E8A-4147-A177-3AD203B41FA5}">
                      <a16:colId xmlns:a16="http://schemas.microsoft.com/office/drawing/2014/main" val="20003"/>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City</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total_customers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churned_customers</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churn_rate</a:t>
                      </a:r>
                      <a:endParaRPr lang="en-US" sz="1300" dirty="0">
                        <a:latin typeface="DM Sans" charset="0"/>
                        <a:ea typeface="DM Sans" charset="0"/>
                        <a:cs typeface="DM Sans" charset="0"/>
                      </a:endParaRPr>
                    </a:p>
                  </a:txBody>
                  <a:tcPr marL="57785" marR="57785" marT="57785" marB="57785">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Noida</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666</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367</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55.110000000000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Bengaluru</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619</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340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54.930000000000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Chennai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618</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338</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54.690000000000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Pune</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644</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351</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54.500000000000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Delhi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612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323</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52.780000000000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Gurugram</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613</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321</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52.370000000000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Mumbai</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612</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317</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51.800000000000</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Hyderabad</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615</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315</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51.220000000000</a:t>
                      </a:r>
                      <a:endParaRPr lang="en-US" sz="1300" dirty="0">
                        <a:latin typeface="DM Sans" charset="0"/>
                        <a:ea typeface="DM Sans" charset="0"/>
                        <a:cs typeface="DM Sans" charset="0"/>
                      </a:endParaRPr>
                    </a:p>
                  </a:txBody>
                  <a:tcPr marL="57785" marR="57785" marT="57785" marB="57785">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bl>
          </a:graphicData>
        </a:graphic>
      </p:graphicFrame>
      <p:sp>
        <p:nvSpPr>
          <p:cNvPr id="7" name="Text 4"/>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4 OF 5</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How much revenue is lost due to churn?</a:t>
            </a:r>
            <a:endParaRPr lang="en-US" sz="2300" dirty="0"/>
          </a:p>
        </p:txBody>
      </p:sp>
      <p:sp>
        <p:nvSpPr>
          <p:cNvPr id="4" name="Shape 2"/>
          <p:cNvSpPr/>
          <p:nvPr/>
        </p:nvSpPr>
        <p:spPr>
          <a:xfrm>
            <a:off x="815975" y="1654820"/>
            <a:ext cx="10560050" cy="3831580"/>
          </a:xfrm>
          <a:prstGeom prst="roundRect">
            <a:avLst>
              <a:gd name="adj" fmla="val 2865"/>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95680" y="2136774"/>
            <a:ext cx="5122520" cy="3172343"/>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WITH last_order AS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MAX(order_timestamp) AS last_order_date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orders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WHERE order_status = 'Delivered'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GROUP BY 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churned_customers AS (</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c.Customer_id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FROM 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LEFT JOIN last_order 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c.Customer_id = l.customer_id</a:t>
            </a:r>
            <a:endParaRPr lang="en-US" sz="1200" dirty="0"/>
          </a:p>
        </p:txBody>
      </p:sp>
      <p:sp>
        <p:nvSpPr>
          <p:cNvPr id="7" name="Text 5"/>
          <p:cNvSpPr/>
          <p:nvPr/>
        </p:nvSpPr>
        <p:spPr>
          <a:xfrm>
            <a:off x="6223000" y="2136775"/>
            <a:ext cx="5122520" cy="3246988"/>
          </a:xfrm>
          <a:prstGeom prst="rect">
            <a:avLst/>
          </a:prstGeom>
          <a:noFill/>
          <a:ln/>
        </p:spPr>
        <p:txBody>
          <a:bodyPr wrap="square" lIns="0" tIns="0" rIns="0" bIns="0" rtlCol="0" anchor="t">
            <a:normAutofit/>
          </a:bodyPr>
          <a:lstStyle/>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WHERE l.last_order_date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&lt; DATEADD(DAY, -90, '2026-04-30')</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OR l.last_order_date IS NULL</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SELECT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SUM(</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o.order_amount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o.discount_amount</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o.delivery_fee</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 AS revenue_from_churned_customers</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FROM orders o</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JOIN churned_customers c</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  ON o.customer_id = c.Customer_id</a:t>
            </a:r>
            <a:endParaRPr lang="en-US" sz="1200" dirty="0"/>
          </a:p>
          <a:p>
            <a:pPr marL="0" indent="0" algn="l">
              <a:lnSpc>
                <a:spcPts val="1560"/>
              </a:lnSpc>
              <a:buNone/>
            </a:pPr>
            <a:r>
              <a:rPr lang="en-US" sz="1200" dirty="0">
                <a:solidFill>
                  <a:srgbClr val="E8DFD6"/>
                </a:solidFill>
                <a:latin typeface="Courier New" pitchFamily="49" charset="0"/>
                <a:ea typeface="Courier New" pitchFamily="49" charset="-122"/>
                <a:cs typeface="Courier New" pitchFamily="49" charset="-120"/>
              </a:rPr>
              <a:t>WHERE o.order_status = 'Delivered';</a:t>
            </a:r>
            <a:endParaRPr lang="en-US" sz="1200" dirty="0"/>
          </a:p>
        </p:txBody>
      </p:sp>
      <p:sp>
        <p:nvSpPr>
          <p:cNvPr id="8"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3">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4 OF 5 · OUTPUT</a:t>
            </a:r>
            <a:endParaRPr lang="en-US" sz="1400" dirty="0"/>
          </a:p>
        </p:txBody>
      </p:sp>
      <p:sp>
        <p:nvSpPr>
          <p:cNvPr id="3" name="Text 1"/>
          <p:cNvSpPr>
            <a:spLocks noGrp="1"/>
          </p:cNvSpPr>
          <p:nvPr>
            <p:ph type="title"/>
          </p:nvPr>
        </p:nvSpPr>
        <p:spPr>
          <a:xfrm>
            <a:off x="812800" y="1137915"/>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How much revenue is lost due to churn?</a:t>
            </a:r>
            <a:endParaRPr lang="en-US" sz="2300" dirty="0"/>
          </a:p>
        </p:txBody>
      </p:sp>
      <p:sp>
        <p:nvSpPr>
          <p:cNvPr id="4" name="Shape 2"/>
          <p:cNvSpPr/>
          <p:nvPr/>
        </p:nvSpPr>
        <p:spPr>
          <a:xfrm>
            <a:off x="815975" y="1654820"/>
            <a:ext cx="10560050" cy="1385570"/>
          </a:xfrm>
          <a:prstGeom prst="roundRect">
            <a:avLst>
              <a:gd name="adj" fmla="val 7104"/>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34530"/>
            <a:ext cx="10506659"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OUTPUT</a:t>
            </a:r>
            <a:endParaRPr lang="en-US" sz="1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46935"/>
          <a:ext cx="5069840" cy="713740"/>
        </p:xfrm>
        <a:graphic>
          <a:graphicData uri="http://schemas.openxmlformats.org/drawingml/2006/table">
            <a:tbl>
              <a:tblPr/>
              <a:tblGrid>
                <a:gridCol w="5069840">
                  <a:extLst>
                    <a:ext uri="{9D8B030D-6E8A-4147-A177-3AD203B41FA5}">
                      <a16:colId xmlns:a16="http://schemas.microsoft.com/office/drawing/2014/main" val="20000"/>
                    </a:ext>
                  </a:extLst>
                </a:gridCol>
              </a:tblGrid>
              <a:tr h="356870">
                <a:tc>
                  <a:txBody>
                    <a:bodyPr/>
                    <a:lstStyle/>
                    <a:p>
                      <a:pPr marL="0" indent="0">
                        <a:lnSpc>
                          <a:spcPts val="1820"/>
                        </a:lnSpc>
                        <a:buNone/>
                      </a:pPr>
                      <a:r>
                        <a:rPr lang="en-US" sz="1300" b="1" dirty="0">
                          <a:solidFill>
                            <a:srgbClr val="F0B04A"/>
                          </a:solidFill>
                          <a:latin typeface="DM Sans" pitchFamily="34" charset="0"/>
                          <a:ea typeface="DM Sans" pitchFamily="34" charset="-122"/>
                          <a:cs typeface="DM Sans" pitchFamily="34" charset="-120"/>
                        </a:rPr>
                        <a:t>revenue_from_churned_customers</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FAF6F1"/>
                          </a:solidFill>
                          <a:latin typeface="DM Sans" pitchFamily="34" charset="0"/>
                          <a:ea typeface="DM Sans" pitchFamily="34" charset="-122"/>
                          <a:cs typeface="DM Sans" pitchFamily="34" charset="-120"/>
                        </a:rPr>
                        <a:t>12975977.6165981</a:t>
                      </a:r>
                      <a:endParaRPr lang="en-US" sz="1300" dirty="0">
                        <a:latin typeface="DM Sans" charset="0"/>
                        <a:ea typeface="DM Sans" charset="0"/>
                        <a:cs typeface="DM Sans" charset="0"/>
                      </a:endParaRPr>
                    </a:p>
                  </a:txBody>
                  <a:tcPr marL="57785" marR="57785" marT="57785" marB="57785">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1"/>
                  </a:ext>
                </a:extLst>
              </a:tr>
            </a:tbl>
          </a:graphicData>
        </a:graphic>
      </p:graphicFrame>
      <p:sp>
        <p:nvSpPr>
          <p:cNvPr id="7" name="Text 4"/>
          <p:cNvSpPr/>
          <p:nvPr/>
        </p:nvSpPr>
        <p:spPr>
          <a:xfrm>
            <a:off x="812800" y="3221360"/>
            <a:ext cx="10566400" cy="571500"/>
          </a:xfrm>
          <a:prstGeom prst="roundRect">
            <a:avLst>
              <a:gd name="adj" fmla="val 13333"/>
            </a:avLst>
          </a:prstGeom>
          <a:solidFill>
            <a:srgbClr val="2B2727"/>
          </a:solidFill>
          <a:ln/>
        </p:spPr>
        <p:txBody>
          <a:bodyPr wrap="square" lIns="216442" tIns="130082" rIns="0" bIns="104682" rtlCol="0" anchor="t">
            <a:normAutofit/>
          </a:bodyPr>
          <a:lstStyle/>
          <a:p>
            <a:pPr marL="0" indent="0" algn="l">
              <a:lnSpc>
                <a:spcPts val="2100"/>
              </a:lnSpc>
              <a:buNone/>
            </a:pPr>
            <a:r>
              <a:rPr lang="en-US" sz="1500" dirty="0">
                <a:solidFill>
                  <a:srgbClr val="FAF6F1"/>
                </a:solidFill>
                <a:latin typeface="DM Sans" pitchFamily="34" charset="0"/>
                <a:ea typeface="DM Sans" pitchFamily="34" charset="-122"/>
                <a:cs typeface="DM Sans" pitchFamily="34" charset="-120"/>
              </a:rPr>
              <a:t>Churned customers account for </a:t>
            </a:r>
            <a:r>
              <a:rPr lang="en-US" sz="1500" b="1" dirty="0">
                <a:solidFill>
                  <a:srgbClr val="FAF6F1"/>
                </a:solidFill>
                <a:latin typeface="DM Sans" pitchFamily="34" charset="0"/>
                <a:ea typeface="DM Sans" pitchFamily="34" charset="-122"/>
                <a:cs typeface="DM Sans" pitchFamily="34" charset="-120"/>
              </a:rPr>
              <a:t>₹12.98M</a:t>
            </a:r>
            <a:r>
              <a:rPr lang="en-US" sz="1500" dirty="0">
                <a:solidFill>
                  <a:srgbClr val="FAF6F1"/>
                </a:solidFill>
                <a:latin typeface="DM Sans" pitchFamily="34" charset="0"/>
                <a:ea typeface="DM Sans" pitchFamily="34" charset="-122"/>
                <a:cs typeface="DM Sans" pitchFamily="34" charset="-120"/>
              </a:rPr>
              <a:t> of delivered revenue.</a:t>
            </a:r>
            <a:endParaRPr lang="en-US" sz="1500" dirty="0"/>
          </a:p>
        </p:txBody>
      </p:sp>
      <p:sp>
        <p:nvSpPr>
          <p:cNvPr id="8" name="Shape 5"/>
          <p:cNvSpPr/>
          <p:nvPr/>
        </p:nvSpPr>
        <p:spPr>
          <a:xfrm>
            <a:off x="812800" y="3221360"/>
            <a:ext cx="10566400" cy="571500"/>
          </a:xfrm>
          <a:custGeom>
            <a:avLst/>
            <a:gdLst/>
            <a:ahLst/>
            <a:cxnLst/>
            <a:rect l="l" t="t" r="r" b="b"/>
            <a:pathLst>
              <a:path w="10566400" h="571500">
                <a:moveTo>
                  <a:pt x="76200" y="571500"/>
                </a:moveTo>
                <a:lnTo>
                  <a:pt x="76200" y="571500"/>
                </a:lnTo>
                <a:arcTo wR="76200" hR="76200" stAng="5400000" swAng="5400000"/>
                <a:lnTo>
                  <a:pt x="0" y="76200"/>
                </a:lnTo>
                <a:arcTo wR="76200" hR="76200" stAng="10800000" swAng="5400000"/>
                <a:lnTo>
                  <a:pt x="76200" y="0"/>
                </a:lnTo>
                <a:arcTo wR="38100" hR="76200" stAng="16200000" swAng="-5400000"/>
                <a:lnTo>
                  <a:pt x="38100" y="495300"/>
                </a:lnTo>
                <a:arcTo wR="38100" hR="76200" stAng="10800000" swAng="-5400000"/>
                <a:close/>
              </a:path>
            </a:pathLst>
          </a:custGeom>
          <a:solidFill>
            <a:srgbClr val="F0B04A"/>
          </a:solidFill>
          <a:ln/>
        </p:spPr>
        <p:txBody>
          <a:bodyPr/>
          <a:lstStyle/>
          <a:p>
            <a:endParaRPr lang="en-IN"/>
          </a:p>
        </p:txBody>
      </p:sp>
      <p:sp>
        <p:nvSpPr>
          <p:cNvPr id="9" name="Text 6"/>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4">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8777" y="477808"/>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CUSTOMER CHURN ANALYSIS · QUESTION 5 OF 5</a:t>
            </a:r>
            <a:endParaRPr lang="en-US" sz="1400" dirty="0"/>
          </a:p>
        </p:txBody>
      </p:sp>
      <p:sp>
        <p:nvSpPr>
          <p:cNvPr id="3" name="Text 1"/>
          <p:cNvSpPr>
            <a:spLocks noGrp="1"/>
          </p:cNvSpPr>
          <p:nvPr>
            <p:ph type="title"/>
          </p:nvPr>
        </p:nvSpPr>
        <p:spPr>
          <a:xfrm>
            <a:off x="807313" y="812982"/>
            <a:ext cx="10883392" cy="361315"/>
          </a:xfrm>
          <a:prstGeom prst="rect">
            <a:avLst/>
          </a:prstGeom>
          <a:noFill/>
          <a:ln/>
        </p:spPr>
        <p:txBody>
          <a:bodyPr wrap="square" lIns="0" tIns="0" rIns="0" bIns="0" rtlCol="0" anchor="t">
            <a:normAutofit/>
          </a:bodyPr>
          <a:lstStyle/>
          <a:p>
            <a:pPr marL="0" indent="0" algn="l">
              <a:lnSpc>
                <a:spcPts val="2645"/>
              </a:lnSpc>
              <a:buNone/>
            </a:pPr>
            <a:r>
              <a:rPr lang="en-US" sz="2300" b="1" i="0" dirty="0">
                <a:solidFill>
                  <a:srgbClr val="FAF6F1"/>
                </a:solidFill>
                <a:latin typeface="DM Sans" pitchFamily="34" charset="0"/>
                <a:ea typeface="DM Sans" pitchFamily="34" charset="-122"/>
                <a:cs typeface="DM Sans" pitchFamily="34" charset="-120"/>
              </a:rPr>
              <a:t>Who are the high-value churned customers?</a:t>
            </a:r>
            <a:endParaRPr lang="en-US" sz="2300" dirty="0"/>
          </a:p>
        </p:txBody>
      </p:sp>
      <p:sp>
        <p:nvSpPr>
          <p:cNvPr id="4" name="Shape 2"/>
          <p:cNvSpPr/>
          <p:nvPr/>
        </p:nvSpPr>
        <p:spPr>
          <a:xfrm>
            <a:off x="689661" y="1235152"/>
            <a:ext cx="10560050" cy="5145040"/>
          </a:xfrm>
          <a:prstGeom prst="roundRect">
            <a:avLst>
              <a:gd name="adj" fmla="val 3464"/>
            </a:avLst>
          </a:prstGeom>
          <a:solidFill>
            <a:srgbClr val="141111"/>
          </a:solidFill>
          <a:ln w="6350">
            <a:solidFill>
              <a:srgbClr val="4A4343"/>
            </a:solidFill>
            <a:prstDash val="solid"/>
          </a:ln>
        </p:spPr>
        <p:txBody>
          <a:bodyPr/>
          <a:lstStyle/>
          <a:p>
            <a:endParaRPr lang="en-IN"/>
          </a:p>
        </p:txBody>
      </p:sp>
      <p:sp>
        <p:nvSpPr>
          <p:cNvPr id="5" name="Text 3"/>
          <p:cNvSpPr/>
          <p:nvPr/>
        </p:nvSpPr>
        <p:spPr>
          <a:xfrm>
            <a:off x="954649" y="1409989"/>
            <a:ext cx="10295062" cy="23876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B04A"/>
                </a:solidFill>
                <a:latin typeface="DM Sans" pitchFamily="34" charset="0"/>
                <a:ea typeface="DM Sans" pitchFamily="34" charset="-122"/>
                <a:cs typeface="DM Sans" pitchFamily="34" charset="-120"/>
              </a:rPr>
              <a:t>SQL QUERY</a:t>
            </a:r>
            <a:endParaRPr lang="en-US" sz="1200" dirty="0"/>
          </a:p>
        </p:txBody>
      </p:sp>
      <p:sp>
        <p:nvSpPr>
          <p:cNvPr id="6" name="Text 4"/>
          <p:cNvSpPr/>
          <p:nvPr/>
        </p:nvSpPr>
        <p:spPr>
          <a:xfrm>
            <a:off x="942289" y="1678572"/>
            <a:ext cx="4835953" cy="3778833"/>
          </a:xfrm>
          <a:prstGeom prst="rect">
            <a:avLst/>
          </a:prstGeom>
          <a:noFill/>
          <a:ln/>
        </p:spPr>
        <p:txBody>
          <a:bodyPr wrap="square" lIns="0" tIns="0" rIns="0" bIns="0" rtlCol="0" anchor="t">
            <a:noAutofit/>
          </a:bodyPr>
          <a:lstStyle/>
          <a:p>
            <a:pPr>
              <a:lnSpc>
                <a:spcPts val="1560"/>
              </a:lnSpc>
            </a:pPr>
            <a:r>
              <a:rPr lang="en-IN" sz="1200" dirty="0">
                <a:solidFill>
                  <a:srgbClr val="E8DFD6"/>
                </a:solidFill>
                <a:latin typeface="Courier New" pitchFamily="49" charset="0"/>
                <a:cs typeface="Courier New" pitchFamily="49" charset="-120"/>
              </a:rPr>
              <a:t>WITH </a:t>
            </a:r>
            <a:r>
              <a:rPr lang="en-IN" sz="1200" dirty="0" err="1">
                <a:solidFill>
                  <a:srgbClr val="E8DFD6"/>
                </a:solidFill>
                <a:latin typeface="Courier New" pitchFamily="49" charset="0"/>
                <a:cs typeface="Courier New" pitchFamily="49" charset="-120"/>
              </a:rPr>
              <a:t>last_order</a:t>
            </a:r>
            <a:r>
              <a:rPr lang="en-IN" sz="1200" dirty="0">
                <a:solidFill>
                  <a:srgbClr val="E8DFD6"/>
                </a:solidFill>
                <a:latin typeface="Courier New" pitchFamily="49" charset="0"/>
                <a:cs typeface="Courier New" pitchFamily="49" charset="-120"/>
              </a:rPr>
              <a:t> AS (</a:t>
            </a:r>
          </a:p>
          <a:p>
            <a:pPr>
              <a:lnSpc>
                <a:spcPts val="1560"/>
              </a:lnSpc>
            </a:pPr>
            <a:r>
              <a:rPr lang="en-IN" sz="1200" dirty="0">
                <a:solidFill>
                  <a:srgbClr val="E8DFD6"/>
                </a:solidFill>
                <a:latin typeface="Courier New" pitchFamily="49" charset="0"/>
                <a:cs typeface="Courier New" pitchFamily="49" charset="-120"/>
              </a:rPr>
              <a:t>    SELECT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customer_id</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MAX(</a:t>
            </a:r>
            <a:r>
              <a:rPr lang="en-IN" sz="1200" dirty="0" err="1">
                <a:solidFill>
                  <a:srgbClr val="E8DFD6"/>
                </a:solidFill>
                <a:latin typeface="Courier New" pitchFamily="49" charset="0"/>
                <a:cs typeface="Courier New" pitchFamily="49" charset="-120"/>
              </a:rPr>
              <a:t>order_timestamp</a:t>
            </a:r>
            <a:r>
              <a:rPr lang="en-IN" sz="1200" dirty="0">
                <a:solidFill>
                  <a:srgbClr val="E8DFD6"/>
                </a:solidFill>
                <a:latin typeface="Courier New" pitchFamily="49" charset="0"/>
                <a:cs typeface="Courier New" pitchFamily="49" charset="-120"/>
              </a:rPr>
              <a:t>) AS </a:t>
            </a:r>
            <a:r>
              <a:rPr lang="en-IN" sz="1200" dirty="0" err="1">
                <a:solidFill>
                  <a:srgbClr val="E8DFD6"/>
                </a:solidFill>
                <a:latin typeface="Courier New" pitchFamily="49" charset="0"/>
                <a:cs typeface="Courier New" pitchFamily="49" charset="-120"/>
              </a:rPr>
              <a:t>last_order_date</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FROM orders</a:t>
            </a:r>
          </a:p>
          <a:p>
            <a:pPr>
              <a:lnSpc>
                <a:spcPts val="1560"/>
              </a:lnSpc>
            </a:pPr>
            <a:r>
              <a:rPr lang="en-IN" sz="1200" dirty="0">
                <a:solidFill>
                  <a:srgbClr val="E8DFD6"/>
                </a:solidFill>
                <a:latin typeface="Courier New" pitchFamily="49" charset="0"/>
                <a:cs typeface="Courier New" pitchFamily="49" charset="-120"/>
              </a:rPr>
              <a:t>    WHERE </a:t>
            </a:r>
            <a:r>
              <a:rPr lang="en-IN" sz="1200" dirty="0" err="1">
                <a:solidFill>
                  <a:srgbClr val="E8DFD6"/>
                </a:solidFill>
                <a:latin typeface="Courier New" pitchFamily="49" charset="0"/>
                <a:cs typeface="Courier New" pitchFamily="49" charset="-120"/>
              </a:rPr>
              <a:t>order_status</a:t>
            </a:r>
            <a:r>
              <a:rPr lang="en-IN" sz="1200" dirty="0">
                <a:solidFill>
                  <a:srgbClr val="E8DFD6"/>
                </a:solidFill>
                <a:latin typeface="Courier New" pitchFamily="49" charset="0"/>
                <a:cs typeface="Courier New" pitchFamily="49" charset="-120"/>
              </a:rPr>
              <a:t> = 'Delivered'</a:t>
            </a:r>
          </a:p>
          <a:p>
            <a:pPr>
              <a:lnSpc>
                <a:spcPts val="1560"/>
              </a:lnSpc>
            </a:pPr>
            <a:r>
              <a:rPr lang="en-IN" sz="1200" dirty="0">
                <a:solidFill>
                  <a:srgbClr val="E8DFD6"/>
                </a:solidFill>
                <a:latin typeface="Courier New" pitchFamily="49" charset="0"/>
                <a:cs typeface="Courier New" pitchFamily="49" charset="-120"/>
              </a:rPr>
              <a:t>    GROUP BY </a:t>
            </a:r>
            <a:r>
              <a:rPr lang="en-IN" sz="1200" dirty="0" err="1">
                <a:solidFill>
                  <a:srgbClr val="E8DFD6"/>
                </a:solidFill>
                <a:latin typeface="Courier New" pitchFamily="49" charset="0"/>
                <a:cs typeface="Courier New" pitchFamily="49" charset="-120"/>
              </a:rPr>
              <a:t>customer_id</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a:t>
            </a:r>
          </a:p>
          <a:p>
            <a:pPr>
              <a:lnSpc>
                <a:spcPts val="1560"/>
              </a:lnSpc>
            </a:pPr>
            <a:r>
              <a:rPr lang="en-IN" sz="1200" dirty="0" err="1">
                <a:solidFill>
                  <a:srgbClr val="E8DFD6"/>
                </a:solidFill>
                <a:latin typeface="Courier New" pitchFamily="49" charset="0"/>
                <a:cs typeface="Courier New" pitchFamily="49" charset="-120"/>
              </a:rPr>
              <a:t>churned_customers</a:t>
            </a:r>
            <a:r>
              <a:rPr lang="en-IN" sz="1200" dirty="0">
                <a:solidFill>
                  <a:srgbClr val="E8DFD6"/>
                </a:solidFill>
                <a:latin typeface="Courier New" pitchFamily="49" charset="0"/>
                <a:cs typeface="Courier New" pitchFamily="49" charset="-120"/>
              </a:rPr>
              <a:t> AS (</a:t>
            </a:r>
          </a:p>
          <a:p>
            <a:pPr>
              <a:lnSpc>
                <a:spcPts val="1560"/>
              </a:lnSpc>
            </a:pPr>
            <a:r>
              <a:rPr lang="en-IN" sz="1200" dirty="0">
                <a:solidFill>
                  <a:srgbClr val="E8DFD6"/>
                </a:solidFill>
                <a:latin typeface="Courier New" pitchFamily="49" charset="0"/>
                <a:cs typeface="Courier New" pitchFamily="49" charset="-120"/>
              </a:rPr>
              <a:t>    SELECT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c.Customer_id</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c.Customer_name</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c.City</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l.last_order_date</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FROM customers c</a:t>
            </a:r>
          </a:p>
          <a:p>
            <a:pPr>
              <a:lnSpc>
                <a:spcPts val="1560"/>
              </a:lnSpc>
            </a:pPr>
            <a:r>
              <a:rPr lang="en-IN" sz="1200" dirty="0">
                <a:solidFill>
                  <a:srgbClr val="E8DFD6"/>
                </a:solidFill>
                <a:latin typeface="Courier New" pitchFamily="49" charset="0"/>
                <a:cs typeface="Courier New" pitchFamily="49" charset="-120"/>
              </a:rPr>
              <a:t>    LEFT JOIN </a:t>
            </a:r>
            <a:r>
              <a:rPr lang="en-IN" sz="1200" dirty="0" err="1">
                <a:solidFill>
                  <a:srgbClr val="E8DFD6"/>
                </a:solidFill>
                <a:latin typeface="Courier New" pitchFamily="49" charset="0"/>
                <a:cs typeface="Courier New" pitchFamily="49" charset="-120"/>
              </a:rPr>
              <a:t>last_order</a:t>
            </a:r>
            <a:r>
              <a:rPr lang="en-IN" sz="1200" dirty="0">
                <a:solidFill>
                  <a:srgbClr val="E8DFD6"/>
                </a:solidFill>
                <a:latin typeface="Courier New" pitchFamily="49" charset="0"/>
                <a:cs typeface="Courier New" pitchFamily="49" charset="-120"/>
              </a:rPr>
              <a:t> l</a:t>
            </a:r>
          </a:p>
          <a:p>
            <a:pPr>
              <a:lnSpc>
                <a:spcPts val="1560"/>
              </a:lnSpc>
            </a:pPr>
            <a:r>
              <a:rPr lang="en-IN" sz="1200" dirty="0">
                <a:solidFill>
                  <a:srgbClr val="E8DFD6"/>
                </a:solidFill>
                <a:latin typeface="Courier New" pitchFamily="49" charset="0"/>
                <a:cs typeface="Courier New" pitchFamily="49" charset="-120"/>
              </a:rPr>
              <a:t>        ON </a:t>
            </a:r>
            <a:r>
              <a:rPr lang="en-IN" sz="1200" dirty="0" err="1">
                <a:solidFill>
                  <a:srgbClr val="E8DFD6"/>
                </a:solidFill>
                <a:latin typeface="Courier New" pitchFamily="49" charset="0"/>
                <a:cs typeface="Courier New" pitchFamily="49" charset="-120"/>
              </a:rPr>
              <a:t>c.Customer_id</a:t>
            </a:r>
            <a:r>
              <a:rPr lang="en-IN" sz="1200" dirty="0">
                <a:solidFill>
                  <a:srgbClr val="E8DFD6"/>
                </a:solidFill>
                <a:latin typeface="Courier New" pitchFamily="49" charset="0"/>
                <a:cs typeface="Courier New" pitchFamily="49" charset="-120"/>
              </a:rPr>
              <a:t> = </a:t>
            </a:r>
            <a:r>
              <a:rPr lang="en-IN" sz="1200" dirty="0" err="1">
                <a:solidFill>
                  <a:srgbClr val="E8DFD6"/>
                </a:solidFill>
                <a:latin typeface="Courier New" pitchFamily="49" charset="0"/>
                <a:cs typeface="Courier New" pitchFamily="49" charset="-120"/>
              </a:rPr>
              <a:t>l.customer_id</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WHERE </a:t>
            </a:r>
            <a:r>
              <a:rPr lang="en-IN" sz="1200" dirty="0" err="1">
                <a:solidFill>
                  <a:srgbClr val="E8DFD6"/>
                </a:solidFill>
                <a:latin typeface="Courier New" pitchFamily="49" charset="0"/>
                <a:cs typeface="Courier New" pitchFamily="49" charset="-120"/>
              </a:rPr>
              <a:t>l.last_order_date</a:t>
            </a:r>
            <a:r>
              <a:rPr lang="en-IN" sz="1200" dirty="0">
                <a:solidFill>
                  <a:srgbClr val="E8DFD6"/>
                </a:solidFill>
                <a:latin typeface="Courier New" pitchFamily="49" charset="0"/>
                <a:cs typeface="Courier New" pitchFamily="49" charset="-120"/>
              </a:rPr>
              <a:t> &lt; DATEADD(DAY, -90, '2026-04-30')</a:t>
            </a:r>
          </a:p>
          <a:p>
            <a:pPr>
              <a:lnSpc>
                <a:spcPts val="1560"/>
              </a:lnSpc>
            </a:pPr>
            <a:r>
              <a:rPr lang="en-IN" sz="1200" dirty="0">
                <a:solidFill>
                  <a:srgbClr val="E8DFD6"/>
                </a:solidFill>
                <a:latin typeface="Courier New" pitchFamily="49" charset="0"/>
                <a:cs typeface="Courier New" pitchFamily="49" charset="-120"/>
              </a:rPr>
              <a:t>       OR </a:t>
            </a:r>
            <a:r>
              <a:rPr lang="en-IN" sz="1200" dirty="0" err="1">
                <a:solidFill>
                  <a:srgbClr val="E8DFD6"/>
                </a:solidFill>
                <a:latin typeface="Courier New" pitchFamily="49" charset="0"/>
                <a:cs typeface="Courier New" pitchFamily="49" charset="-120"/>
              </a:rPr>
              <a:t>l.last_order_date</a:t>
            </a:r>
            <a:r>
              <a:rPr lang="en-IN" sz="1200" dirty="0">
                <a:solidFill>
                  <a:srgbClr val="E8DFD6"/>
                </a:solidFill>
                <a:latin typeface="Courier New" pitchFamily="49" charset="0"/>
                <a:cs typeface="Courier New" pitchFamily="49" charset="-120"/>
              </a:rPr>
              <a:t> IS NULL</a:t>
            </a:r>
          </a:p>
          <a:p>
            <a:pPr>
              <a:lnSpc>
                <a:spcPts val="1560"/>
              </a:lnSpc>
            </a:pPr>
            <a:r>
              <a:rPr lang="en-IN" sz="1200" dirty="0">
                <a:solidFill>
                  <a:srgbClr val="E8DFD6"/>
                </a:solidFill>
                <a:latin typeface="Courier New" pitchFamily="49" charset="0"/>
                <a:cs typeface="Courier New" pitchFamily="49" charset="-120"/>
              </a:rPr>
              <a:t>),</a:t>
            </a:r>
          </a:p>
          <a:p>
            <a:br>
              <a:rPr lang="en-IN" sz="1100" dirty="0"/>
            </a:br>
            <a:endParaRPr lang="en-US" sz="1100" dirty="0"/>
          </a:p>
        </p:txBody>
      </p:sp>
      <p:sp>
        <p:nvSpPr>
          <p:cNvPr id="7" name="Text 5"/>
          <p:cNvSpPr/>
          <p:nvPr/>
        </p:nvSpPr>
        <p:spPr>
          <a:xfrm>
            <a:off x="6142820" y="1323814"/>
            <a:ext cx="5547885" cy="5056378"/>
          </a:xfrm>
          <a:prstGeom prst="rect">
            <a:avLst/>
          </a:prstGeom>
          <a:noFill/>
          <a:ln/>
        </p:spPr>
        <p:txBody>
          <a:bodyPr wrap="square" lIns="0" tIns="0" rIns="0" bIns="0" rtlCol="0" anchor="t">
            <a:noAutofit/>
          </a:bodyPr>
          <a:lstStyle/>
          <a:p>
            <a:pPr>
              <a:lnSpc>
                <a:spcPts val="1560"/>
              </a:lnSpc>
            </a:pPr>
            <a:r>
              <a:rPr lang="en-IN" sz="1200" dirty="0" err="1">
                <a:solidFill>
                  <a:srgbClr val="E8DFD6"/>
                </a:solidFill>
                <a:latin typeface="Courier New" pitchFamily="49" charset="0"/>
                <a:cs typeface="Courier New" pitchFamily="49" charset="-120"/>
              </a:rPr>
              <a:t>customer_revenue</a:t>
            </a:r>
            <a:r>
              <a:rPr lang="en-IN" sz="1200" dirty="0">
                <a:solidFill>
                  <a:srgbClr val="E8DFD6"/>
                </a:solidFill>
                <a:latin typeface="Courier New" pitchFamily="49" charset="0"/>
                <a:cs typeface="Courier New" pitchFamily="49" charset="-120"/>
              </a:rPr>
              <a:t> AS (</a:t>
            </a:r>
          </a:p>
          <a:p>
            <a:pPr>
              <a:lnSpc>
                <a:spcPts val="1560"/>
              </a:lnSpc>
            </a:pPr>
            <a:r>
              <a:rPr lang="en-IN" sz="1200" dirty="0">
                <a:solidFill>
                  <a:srgbClr val="E8DFD6"/>
                </a:solidFill>
                <a:latin typeface="Courier New" pitchFamily="49" charset="0"/>
                <a:cs typeface="Courier New" pitchFamily="49" charset="-120"/>
              </a:rPr>
              <a:t>    SELECT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o.customer_id</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SUM(</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o.order_amount</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 </a:t>
            </a:r>
            <a:r>
              <a:rPr lang="en-IN" sz="1200" dirty="0" err="1">
                <a:solidFill>
                  <a:srgbClr val="E8DFD6"/>
                </a:solidFill>
                <a:latin typeface="Courier New" pitchFamily="49" charset="0"/>
                <a:cs typeface="Courier New" pitchFamily="49" charset="-120"/>
              </a:rPr>
              <a:t>o.discount_amount</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 </a:t>
            </a:r>
            <a:r>
              <a:rPr lang="en-IN" sz="1200" dirty="0" err="1">
                <a:solidFill>
                  <a:srgbClr val="E8DFD6"/>
                </a:solidFill>
                <a:latin typeface="Courier New" pitchFamily="49" charset="0"/>
                <a:cs typeface="Courier New" pitchFamily="49" charset="-120"/>
              </a:rPr>
              <a:t>o.delivery_fee</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 AS </a:t>
            </a:r>
            <a:r>
              <a:rPr lang="en-IN" sz="1200" dirty="0" err="1">
                <a:solidFill>
                  <a:srgbClr val="E8DFD6"/>
                </a:solidFill>
                <a:latin typeface="Courier New" pitchFamily="49" charset="0"/>
                <a:cs typeface="Courier New" pitchFamily="49" charset="-120"/>
              </a:rPr>
              <a:t>lost_revenue</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COUNT(</a:t>
            </a:r>
            <a:r>
              <a:rPr lang="en-IN" sz="1200" dirty="0" err="1">
                <a:solidFill>
                  <a:srgbClr val="E8DFD6"/>
                </a:solidFill>
                <a:latin typeface="Courier New" pitchFamily="49" charset="0"/>
                <a:cs typeface="Courier New" pitchFamily="49" charset="-120"/>
              </a:rPr>
              <a:t>o.order_id</a:t>
            </a:r>
            <a:r>
              <a:rPr lang="en-IN" sz="1200" dirty="0">
                <a:solidFill>
                  <a:srgbClr val="E8DFD6"/>
                </a:solidFill>
                <a:latin typeface="Courier New" pitchFamily="49" charset="0"/>
                <a:cs typeface="Courier New" pitchFamily="49" charset="-120"/>
              </a:rPr>
              <a:t>) AS </a:t>
            </a:r>
            <a:r>
              <a:rPr lang="en-IN" sz="1200" dirty="0" err="1">
                <a:solidFill>
                  <a:srgbClr val="E8DFD6"/>
                </a:solidFill>
                <a:latin typeface="Courier New" pitchFamily="49" charset="0"/>
                <a:cs typeface="Courier New" pitchFamily="49" charset="-120"/>
              </a:rPr>
              <a:t>delivered_orders</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    FROM orders o</a:t>
            </a:r>
          </a:p>
          <a:p>
            <a:pPr>
              <a:lnSpc>
                <a:spcPts val="1560"/>
              </a:lnSpc>
            </a:pPr>
            <a:r>
              <a:rPr lang="en-IN" sz="1200" dirty="0">
                <a:solidFill>
                  <a:srgbClr val="E8DFD6"/>
                </a:solidFill>
                <a:latin typeface="Courier New" pitchFamily="49" charset="0"/>
                <a:cs typeface="Courier New" pitchFamily="49" charset="-120"/>
              </a:rPr>
              <a:t>    WHERE </a:t>
            </a:r>
            <a:r>
              <a:rPr lang="en-IN" sz="1200" dirty="0" err="1">
                <a:solidFill>
                  <a:srgbClr val="E8DFD6"/>
                </a:solidFill>
                <a:latin typeface="Courier New" pitchFamily="49" charset="0"/>
                <a:cs typeface="Courier New" pitchFamily="49" charset="-120"/>
              </a:rPr>
              <a:t>o.order_status</a:t>
            </a:r>
            <a:r>
              <a:rPr lang="en-IN" sz="1200" dirty="0">
                <a:solidFill>
                  <a:srgbClr val="E8DFD6"/>
                </a:solidFill>
                <a:latin typeface="Courier New" pitchFamily="49" charset="0"/>
                <a:cs typeface="Courier New" pitchFamily="49" charset="-120"/>
              </a:rPr>
              <a:t> = 'Delivered'</a:t>
            </a:r>
          </a:p>
          <a:p>
            <a:pPr>
              <a:lnSpc>
                <a:spcPts val="1560"/>
              </a:lnSpc>
            </a:pPr>
            <a:r>
              <a:rPr lang="en-IN" sz="1200" dirty="0">
                <a:solidFill>
                  <a:srgbClr val="E8DFD6"/>
                </a:solidFill>
                <a:latin typeface="Courier New" pitchFamily="49" charset="0"/>
                <a:cs typeface="Courier New" pitchFamily="49" charset="-120"/>
              </a:rPr>
              <a:t>    GROUP BY </a:t>
            </a:r>
            <a:r>
              <a:rPr lang="en-IN" sz="1200" dirty="0" err="1">
                <a:solidFill>
                  <a:srgbClr val="E8DFD6"/>
                </a:solidFill>
                <a:latin typeface="Courier New" pitchFamily="49" charset="0"/>
                <a:cs typeface="Courier New" pitchFamily="49" charset="-120"/>
              </a:rPr>
              <a:t>o.customer_id</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SELECT TOP 10</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c.Customer_id</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c.Customer_name</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c.City</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r.lost_revenue</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r.delivered_orders</a:t>
            </a:r>
            <a:r>
              <a:rPr lang="en-IN" sz="1200" dirty="0">
                <a:solidFill>
                  <a:srgbClr val="E8DFD6"/>
                </a:solidFill>
                <a:latin typeface="Courier New" pitchFamily="49" charset="0"/>
                <a:cs typeface="Courier New" pitchFamily="49" charset="-120"/>
              </a:rPr>
              <a:t>,</a:t>
            </a:r>
          </a:p>
          <a:p>
            <a:pPr>
              <a:lnSpc>
                <a:spcPts val="1560"/>
              </a:lnSpc>
            </a:pPr>
            <a:r>
              <a:rPr lang="en-IN" sz="1200" dirty="0">
                <a:solidFill>
                  <a:srgbClr val="E8DFD6"/>
                </a:solidFill>
                <a:latin typeface="Courier New" pitchFamily="49" charset="0"/>
                <a:cs typeface="Courier New" pitchFamily="49" charset="-120"/>
              </a:rPr>
              <a:t>    </a:t>
            </a:r>
            <a:r>
              <a:rPr lang="en-IN" sz="1200" dirty="0" err="1">
                <a:solidFill>
                  <a:srgbClr val="E8DFD6"/>
                </a:solidFill>
                <a:latin typeface="Courier New" pitchFamily="49" charset="0"/>
                <a:cs typeface="Courier New" pitchFamily="49" charset="-120"/>
              </a:rPr>
              <a:t>c.last_order_date</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FROM </a:t>
            </a:r>
            <a:r>
              <a:rPr lang="en-IN" sz="1200" dirty="0" err="1">
                <a:solidFill>
                  <a:srgbClr val="E8DFD6"/>
                </a:solidFill>
                <a:latin typeface="Courier New" pitchFamily="49" charset="0"/>
                <a:cs typeface="Courier New" pitchFamily="49" charset="-120"/>
              </a:rPr>
              <a:t>churned_customers</a:t>
            </a:r>
            <a:r>
              <a:rPr lang="en-IN" sz="1200" dirty="0">
                <a:solidFill>
                  <a:srgbClr val="E8DFD6"/>
                </a:solidFill>
                <a:latin typeface="Courier New" pitchFamily="49" charset="0"/>
                <a:cs typeface="Courier New" pitchFamily="49" charset="-120"/>
              </a:rPr>
              <a:t> c</a:t>
            </a:r>
          </a:p>
          <a:p>
            <a:pPr>
              <a:lnSpc>
                <a:spcPts val="1560"/>
              </a:lnSpc>
            </a:pPr>
            <a:r>
              <a:rPr lang="en-IN" sz="1200" dirty="0">
                <a:solidFill>
                  <a:srgbClr val="E8DFD6"/>
                </a:solidFill>
                <a:latin typeface="Courier New" pitchFamily="49" charset="0"/>
                <a:cs typeface="Courier New" pitchFamily="49" charset="-120"/>
              </a:rPr>
              <a:t>JOIN </a:t>
            </a:r>
            <a:r>
              <a:rPr lang="en-IN" sz="1200" dirty="0" err="1">
                <a:solidFill>
                  <a:srgbClr val="E8DFD6"/>
                </a:solidFill>
                <a:latin typeface="Courier New" pitchFamily="49" charset="0"/>
                <a:cs typeface="Courier New" pitchFamily="49" charset="-120"/>
              </a:rPr>
              <a:t>customer_revenue</a:t>
            </a:r>
            <a:r>
              <a:rPr lang="en-IN" sz="1200" dirty="0">
                <a:solidFill>
                  <a:srgbClr val="E8DFD6"/>
                </a:solidFill>
                <a:latin typeface="Courier New" pitchFamily="49" charset="0"/>
                <a:cs typeface="Courier New" pitchFamily="49" charset="-120"/>
              </a:rPr>
              <a:t> r</a:t>
            </a:r>
          </a:p>
          <a:p>
            <a:pPr>
              <a:lnSpc>
                <a:spcPts val="1560"/>
              </a:lnSpc>
            </a:pPr>
            <a:r>
              <a:rPr lang="en-IN" sz="1200" dirty="0">
                <a:solidFill>
                  <a:srgbClr val="E8DFD6"/>
                </a:solidFill>
                <a:latin typeface="Courier New" pitchFamily="49" charset="0"/>
                <a:cs typeface="Courier New" pitchFamily="49" charset="-120"/>
              </a:rPr>
              <a:t>    ON </a:t>
            </a:r>
            <a:r>
              <a:rPr lang="en-IN" sz="1200" dirty="0" err="1">
                <a:solidFill>
                  <a:srgbClr val="E8DFD6"/>
                </a:solidFill>
                <a:latin typeface="Courier New" pitchFamily="49" charset="0"/>
                <a:cs typeface="Courier New" pitchFamily="49" charset="-120"/>
              </a:rPr>
              <a:t>c.Customer_id</a:t>
            </a:r>
            <a:r>
              <a:rPr lang="en-IN" sz="1200" dirty="0">
                <a:solidFill>
                  <a:srgbClr val="E8DFD6"/>
                </a:solidFill>
                <a:latin typeface="Courier New" pitchFamily="49" charset="0"/>
                <a:cs typeface="Courier New" pitchFamily="49" charset="-120"/>
              </a:rPr>
              <a:t> = </a:t>
            </a:r>
            <a:r>
              <a:rPr lang="en-IN" sz="1200" dirty="0" err="1">
                <a:solidFill>
                  <a:srgbClr val="E8DFD6"/>
                </a:solidFill>
                <a:latin typeface="Courier New" pitchFamily="49" charset="0"/>
                <a:cs typeface="Courier New" pitchFamily="49" charset="-120"/>
              </a:rPr>
              <a:t>r.customer_id</a:t>
            </a:r>
            <a:endParaRPr lang="en-IN" sz="1200" dirty="0">
              <a:solidFill>
                <a:srgbClr val="E8DFD6"/>
              </a:solidFill>
              <a:latin typeface="Courier New" pitchFamily="49" charset="0"/>
              <a:cs typeface="Courier New" pitchFamily="49" charset="-120"/>
            </a:endParaRPr>
          </a:p>
          <a:p>
            <a:pPr>
              <a:lnSpc>
                <a:spcPts val="1560"/>
              </a:lnSpc>
            </a:pPr>
            <a:r>
              <a:rPr lang="en-IN" sz="1200" dirty="0">
                <a:solidFill>
                  <a:srgbClr val="E8DFD6"/>
                </a:solidFill>
                <a:latin typeface="Courier New" pitchFamily="49" charset="0"/>
                <a:cs typeface="Courier New" pitchFamily="49" charset="-120"/>
              </a:rPr>
              <a:t>ORDER BY </a:t>
            </a:r>
            <a:r>
              <a:rPr lang="en-IN" sz="1200" dirty="0" err="1">
                <a:solidFill>
                  <a:srgbClr val="E8DFD6"/>
                </a:solidFill>
                <a:latin typeface="Courier New" pitchFamily="49" charset="0"/>
                <a:cs typeface="Courier New" pitchFamily="49" charset="-120"/>
              </a:rPr>
              <a:t>r.lost_revenue</a:t>
            </a:r>
            <a:r>
              <a:rPr lang="en-IN" sz="1200" dirty="0">
                <a:solidFill>
                  <a:srgbClr val="E8DFD6"/>
                </a:solidFill>
                <a:latin typeface="Courier New" pitchFamily="49" charset="0"/>
                <a:cs typeface="Courier New" pitchFamily="49" charset="-120"/>
              </a:rPr>
              <a:t> DESC;</a:t>
            </a:r>
          </a:p>
          <a:p>
            <a:br>
              <a:rPr lang="en-IN" sz="1100" dirty="0"/>
            </a:br>
            <a:endParaRPr lang="en-US" sz="1100" dirty="0"/>
          </a:p>
        </p:txBody>
      </p:sp>
      <p:sp>
        <p:nvSpPr>
          <p:cNvPr id="8" name="Text 6"/>
          <p:cNvSpPr/>
          <p:nvPr/>
        </p:nvSpPr>
        <p:spPr>
          <a:xfrm>
            <a:off x="689661" y="6542528"/>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67017"/>
          </a:xfrm>
          <a:prstGeom prst="rect">
            <a:avLst/>
          </a:prstGeom>
          <a:noFill/>
          <a:ln/>
        </p:spPr>
        <p:txBody>
          <a:bodyPr wrap="square" lIns="0" tIns="0" rIns="0" bIns="0" rtlCol="0" anchor="t">
            <a:normAutofit/>
          </a:bodyPr>
          <a:lstStyle/>
          <a:p>
            <a:pPr marL="0" indent="0" algn="l">
              <a:lnSpc>
                <a:spcPts val="1923"/>
              </a:lnSpc>
              <a:buNone/>
            </a:pPr>
            <a:r>
              <a:rPr lang="en-US" sz="1374" b="1" kern="0" spc="200" dirty="0">
                <a:solidFill>
                  <a:srgbClr val="F0B04A"/>
                </a:solidFill>
                <a:latin typeface="DM Sans" pitchFamily="34" charset="0"/>
                <a:ea typeface="DM Sans" pitchFamily="34" charset="-122"/>
                <a:cs typeface="DM Sans" pitchFamily="34" charset="-120"/>
              </a:rPr>
              <a:t>CUSTOMER CHURN ANALYSIS · QUESTION 5 OF 5 · OUTPUT</a:t>
            </a:r>
            <a:endParaRPr lang="en-US" sz="1374" dirty="0"/>
          </a:p>
        </p:txBody>
      </p:sp>
      <p:sp>
        <p:nvSpPr>
          <p:cNvPr id="3" name="Text 1"/>
          <p:cNvSpPr>
            <a:spLocks noGrp="1"/>
          </p:cNvSpPr>
          <p:nvPr>
            <p:ph type="title"/>
          </p:nvPr>
        </p:nvSpPr>
        <p:spPr>
          <a:xfrm>
            <a:off x="812800" y="1130622"/>
            <a:ext cx="10883392" cy="351393"/>
          </a:xfrm>
          <a:prstGeom prst="rect">
            <a:avLst/>
          </a:prstGeom>
          <a:noFill/>
          <a:ln/>
        </p:spPr>
        <p:txBody>
          <a:bodyPr wrap="square" lIns="0" tIns="0" rIns="0" bIns="0" rtlCol="0" anchor="t">
            <a:normAutofit/>
          </a:bodyPr>
          <a:lstStyle/>
          <a:p>
            <a:pPr marL="0" indent="0" algn="l">
              <a:lnSpc>
                <a:spcPts val="2571"/>
              </a:lnSpc>
              <a:buNone/>
            </a:pPr>
            <a:r>
              <a:rPr lang="en-US" sz="2235" b="1" i="0" dirty="0">
                <a:solidFill>
                  <a:srgbClr val="FAF6F1"/>
                </a:solidFill>
                <a:latin typeface="DM Sans" pitchFamily="34" charset="0"/>
                <a:ea typeface="DM Sans" pitchFamily="34" charset="-122"/>
                <a:cs typeface="DM Sans" pitchFamily="34" charset="-120"/>
              </a:rPr>
              <a:t>Who are the high-value churned customers?</a:t>
            </a:r>
            <a:endParaRPr lang="en-US" sz="2235" dirty="0"/>
          </a:p>
        </p:txBody>
      </p:sp>
      <p:sp>
        <p:nvSpPr>
          <p:cNvPr id="4" name="Shape 2"/>
          <p:cNvSpPr/>
          <p:nvPr/>
        </p:nvSpPr>
        <p:spPr>
          <a:xfrm>
            <a:off x="815975" y="1637581"/>
            <a:ext cx="10560050" cy="4201239"/>
          </a:xfrm>
          <a:prstGeom prst="roundRect">
            <a:avLst>
              <a:gd name="adj" fmla="val 2343"/>
            </a:avLst>
          </a:prstGeom>
          <a:solidFill>
            <a:srgbClr val="2B2727"/>
          </a:solidFill>
          <a:ln w="6350">
            <a:solidFill>
              <a:srgbClr val="4A4343"/>
            </a:solidFill>
            <a:prstDash val="solid"/>
          </a:ln>
        </p:spPr>
        <p:txBody>
          <a:bodyPr/>
          <a:lstStyle/>
          <a:p>
            <a:endParaRPr lang="en-IN"/>
          </a:p>
        </p:txBody>
      </p:sp>
      <p:sp>
        <p:nvSpPr>
          <p:cNvPr id="5" name="Text 3"/>
          <p:cNvSpPr/>
          <p:nvPr/>
        </p:nvSpPr>
        <p:spPr>
          <a:xfrm>
            <a:off x="995680" y="1817291"/>
            <a:ext cx="10506659" cy="233045"/>
          </a:xfrm>
          <a:prstGeom prst="rect">
            <a:avLst/>
          </a:prstGeom>
          <a:noFill/>
          <a:ln/>
        </p:spPr>
        <p:txBody>
          <a:bodyPr wrap="square" lIns="0" tIns="0" rIns="0" bIns="0" rtlCol="0" anchor="t">
            <a:normAutofit/>
          </a:bodyPr>
          <a:lstStyle/>
          <a:p>
            <a:pPr marL="0" indent="0" algn="l">
              <a:lnSpc>
                <a:spcPts val="1675"/>
              </a:lnSpc>
              <a:buNone/>
            </a:pPr>
            <a:r>
              <a:rPr lang="en-US" sz="1196" b="1" kern="0" spc="100" dirty="0">
                <a:solidFill>
                  <a:srgbClr val="F0B04A"/>
                </a:solidFill>
                <a:latin typeface="DM Sans" pitchFamily="34" charset="0"/>
                <a:ea typeface="DM Sans" pitchFamily="34" charset="-122"/>
                <a:cs typeface="DM Sans" pitchFamily="34" charset="-120"/>
              </a:rPr>
              <a:t>OUTPUT</a:t>
            </a:r>
            <a:endParaRPr lang="en-US" sz="1196"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1005840" y="2123991"/>
          <a:ext cx="9895840" cy="3535121"/>
        </p:xfrm>
        <a:graphic>
          <a:graphicData uri="http://schemas.openxmlformats.org/drawingml/2006/table">
            <a:tbl>
              <a:tblPr/>
              <a:tblGrid>
                <a:gridCol w="1187501">
                  <a:extLst>
                    <a:ext uri="{9D8B030D-6E8A-4147-A177-3AD203B41FA5}">
                      <a16:colId xmlns:a16="http://schemas.microsoft.com/office/drawing/2014/main" val="20000"/>
                    </a:ext>
                  </a:extLst>
                </a:gridCol>
                <a:gridCol w="1484376">
                  <a:extLst>
                    <a:ext uri="{9D8B030D-6E8A-4147-A177-3AD203B41FA5}">
                      <a16:colId xmlns:a16="http://schemas.microsoft.com/office/drawing/2014/main" val="20001"/>
                    </a:ext>
                  </a:extLst>
                </a:gridCol>
                <a:gridCol w="1187501">
                  <a:extLst>
                    <a:ext uri="{9D8B030D-6E8A-4147-A177-3AD203B41FA5}">
                      <a16:colId xmlns:a16="http://schemas.microsoft.com/office/drawing/2014/main" val="20002"/>
                    </a:ext>
                  </a:extLst>
                </a:gridCol>
                <a:gridCol w="1979168">
                  <a:extLst>
                    <a:ext uri="{9D8B030D-6E8A-4147-A177-3AD203B41FA5}">
                      <a16:colId xmlns:a16="http://schemas.microsoft.com/office/drawing/2014/main" val="20003"/>
                    </a:ext>
                  </a:extLst>
                </a:gridCol>
                <a:gridCol w="1979168">
                  <a:extLst>
                    <a:ext uri="{9D8B030D-6E8A-4147-A177-3AD203B41FA5}">
                      <a16:colId xmlns:a16="http://schemas.microsoft.com/office/drawing/2014/main" val="20004"/>
                    </a:ext>
                  </a:extLst>
                </a:gridCol>
                <a:gridCol w="2078126">
                  <a:extLst>
                    <a:ext uri="{9D8B030D-6E8A-4147-A177-3AD203B41FA5}">
                      <a16:colId xmlns:a16="http://schemas.microsoft.com/office/drawing/2014/main" val="20005"/>
                    </a:ext>
                  </a:extLst>
                </a:gridCol>
              </a:tblGrid>
              <a:tr h="321310">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Customer_id</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Customer_name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City</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lost_revenue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delivered_orders</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tc>
                  <a:txBody>
                    <a:bodyPr/>
                    <a:lstStyle/>
                    <a:p>
                      <a:pPr marL="0" indent="0">
                        <a:lnSpc>
                          <a:spcPts val="1633"/>
                        </a:lnSpc>
                        <a:buNone/>
                      </a:pPr>
                      <a:r>
                        <a:rPr lang="en-US" sz="1166" b="1" dirty="0">
                          <a:solidFill>
                            <a:srgbClr val="F0B04A"/>
                          </a:solidFill>
                          <a:latin typeface="DM Sans" pitchFamily="34" charset="0"/>
                          <a:ea typeface="DM Sans" pitchFamily="34" charset="-122"/>
                          <a:cs typeface="DM Sans" pitchFamily="34" charset="-120"/>
                        </a:rPr>
                        <a:t>last_order_date</a:t>
                      </a:r>
                      <a:endParaRPr lang="en-US" sz="1166" dirty="0">
                        <a:latin typeface="DM Sans" charset="0"/>
                        <a:ea typeface="DM Sans" charset="0"/>
                        <a:cs typeface="DM Sans" charset="0"/>
                      </a:endParaRPr>
                    </a:p>
                  </a:txBody>
                  <a:tcPr marL="51840" marR="51840" marT="51840" marB="51840">
                    <a:lnL w="12700" cap="flat" cmpd="sng" algn="ctr">
                      <a:solidFill>
                        <a:srgbClr val="645F5E"/>
                      </a:solidFill>
                      <a:prstDash val="solid"/>
                      <a:round/>
                      <a:headEnd type="none" w="med" len="med"/>
                      <a:tailEnd type="none" w="med" len="med"/>
                    </a:lnL>
                    <a:lnR w="12700" cap="flat" cmpd="sng" algn="ctr">
                      <a:solidFill>
                        <a:srgbClr val="645F5E"/>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645F5E"/>
                      </a:solidFill>
                      <a:prstDash val="solid"/>
                      <a:round/>
                      <a:headEnd type="none" w="med" len="med"/>
                      <a:tailEnd type="none" w="med" len="med"/>
                    </a:lnB>
                    <a:solidFill>
                      <a:srgbClr val="3A3434"/>
                    </a:solidFill>
                  </a:tcPr>
                </a:tc>
                <a:extLst>
                  <a:ext uri="{0D108BD9-81ED-4DB2-BD59-A6C34878D82A}">
                    <a16:rowId xmlns:a16="http://schemas.microsoft.com/office/drawing/2014/main" val="10000"/>
                  </a:ext>
                </a:extLst>
              </a:tr>
              <a:tr h="321310">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C03054</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Rahul Sharma</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Noida</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13251.3399276733</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13</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2026-01-22</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645F5E"/>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1"/>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C02364</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Neha Singh</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Noida</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13163.420249939</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2026-01-16</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2"/>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C04768</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Neha Singh</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Pune</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12768.2999839783</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13</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2025-11-25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3"/>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C01535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Rohan Agarwal</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Pune</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12484.5099334717</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14</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2026-01-28</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4"/>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C03220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Priya Verma</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Chennai</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12385.7900314331</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14</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2025-08-19</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5"/>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C00714</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Ananya Mishra</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Bengaluru</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12378.669921875</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14</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2026-01-22</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6"/>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C04585</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Priya Verma</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Mumbai</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12335.0100021362</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10</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2025-12-27</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7"/>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C03961</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Neha Singh</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Noida</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12281.8001937866</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10</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2026-01-17</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08"/>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C01029</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Amit Kumar</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Mumbai</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12026.5899581909</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11</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2026-01-21</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95554"/>
                      </a:solidFill>
                      <a:prstDash val="solid"/>
                      <a:round/>
                      <a:headEnd type="none" w="med" len="med"/>
                      <a:tailEnd type="none" w="med" len="med"/>
                    </a:lnR>
                    <a:lnT w="12700" cap="flat" cmpd="sng" algn="ctr">
                      <a:solidFill>
                        <a:srgbClr val="5E5A59"/>
                      </a:solidFill>
                      <a:prstDash val="solid"/>
                      <a:round/>
                      <a:headEnd type="none" w="med" len="med"/>
                      <a:tailEnd type="none" w="med" len="med"/>
                    </a:lnT>
                    <a:lnB w="12700" cap="flat" cmpd="sng" algn="ctr">
                      <a:solidFill>
                        <a:srgbClr val="595554"/>
                      </a:solidFill>
                      <a:prstDash val="solid"/>
                      <a:round/>
                      <a:headEnd type="none" w="med" len="med"/>
                      <a:tailEnd type="none" w="med" len="med"/>
                    </a:lnB>
                    <a:solidFill>
                      <a:srgbClr val="2B2727"/>
                    </a:solidFill>
                  </a:tcPr>
                </a:tc>
                <a:extLst>
                  <a:ext uri="{0D108BD9-81ED-4DB2-BD59-A6C34878D82A}">
                    <a16:rowId xmlns:a16="http://schemas.microsoft.com/office/drawing/2014/main" val="10009"/>
                  </a:ext>
                </a:extLst>
              </a:tr>
              <a:tr h="321389">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C02582</a:t>
                      </a:r>
                      <a:endParaRPr lang="en-US" sz="1166" dirty="0">
                        <a:latin typeface="DM Sans" charset="0"/>
                        <a:ea typeface="DM Sans" charset="0"/>
                        <a:cs typeface="DM Sans" charset="0"/>
                      </a:endParaRPr>
                    </a:p>
                  </a:txBody>
                  <a:tcPr marL="51840" marR="51840" marT="51840" marB="51840">
                    <a:lnL w="12700" cap="flat" cmpd="sng" algn="ctr">
                      <a:solidFill>
                        <a:srgbClr val="595554"/>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Priya Verma</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Delhi</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11981.8800048828</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11</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tc>
                  <a:txBody>
                    <a:bodyPr/>
                    <a:lstStyle/>
                    <a:p>
                      <a:pPr marL="0" indent="0">
                        <a:lnSpc>
                          <a:spcPts val="1633"/>
                        </a:lnSpc>
                        <a:buNone/>
                      </a:pPr>
                      <a:r>
                        <a:rPr lang="en-US" sz="1166" dirty="0">
                          <a:solidFill>
                            <a:srgbClr val="FAF6F1"/>
                          </a:solidFill>
                          <a:latin typeface="DM Sans" pitchFamily="34" charset="0"/>
                          <a:ea typeface="DM Sans" pitchFamily="34" charset="-122"/>
                          <a:cs typeface="DM Sans" pitchFamily="34" charset="-120"/>
                        </a:rPr>
                        <a:t>2026-01-09</a:t>
                      </a:r>
                      <a:endParaRPr lang="en-US" sz="1166" dirty="0">
                        <a:latin typeface="DM Sans" charset="0"/>
                        <a:ea typeface="DM Sans" charset="0"/>
                        <a:cs typeface="DM Sans" charset="0"/>
                      </a:endParaRPr>
                    </a:p>
                  </a:txBody>
                  <a:tcPr marL="51840" marR="51840" marT="51840" marB="51840">
                    <a:lnL w="12700" cap="flat" cmpd="sng" algn="ctr">
                      <a:solidFill>
                        <a:srgbClr val="5E5A59"/>
                      </a:solidFill>
                      <a:prstDash val="solid"/>
                      <a:round/>
                      <a:headEnd type="none" w="med" len="med"/>
                      <a:tailEnd type="none" w="med" len="med"/>
                    </a:lnL>
                    <a:lnR w="12700" cap="flat" cmpd="sng" algn="ctr">
                      <a:solidFill>
                        <a:srgbClr val="5E5A59"/>
                      </a:solidFill>
                      <a:prstDash val="solid"/>
                      <a:round/>
                      <a:headEnd type="none" w="med" len="med"/>
                      <a:tailEnd type="none" w="med" len="med"/>
                    </a:lnR>
                    <a:lnT w="12700" cap="flat" cmpd="sng" algn="ctr">
                      <a:solidFill>
                        <a:srgbClr val="595554"/>
                      </a:solidFill>
                      <a:prstDash val="solid"/>
                      <a:round/>
                      <a:headEnd type="none" w="med" len="med"/>
                      <a:tailEnd type="none" w="med" len="med"/>
                    </a:lnT>
                    <a:lnB w="12700" cap="flat" cmpd="sng" algn="ctr">
                      <a:solidFill>
                        <a:srgbClr val="5E5A59"/>
                      </a:solidFill>
                      <a:prstDash val="solid"/>
                      <a:round/>
                      <a:headEnd type="none" w="med" len="med"/>
                      <a:tailEnd type="none" w="med" len="med"/>
                    </a:lnB>
                    <a:solidFill>
                      <a:srgbClr val="322D2D"/>
                    </a:solidFill>
                  </a:tcPr>
                </a:tc>
                <a:extLst>
                  <a:ext uri="{0D108BD9-81ED-4DB2-BD59-A6C34878D82A}">
                    <a16:rowId xmlns:a16="http://schemas.microsoft.com/office/drawing/2014/main" val="10010"/>
                  </a:ext>
                </a:extLst>
              </a:tr>
            </a:tbl>
          </a:graphicData>
        </a:graphic>
      </p:graphicFrame>
      <p:sp>
        <p:nvSpPr>
          <p:cNvPr id="7" name="Text 4"/>
          <p:cNvSpPr/>
          <p:nvPr/>
        </p:nvSpPr>
        <p:spPr>
          <a:xfrm>
            <a:off x="812800" y="6238255"/>
            <a:ext cx="588645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55349"/>
          </a:xfrm>
          <a:prstGeom prst="rect">
            <a:avLst/>
          </a:prstGeom>
          <a:noFill/>
          <a:ln/>
        </p:spPr>
        <p:txBody>
          <a:bodyPr wrap="square" lIns="0" tIns="0" rIns="0" bIns="0" rtlCol="0" anchor="t">
            <a:normAutofit/>
          </a:bodyPr>
          <a:lstStyle/>
          <a:p>
            <a:pPr marL="0" indent="0" algn="l">
              <a:lnSpc>
                <a:spcPts val="1819"/>
              </a:lnSpc>
              <a:buNone/>
            </a:pPr>
            <a:r>
              <a:rPr lang="en-US" sz="1299" b="1" kern="0" spc="200" dirty="0">
                <a:solidFill>
                  <a:srgbClr val="F0B04A"/>
                </a:solidFill>
                <a:latin typeface="DM Sans" pitchFamily="34" charset="0"/>
                <a:ea typeface="DM Sans" pitchFamily="34" charset="-122"/>
                <a:cs typeface="DM Sans" pitchFamily="34" charset="-120"/>
              </a:rPr>
              <a:t>KEY INSIGHTS</a:t>
            </a:r>
            <a:endParaRPr lang="en-US" sz="1299" dirty="0"/>
          </a:p>
        </p:txBody>
      </p:sp>
      <p:sp>
        <p:nvSpPr>
          <p:cNvPr id="3" name="Text 1"/>
          <p:cNvSpPr>
            <a:spLocks noGrp="1"/>
          </p:cNvSpPr>
          <p:nvPr>
            <p:ph type="title"/>
          </p:nvPr>
        </p:nvSpPr>
        <p:spPr>
          <a:xfrm>
            <a:off x="812800" y="1144364"/>
            <a:ext cx="10883392" cy="438388"/>
          </a:xfrm>
          <a:prstGeom prst="rect">
            <a:avLst/>
          </a:prstGeom>
          <a:noFill/>
          <a:ln/>
        </p:spPr>
        <p:txBody>
          <a:bodyPr wrap="square" lIns="0" tIns="0" rIns="0" bIns="0" rtlCol="0" anchor="t">
            <a:normAutofit/>
          </a:bodyPr>
          <a:lstStyle/>
          <a:p>
            <a:pPr marL="0" indent="0" algn="l">
              <a:lnSpc>
                <a:spcPts val="3267"/>
              </a:lnSpc>
              <a:buNone/>
            </a:pPr>
            <a:r>
              <a:rPr lang="en-US" sz="2970" b="1" i="0" dirty="0">
                <a:solidFill>
                  <a:srgbClr val="FAF6F1"/>
                </a:solidFill>
                <a:latin typeface="DM Sans" pitchFamily="34" charset="0"/>
                <a:ea typeface="DM Sans" pitchFamily="34" charset="-122"/>
                <a:cs typeface="DM Sans" pitchFamily="34" charset="-120"/>
              </a:rPr>
              <a:t>Revenue is flat and leaking</a:t>
            </a:r>
            <a:endParaRPr lang="en-US" sz="2970" dirty="0"/>
          </a:p>
        </p:txBody>
      </p:sp>
      <p:sp>
        <p:nvSpPr>
          <p:cNvPr id="4" name="Shape 2"/>
          <p:cNvSpPr/>
          <p:nvPr/>
        </p:nvSpPr>
        <p:spPr>
          <a:xfrm>
            <a:off x="815975" y="1738313"/>
            <a:ext cx="3397250" cy="1958181"/>
          </a:xfrm>
          <a:prstGeom prst="roundRect">
            <a:avLst>
              <a:gd name="adj" fmla="val 5026"/>
            </a:avLst>
          </a:prstGeom>
          <a:solidFill>
            <a:srgbClr val="2B2727"/>
          </a:solidFill>
          <a:ln w="6350">
            <a:solidFill>
              <a:srgbClr val="4A4343"/>
            </a:solidFill>
            <a:prstDash val="solid"/>
          </a:ln>
        </p:spPr>
        <p:txBody>
          <a:bodyPr/>
          <a:lstStyle/>
          <a:p>
            <a:endParaRPr lang="en-IN"/>
          </a:p>
        </p:txBody>
      </p:sp>
      <p:sp>
        <p:nvSpPr>
          <p:cNvPr id="5" name="Text 3"/>
          <p:cNvSpPr/>
          <p:nvPr/>
        </p:nvSpPr>
        <p:spPr>
          <a:xfrm>
            <a:off x="1021080" y="1943422"/>
            <a:ext cx="3076651" cy="430768"/>
          </a:xfrm>
          <a:prstGeom prst="rect">
            <a:avLst/>
          </a:prstGeom>
          <a:noFill/>
          <a:ln/>
        </p:spPr>
        <p:txBody>
          <a:bodyPr wrap="square" lIns="0" tIns="0" rIns="0" bIns="0" rtlCol="0" anchor="t">
            <a:normAutofit/>
          </a:bodyPr>
          <a:lstStyle/>
          <a:p>
            <a:pPr marL="0" indent="0" algn="l">
              <a:lnSpc>
                <a:spcPts val="3223"/>
              </a:lnSpc>
              <a:buNone/>
            </a:pPr>
            <a:r>
              <a:rPr lang="en-US" sz="2930" b="1" dirty="0">
                <a:solidFill>
                  <a:srgbClr val="F0B04A"/>
                </a:solidFill>
                <a:latin typeface="DM Sans" pitchFamily="34" charset="0"/>
                <a:ea typeface="DM Sans" pitchFamily="34" charset="-122"/>
                <a:cs typeface="DM Sans" pitchFamily="34" charset="-120"/>
              </a:rPr>
              <a:t>~₹1M</a:t>
            </a:r>
            <a:endParaRPr lang="en-US" sz="2930" dirty="0"/>
          </a:p>
        </p:txBody>
      </p:sp>
      <p:sp>
        <p:nvSpPr>
          <p:cNvPr id="6" name="Text 4"/>
          <p:cNvSpPr/>
          <p:nvPr/>
        </p:nvSpPr>
        <p:spPr>
          <a:xfrm>
            <a:off x="1021080" y="2412281"/>
            <a:ext cx="3188970" cy="412274"/>
          </a:xfrm>
          <a:prstGeom prst="rect">
            <a:avLst/>
          </a:prstGeom>
          <a:noFill/>
          <a:ln/>
        </p:spPr>
        <p:txBody>
          <a:bodyPr wrap="square" lIns="0" tIns="0" rIns="0" bIns="0" rtlCol="0" anchor="t">
            <a:normAutofit/>
          </a:bodyPr>
          <a:lstStyle/>
          <a:p>
            <a:pPr marL="0" indent="0" algn="l">
              <a:lnSpc>
                <a:spcPts val="1643"/>
              </a:lnSpc>
              <a:buNone/>
            </a:pPr>
            <a:r>
              <a:rPr lang="en-US" sz="1369" b="1" dirty="0">
                <a:solidFill>
                  <a:srgbClr val="FAF6F1"/>
                </a:solidFill>
                <a:latin typeface="DM Sans" pitchFamily="34" charset="0"/>
                <a:ea typeface="DM Sans" pitchFamily="34" charset="-122"/>
                <a:cs typeface="DM Sans" pitchFamily="34" charset="-120"/>
              </a:rPr>
              <a:t>monthly revenue, flat for 28 months</a:t>
            </a:r>
            <a:endParaRPr lang="en-US" sz="1369" dirty="0"/>
          </a:p>
        </p:txBody>
      </p:sp>
      <p:sp>
        <p:nvSpPr>
          <p:cNvPr id="7" name="Text 5"/>
          <p:cNvSpPr/>
          <p:nvPr/>
        </p:nvSpPr>
        <p:spPr>
          <a:xfrm>
            <a:off x="1021080" y="2862659"/>
            <a:ext cx="3076651" cy="654129"/>
          </a:xfrm>
          <a:prstGeom prst="rect">
            <a:avLst/>
          </a:prstGeom>
          <a:noFill/>
          <a:ln/>
        </p:spPr>
        <p:txBody>
          <a:bodyPr wrap="square" lIns="0" tIns="0" rIns="0" bIns="0" rtlCol="0" anchor="t">
            <a:normAutofit/>
          </a:bodyPr>
          <a:lstStyle/>
          <a:p>
            <a:pPr marL="0" indent="0" algn="l">
              <a:lnSpc>
                <a:spcPts val="1723"/>
              </a:lnSpc>
              <a:buNone/>
            </a:pPr>
            <a:r>
              <a:rPr lang="en-US" sz="1231" dirty="0">
                <a:solidFill>
                  <a:srgbClr val="CFC6BE"/>
                </a:solidFill>
                <a:latin typeface="DM Sans" pitchFamily="34" charset="0"/>
                <a:ea typeface="DM Sans" pitchFamily="34" charset="-122"/>
                <a:cs typeface="DM Sans" pitchFamily="34" charset="-120"/>
              </a:rPr>
              <a:t>Delivered revenue stays between ₹0.84M and ₹1.04M, with no growth trend.</a:t>
            </a:r>
            <a:endParaRPr lang="en-US" sz="1231" dirty="0"/>
          </a:p>
        </p:txBody>
      </p:sp>
      <p:sp>
        <p:nvSpPr>
          <p:cNvPr id="8" name="Shape 6"/>
          <p:cNvSpPr/>
          <p:nvPr/>
        </p:nvSpPr>
        <p:spPr>
          <a:xfrm>
            <a:off x="4397375" y="1738313"/>
            <a:ext cx="3397250" cy="1958181"/>
          </a:xfrm>
          <a:prstGeom prst="roundRect">
            <a:avLst>
              <a:gd name="adj" fmla="val 5026"/>
            </a:avLst>
          </a:prstGeom>
          <a:solidFill>
            <a:srgbClr val="2B2727"/>
          </a:solidFill>
          <a:ln w="6350">
            <a:solidFill>
              <a:srgbClr val="4A4343"/>
            </a:solidFill>
            <a:prstDash val="solid"/>
          </a:ln>
        </p:spPr>
        <p:txBody>
          <a:bodyPr/>
          <a:lstStyle/>
          <a:p>
            <a:endParaRPr lang="en-IN"/>
          </a:p>
        </p:txBody>
      </p:sp>
      <p:sp>
        <p:nvSpPr>
          <p:cNvPr id="9" name="Text 7"/>
          <p:cNvSpPr/>
          <p:nvPr/>
        </p:nvSpPr>
        <p:spPr>
          <a:xfrm>
            <a:off x="4602480" y="1943422"/>
            <a:ext cx="3076651"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0B04A"/>
                </a:solidFill>
                <a:latin typeface="DM Sans" pitchFamily="34" charset="0"/>
                <a:ea typeface="DM Sans" pitchFamily="34" charset="-122"/>
                <a:cs typeface="DM Sans" pitchFamily="34" charset="-120"/>
              </a:rPr>
              <a:t>50%</a:t>
            </a:r>
            <a:endParaRPr lang="en-US" sz="3200" dirty="0"/>
          </a:p>
        </p:txBody>
      </p:sp>
      <p:sp>
        <p:nvSpPr>
          <p:cNvPr id="10" name="Text 8"/>
          <p:cNvSpPr/>
          <p:nvPr/>
        </p:nvSpPr>
        <p:spPr>
          <a:xfrm>
            <a:off x="4602480" y="2453953"/>
            <a:ext cx="307665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AF6F1"/>
                </a:solidFill>
                <a:latin typeface="DM Sans" pitchFamily="34" charset="0"/>
                <a:ea typeface="DM Sans" pitchFamily="34" charset="-122"/>
                <a:cs typeface="DM Sans" pitchFamily="34" charset="-120"/>
              </a:rPr>
              <a:t>of revenue comes through UPI</a:t>
            </a:r>
            <a:endParaRPr lang="en-US" sz="1400" dirty="0"/>
          </a:p>
        </p:txBody>
      </p:sp>
      <p:sp>
        <p:nvSpPr>
          <p:cNvPr id="11" name="Text 9"/>
          <p:cNvSpPr/>
          <p:nvPr/>
        </p:nvSpPr>
        <p:spPr>
          <a:xfrm>
            <a:off x="4602480" y="2730822"/>
            <a:ext cx="307665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UPI brings ₹13.4M of ₹26.9M; wallet, card and cash each add about ₹4.5M.</a:t>
            </a:r>
            <a:endParaRPr lang="en-US" sz="1300" dirty="0"/>
          </a:p>
        </p:txBody>
      </p:sp>
      <p:sp>
        <p:nvSpPr>
          <p:cNvPr id="12" name="Shape 10"/>
          <p:cNvSpPr/>
          <p:nvPr/>
        </p:nvSpPr>
        <p:spPr>
          <a:xfrm>
            <a:off x="7978775" y="1738313"/>
            <a:ext cx="3397250" cy="1958181"/>
          </a:xfrm>
          <a:prstGeom prst="roundRect">
            <a:avLst>
              <a:gd name="adj" fmla="val 5026"/>
            </a:avLst>
          </a:prstGeom>
          <a:solidFill>
            <a:srgbClr val="2B2727"/>
          </a:solidFill>
          <a:ln w="6350">
            <a:solidFill>
              <a:srgbClr val="4A4343"/>
            </a:solidFill>
            <a:prstDash val="solid"/>
          </a:ln>
        </p:spPr>
        <p:txBody>
          <a:bodyPr/>
          <a:lstStyle/>
          <a:p>
            <a:endParaRPr lang="en-IN"/>
          </a:p>
        </p:txBody>
      </p:sp>
      <p:sp>
        <p:nvSpPr>
          <p:cNvPr id="13" name="Text 11"/>
          <p:cNvSpPr/>
          <p:nvPr/>
        </p:nvSpPr>
        <p:spPr>
          <a:xfrm>
            <a:off x="8183880" y="1943422"/>
            <a:ext cx="3076651" cy="430768"/>
          </a:xfrm>
          <a:prstGeom prst="rect">
            <a:avLst/>
          </a:prstGeom>
          <a:noFill/>
          <a:ln/>
        </p:spPr>
        <p:txBody>
          <a:bodyPr wrap="square" lIns="0" tIns="0" rIns="0" bIns="0" rtlCol="0" anchor="t">
            <a:normAutofit/>
          </a:bodyPr>
          <a:lstStyle/>
          <a:p>
            <a:pPr marL="0" indent="0" algn="l">
              <a:lnSpc>
                <a:spcPts val="3223"/>
              </a:lnSpc>
              <a:buNone/>
            </a:pPr>
            <a:r>
              <a:rPr lang="en-US" sz="2930" b="1" dirty="0">
                <a:solidFill>
                  <a:srgbClr val="F0B04A"/>
                </a:solidFill>
                <a:latin typeface="DM Sans" pitchFamily="34" charset="0"/>
                <a:ea typeface="DM Sans" pitchFamily="34" charset="-122"/>
                <a:cs typeface="DM Sans" pitchFamily="34" charset="-120"/>
              </a:rPr>
              <a:t>40%</a:t>
            </a:r>
            <a:endParaRPr lang="en-US" sz="2930" dirty="0"/>
          </a:p>
        </p:txBody>
      </p:sp>
      <p:sp>
        <p:nvSpPr>
          <p:cNvPr id="14" name="Text 12"/>
          <p:cNvSpPr/>
          <p:nvPr/>
        </p:nvSpPr>
        <p:spPr>
          <a:xfrm>
            <a:off x="8183880" y="2412281"/>
            <a:ext cx="3076651" cy="412274"/>
          </a:xfrm>
          <a:prstGeom prst="rect">
            <a:avLst/>
          </a:prstGeom>
          <a:noFill/>
          <a:ln/>
        </p:spPr>
        <p:txBody>
          <a:bodyPr wrap="square" lIns="0" tIns="0" rIns="0" bIns="0" rtlCol="0" anchor="t">
            <a:normAutofit/>
          </a:bodyPr>
          <a:lstStyle/>
          <a:p>
            <a:pPr marL="0" indent="0" algn="l">
              <a:lnSpc>
                <a:spcPts val="1533"/>
              </a:lnSpc>
              <a:buNone/>
            </a:pPr>
            <a:r>
              <a:rPr lang="en-US" sz="1278" b="1" dirty="0">
                <a:solidFill>
                  <a:srgbClr val="FAF6F1"/>
                </a:solidFill>
                <a:latin typeface="DM Sans" pitchFamily="34" charset="0"/>
                <a:ea typeface="DM Sans" pitchFamily="34" charset="-122"/>
                <a:cs typeface="DM Sans" pitchFamily="34" charset="-120"/>
              </a:rPr>
              <a:t>of orders end in cancellation or refund</a:t>
            </a:r>
            <a:endParaRPr lang="en-US" sz="1278" dirty="0"/>
          </a:p>
        </p:txBody>
      </p:sp>
      <p:sp>
        <p:nvSpPr>
          <p:cNvPr id="15" name="Text 13"/>
          <p:cNvSpPr/>
          <p:nvPr/>
        </p:nvSpPr>
        <p:spPr>
          <a:xfrm>
            <a:off x="8183880" y="2862659"/>
            <a:ext cx="3076651" cy="654129"/>
          </a:xfrm>
          <a:prstGeom prst="rect">
            <a:avLst/>
          </a:prstGeom>
          <a:noFill/>
          <a:ln/>
        </p:spPr>
        <p:txBody>
          <a:bodyPr wrap="square" lIns="0" tIns="0" rIns="0" bIns="0" rtlCol="0" anchor="t">
            <a:normAutofit/>
          </a:bodyPr>
          <a:lstStyle/>
          <a:p>
            <a:pPr marL="0" indent="0" algn="l">
              <a:lnSpc>
                <a:spcPts val="1655"/>
              </a:lnSpc>
              <a:buNone/>
            </a:pPr>
            <a:r>
              <a:rPr lang="en-US" sz="1182" dirty="0">
                <a:solidFill>
                  <a:srgbClr val="CFC6BE"/>
                </a:solidFill>
                <a:latin typeface="DM Sans" pitchFamily="34" charset="0"/>
                <a:ea typeface="DM Sans" pitchFamily="34" charset="-122"/>
                <a:cs typeface="DM Sans" pitchFamily="34" charset="-120"/>
              </a:rPr>
              <a:t>Only 60% are delivered. Cancellations cost ₹9.1M; the worst restaurants cancel 25–27%.</a:t>
            </a:r>
            <a:endParaRPr lang="en-US" sz="1182" dirty="0"/>
          </a:p>
        </p:txBody>
      </p:sp>
      <p:sp>
        <p:nvSpPr>
          <p:cNvPr id="16" name="Shape 14"/>
          <p:cNvSpPr/>
          <p:nvPr/>
        </p:nvSpPr>
        <p:spPr>
          <a:xfrm>
            <a:off x="815975" y="3880644"/>
            <a:ext cx="3397250" cy="1958181"/>
          </a:xfrm>
          <a:prstGeom prst="roundRect">
            <a:avLst>
              <a:gd name="adj" fmla="val 5026"/>
            </a:avLst>
          </a:prstGeom>
          <a:solidFill>
            <a:srgbClr val="2B2727"/>
          </a:solidFill>
          <a:ln w="6350">
            <a:solidFill>
              <a:srgbClr val="4A4343"/>
            </a:solidFill>
            <a:prstDash val="solid"/>
          </a:ln>
        </p:spPr>
        <p:txBody>
          <a:bodyPr/>
          <a:lstStyle/>
          <a:p>
            <a:endParaRPr lang="en-IN"/>
          </a:p>
        </p:txBody>
      </p:sp>
      <p:sp>
        <p:nvSpPr>
          <p:cNvPr id="17" name="Text 15"/>
          <p:cNvSpPr/>
          <p:nvPr/>
        </p:nvSpPr>
        <p:spPr>
          <a:xfrm>
            <a:off x="1021080" y="4085754"/>
            <a:ext cx="3076651"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0B04A"/>
                </a:solidFill>
                <a:latin typeface="DM Sans" pitchFamily="34" charset="0"/>
                <a:ea typeface="DM Sans" pitchFamily="34" charset="-122"/>
                <a:cs typeface="DM Sans" pitchFamily="34" charset="-120"/>
              </a:rPr>
              <a:t>−₹83</a:t>
            </a:r>
            <a:endParaRPr lang="en-US" sz="3200" dirty="0"/>
          </a:p>
        </p:txBody>
      </p:sp>
      <p:sp>
        <p:nvSpPr>
          <p:cNvPr id="18" name="Text 16"/>
          <p:cNvSpPr/>
          <p:nvPr/>
        </p:nvSpPr>
        <p:spPr>
          <a:xfrm>
            <a:off x="1021080" y="4596284"/>
            <a:ext cx="3188970"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AF6F1"/>
                </a:solidFill>
                <a:latin typeface="DM Sans" pitchFamily="34" charset="0"/>
                <a:ea typeface="DM Sans" pitchFamily="34" charset="-122"/>
                <a:cs typeface="DM Sans" pitchFamily="34" charset="-120"/>
              </a:rPr>
              <a:t>realised revenue per coupon order</a:t>
            </a:r>
            <a:endParaRPr lang="en-US" sz="1400" dirty="0"/>
          </a:p>
        </p:txBody>
      </p:sp>
      <p:sp>
        <p:nvSpPr>
          <p:cNvPr id="19" name="Text 17"/>
          <p:cNvSpPr/>
          <p:nvPr/>
        </p:nvSpPr>
        <p:spPr>
          <a:xfrm>
            <a:off x="1021080" y="4873154"/>
            <a:ext cx="3076651"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40% of delivered orders use a coupon: ₹854 each versus ₹937 without.</a:t>
            </a:r>
            <a:endParaRPr lang="en-US" sz="1300" dirty="0"/>
          </a:p>
        </p:txBody>
      </p:sp>
      <p:sp>
        <p:nvSpPr>
          <p:cNvPr id="20" name="Shape 18"/>
          <p:cNvSpPr/>
          <p:nvPr/>
        </p:nvSpPr>
        <p:spPr>
          <a:xfrm>
            <a:off x="4397375" y="3880644"/>
            <a:ext cx="3397250" cy="1958181"/>
          </a:xfrm>
          <a:prstGeom prst="roundRect">
            <a:avLst>
              <a:gd name="adj" fmla="val 5026"/>
            </a:avLst>
          </a:prstGeom>
          <a:solidFill>
            <a:srgbClr val="2B2727"/>
          </a:solidFill>
          <a:ln w="6350">
            <a:solidFill>
              <a:srgbClr val="4A4343"/>
            </a:solidFill>
            <a:prstDash val="solid"/>
          </a:ln>
        </p:spPr>
        <p:txBody>
          <a:bodyPr/>
          <a:lstStyle/>
          <a:p>
            <a:endParaRPr lang="en-IN"/>
          </a:p>
        </p:txBody>
      </p:sp>
      <p:sp>
        <p:nvSpPr>
          <p:cNvPr id="21" name="Text 19"/>
          <p:cNvSpPr/>
          <p:nvPr/>
        </p:nvSpPr>
        <p:spPr>
          <a:xfrm>
            <a:off x="4602480" y="4085754"/>
            <a:ext cx="3076651" cy="472440"/>
          </a:xfrm>
          <a:prstGeom prst="rect">
            <a:avLst/>
          </a:prstGeom>
          <a:noFill/>
          <a:ln/>
        </p:spPr>
        <p:txBody>
          <a:bodyPr wrap="square" lIns="0" tIns="0" rIns="0" bIns="0" rtlCol="0" anchor="t">
            <a:normAutofit/>
          </a:bodyPr>
          <a:lstStyle/>
          <a:p>
            <a:pPr marL="0" indent="0" algn="l">
              <a:lnSpc>
                <a:spcPts val="3520"/>
              </a:lnSpc>
              <a:buNone/>
            </a:pPr>
            <a:r>
              <a:rPr lang="en-US" sz="3200" b="1" dirty="0">
                <a:solidFill>
                  <a:srgbClr val="F0B04A"/>
                </a:solidFill>
                <a:latin typeface="DM Sans" pitchFamily="34" charset="0"/>
                <a:ea typeface="DM Sans" pitchFamily="34" charset="-122"/>
                <a:cs typeface="DM Sans" pitchFamily="34" charset="-120"/>
              </a:rPr>
              <a:t>53%</a:t>
            </a:r>
            <a:endParaRPr lang="en-US" sz="3200" dirty="0"/>
          </a:p>
        </p:txBody>
      </p:sp>
      <p:sp>
        <p:nvSpPr>
          <p:cNvPr id="22" name="Text 20"/>
          <p:cNvSpPr/>
          <p:nvPr/>
        </p:nvSpPr>
        <p:spPr>
          <a:xfrm>
            <a:off x="4602480" y="4596284"/>
            <a:ext cx="3076651" cy="23876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AF6F1"/>
                </a:solidFill>
                <a:latin typeface="DM Sans" pitchFamily="34" charset="0"/>
                <a:ea typeface="DM Sans" pitchFamily="34" charset="-122"/>
                <a:cs typeface="DM Sans" pitchFamily="34" charset="-120"/>
              </a:rPr>
              <a:t>of customers have churned</a:t>
            </a:r>
            <a:endParaRPr lang="en-US" sz="1400" dirty="0"/>
          </a:p>
        </p:txBody>
      </p:sp>
      <p:sp>
        <p:nvSpPr>
          <p:cNvPr id="23" name="Text 21"/>
          <p:cNvSpPr/>
          <p:nvPr/>
        </p:nvSpPr>
        <p:spPr>
          <a:xfrm>
            <a:off x="4602480" y="4873154"/>
            <a:ext cx="3076651"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CFC6BE"/>
                </a:solidFill>
                <a:latin typeface="DM Sans" pitchFamily="34" charset="0"/>
                <a:ea typeface="DM Sans" pitchFamily="34" charset="-122"/>
                <a:cs typeface="DM Sans" pitchFamily="34" charset="-120"/>
              </a:rPr>
              <a:t>2,672 of 4,999 customers, worth ₹13.0M (48% of revenue). Noida is worst at 55%.</a:t>
            </a:r>
            <a:endParaRPr lang="en-US" sz="1300" dirty="0"/>
          </a:p>
        </p:txBody>
      </p:sp>
      <p:sp>
        <p:nvSpPr>
          <p:cNvPr id="24" name="Shape 22"/>
          <p:cNvSpPr/>
          <p:nvPr/>
        </p:nvSpPr>
        <p:spPr>
          <a:xfrm>
            <a:off x="7978775" y="3880644"/>
            <a:ext cx="3397250" cy="1958181"/>
          </a:xfrm>
          <a:prstGeom prst="roundRect">
            <a:avLst>
              <a:gd name="adj" fmla="val 5026"/>
            </a:avLst>
          </a:prstGeom>
          <a:solidFill>
            <a:srgbClr val="2B2727"/>
          </a:solidFill>
          <a:ln w="6350">
            <a:solidFill>
              <a:srgbClr val="4A4343"/>
            </a:solidFill>
            <a:prstDash val="solid"/>
          </a:ln>
        </p:spPr>
        <p:txBody>
          <a:bodyPr/>
          <a:lstStyle/>
          <a:p>
            <a:endParaRPr lang="en-IN"/>
          </a:p>
        </p:txBody>
      </p:sp>
      <p:sp>
        <p:nvSpPr>
          <p:cNvPr id="25" name="Text 23"/>
          <p:cNvSpPr/>
          <p:nvPr/>
        </p:nvSpPr>
        <p:spPr>
          <a:xfrm>
            <a:off x="8183880" y="4085754"/>
            <a:ext cx="3076651" cy="430768"/>
          </a:xfrm>
          <a:prstGeom prst="rect">
            <a:avLst/>
          </a:prstGeom>
          <a:noFill/>
          <a:ln/>
        </p:spPr>
        <p:txBody>
          <a:bodyPr wrap="square" lIns="0" tIns="0" rIns="0" bIns="0" rtlCol="0" anchor="t">
            <a:normAutofit/>
          </a:bodyPr>
          <a:lstStyle/>
          <a:p>
            <a:pPr marL="0" indent="0" algn="l">
              <a:lnSpc>
                <a:spcPts val="3223"/>
              </a:lnSpc>
              <a:buNone/>
            </a:pPr>
            <a:r>
              <a:rPr lang="en-US" sz="2930" b="1" dirty="0">
                <a:solidFill>
                  <a:srgbClr val="F0B04A"/>
                </a:solidFill>
                <a:latin typeface="DM Sans" pitchFamily="34" charset="0"/>
                <a:ea typeface="DM Sans" pitchFamily="34" charset="-122"/>
                <a:cs typeface="DM Sans" pitchFamily="34" charset="-120"/>
              </a:rPr>
              <a:t>1%</a:t>
            </a:r>
            <a:endParaRPr lang="en-US" sz="2930" dirty="0"/>
          </a:p>
        </p:txBody>
      </p:sp>
      <p:sp>
        <p:nvSpPr>
          <p:cNvPr id="26" name="Text 24"/>
          <p:cNvSpPr/>
          <p:nvPr/>
        </p:nvSpPr>
        <p:spPr>
          <a:xfrm>
            <a:off x="8183880" y="4554612"/>
            <a:ext cx="3188970" cy="412274"/>
          </a:xfrm>
          <a:prstGeom prst="rect">
            <a:avLst/>
          </a:prstGeom>
          <a:noFill/>
          <a:ln/>
        </p:spPr>
        <p:txBody>
          <a:bodyPr wrap="square" lIns="0" tIns="0" rIns="0" bIns="0" rtlCol="0" anchor="t">
            <a:normAutofit/>
          </a:bodyPr>
          <a:lstStyle/>
          <a:p>
            <a:pPr marL="0" indent="0" algn="l">
              <a:lnSpc>
                <a:spcPts val="1538"/>
              </a:lnSpc>
              <a:buNone/>
            </a:pPr>
            <a:r>
              <a:rPr lang="en-US" sz="1282" b="1" dirty="0">
                <a:solidFill>
                  <a:srgbClr val="FAF6F1"/>
                </a:solidFill>
                <a:latin typeface="DM Sans" pitchFamily="34" charset="0"/>
                <a:ea typeface="DM Sans" pitchFamily="34" charset="-122"/>
                <a:cs typeface="DM Sans" pitchFamily="34" charset="-120"/>
              </a:rPr>
              <a:t>of revenue from the top 20 customers</a:t>
            </a:r>
            <a:endParaRPr lang="en-US" sz="1282" dirty="0"/>
          </a:p>
        </p:txBody>
      </p:sp>
      <p:sp>
        <p:nvSpPr>
          <p:cNvPr id="27" name="Text 25"/>
          <p:cNvSpPr/>
          <p:nvPr/>
        </p:nvSpPr>
        <p:spPr>
          <a:xfrm>
            <a:off x="8183880" y="5004991"/>
            <a:ext cx="3076651" cy="654129"/>
          </a:xfrm>
          <a:prstGeom prst="rect">
            <a:avLst/>
          </a:prstGeom>
          <a:noFill/>
          <a:ln/>
        </p:spPr>
        <p:txBody>
          <a:bodyPr wrap="square" lIns="0" tIns="0" rIns="0" bIns="0" rtlCol="0" anchor="t">
            <a:normAutofit/>
          </a:bodyPr>
          <a:lstStyle/>
          <a:p>
            <a:pPr marL="0" indent="0" algn="l">
              <a:lnSpc>
                <a:spcPts val="1655"/>
              </a:lnSpc>
              <a:buNone/>
            </a:pPr>
            <a:r>
              <a:rPr lang="en-US" sz="1182" dirty="0">
                <a:solidFill>
                  <a:srgbClr val="CFC6BE"/>
                </a:solidFill>
                <a:latin typeface="DM Sans" pitchFamily="34" charset="0"/>
                <a:ea typeface="DM Sans" pitchFamily="34" charset="-122"/>
                <a:cs typeface="DM Sans" pitchFamily="34" charset="-120"/>
              </a:rPr>
              <a:t>At 1.03%, revenue is spread widely. Channels and rating bands barely change it.</a:t>
            </a:r>
            <a:endParaRPr lang="en-US" sz="1182" dirty="0"/>
          </a:p>
        </p:txBody>
      </p:sp>
      <p:sp>
        <p:nvSpPr>
          <p:cNvPr id="28" name="Text 26"/>
          <p:cNvSpPr/>
          <p:nvPr/>
        </p:nvSpPr>
        <p:spPr>
          <a:xfrm>
            <a:off x="812800" y="6238255"/>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E1B1B"/>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74320"/>
          </a:xfrm>
          <a:prstGeom prst="rect">
            <a:avLst/>
          </a:prstGeom>
          <a:noFill/>
          <a:ln/>
        </p:spPr>
        <p:txBody>
          <a:bodyPr wrap="square" lIns="0" tIns="0" rIns="0" bIns="0" rtlCol="0" anchor="t">
            <a:normAutofit/>
          </a:bodyPr>
          <a:lstStyle/>
          <a:p>
            <a:pPr marL="0" indent="0" algn="l">
              <a:lnSpc>
                <a:spcPts val="1960"/>
              </a:lnSpc>
              <a:buNone/>
            </a:pPr>
            <a:r>
              <a:rPr lang="en-US" sz="1400" b="1" kern="0" spc="200" dirty="0">
                <a:solidFill>
                  <a:srgbClr val="F0B04A"/>
                </a:solidFill>
                <a:latin typeface="DM Sans" pitchFamily="34" charset="0"/>
                <a:ea typeface="DM Sans" pitchFamily="34" charset="-122"/>
                <a:cs typeface="DM Sans" pitchFamily="34" charset="-120"/>
              </a:rPr>
              <a:t>CONCLUSION</a:t>
            </a:r>
            <a:endParaRPr lang="en-US" sz="1400" dirty="0"/>
          </a:p>
        </p:txBody>
      </p:sp>
      <p:sp>
        <p:nvSpPr>
          <p:cNvPr id="3" name="Text 1"/>
          <p:cNvSpPr>
            <a:spLocks noGrp="1"/>
          </p:cNvSpPr>
          <p:nvPr>
            <p:ph type="title"/>
          </p:nvPr>
        </p:nvSpPr>
        <p:spPr>
          <a:xfrm>
            <a:off x="812800" y="1188715"/>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AF6F1"/>
                </a:solidFill>
                <a:latin typeface="DM Sans" pitchFamily="34" charset="0"/>
                <a:ea typeface="DM Sans" pitchFamily="34" charset="-122"/>
                <a:cs typeface="DM Sans" pitchFamily="34" charset="-120"/>
              </a:rPr>
              <a:t>Fix the leaks before buying more growth</a:t>
            </a:r>
            <a:endParaRPr lang="en-US" sz="3200" dirty="0"/>
          </a:p>
        </p:txBody>
      </p:sp>
      <p:sp>
        <p:nvSpPr>
          <p:cNvPr id="4" name="Text 2"/>
          <p:cNvSpPr/>
          <p:nvPr/>
        </p:nvSpPr>
        <p:spPr>
          <a:xfrm>
            <a:off x="812800" y="1762770"/>
            <a:ext cx="9810750"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CFC6BE"/>
                </a:solidFill>
                <a:latin typeface="DM Sans" pitchFamily="34" charset="0"/>
                <a:ea typeface="DM Sans" pitchFamily="34" charset="-122"/>
                <a:cs typeface="DM Sans" pitchFamily="34" charset="-120"/>
              </a:rPr>
              <a:t>Sign-ups are not the problem. About 4 in 10 orders fail and over half of customers have gone quiet, while revenue stays near ₹1M a month.</a:t>
            </a:r>
            <a:endParaRPr lang="en-US" sz="1600" dirty="0"/>
          </a:p>
        </p:txBody>
      </p:sp>
      <p:sp>
        <p:nvSpPr>
          <p:cNvPr id="5" name="Shape 3"/>
          <p:cNvSpPr/>
          <p:nvPr/>
        </p:nvSpPr>
        <p:spPr>
          <a:xfrm>
            <a:off x="815975" y="3269630"/>
            <a:ext cx="5187950" cy="1192530"/>
          </a:xfrm>
          <a:prstGeom prst="roundRect">
            <a:avLst>
              <a:gd name="adj" fmla="val 8253"/>
            </a:avLst>
          </a:prstGeom>
          <a:solidFill>
            <a:srgbClr val="2B2727"/>
          </a:solidFill>
          <a:ln w="6350">
            <a:solidFill>
              <a:srgbClr val="4A4343"/>
            </a:solidFill>
            <a:prstDash val="solid"/>
          </a:ln>
        </p:spPr>
        <p:txBody>
          <a:bodyPr/>
          <a:lstStyle/>
          <a:p>
            <a:endParaRPr lang="en-IN"/>
          </a:p>
        </p:txBody>
      </p:sp>
      <p:sp>
        <p:nvSpPr>
          <p:cNvPr id="6" name="Text 4"/>
          <p:cNvSpPr/>
          <p:nvPr/>
        </p:nvSpPr>
        <p:spPr>
          <a:xfrm>
            <a:off x="1021080" y="3474715"/>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B04A"/>
                </a:solidFill>
                <a:latin typeface="DM Sans" pitchFamily="34" charset="0"/>
                <a:ea typeface="DM Sans" pitchFamily="34" charset="-122"/>
                <a:cs typeface="DM Sans" pitchFamily="34" charset="-120"/>
              </a:rPr>
              <a:t>Cut cancellations and refunds</a:t>
            </a:r>
            <a:endParaRPr lang="en-US" sz="1600" dirty="0"/>
          </a:p>
        </p:txBody>
      </p:sp>
      <p:sp>
        <p:nvSpPr>
          <p:cNvPr id="7" name="Text 5"/>
          <p:cNvSpPr/>
          <p:nvPr/>
        </p:nvSpPr>
        <p:spPr>
          <a:xfrm>
            <a:off x="1021080" y="3794770"/>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1"/>
                </a:solidFill>
                <a:latin typeface="DM Sans" pitchFamily="34" charset="0"/>
                <a:ea typeface="DM Sans" pitchFamily="34" charset="-122"/>
                <a:cs typeface="DM Sans" pitchFamily="34" charset="-120"/>
              </a:rPr>
              <a:t>Audit the 10 highest-cancelling restaurants (25–27%) and set cancellation targets for partners.</a:t>
            </a:r>
            <a:endParaRPr lang="en-US" sz="1300" dirty="0"/>
          </a:p>
        </p:txBody>
      </p:sp>
      <p:sp>
        <p:nvSpPr>
          <p:cNvPr id="8" name="Shape 6"/>
          <p:cNvSpPr/>
          <p:nvPr/>
        </p:nvSpPr>
        <p:spPr>
          <a:xfrm>
            <a:off x="6188075" y="3269630"/>
            <a:ext cx="5187950" cy="1192530"/>
          </a:xfrm>
          <a:prstGeom prst="roundRect">
            <a:avLst>
              <a:gd name="adj" fmla="val 8253"/>
            </a:avLst>
          </a:prstGeom>
          <a:solidFill>
            <a:srgbClr val="2B2727"/>
          </a:solidFill>
          <a:ln w="6350">
            <a:solidFill>
              <a:srgbClr val="4A4343"/>
            </a:solidFill>
            <a:prstDash val="solid"/>
          </a:ln>
        </p:spPr>
        <p:txBody>
          <a:bodyPr/>
          <a:lstStyle/>
          <a:p>
            <a:endParaRPr lang="en-IN"/>
          </a:p>
        </p:txBody>
      </p:sp>
      <p:sp>
        <p:nvSpPr>
          <p:cNvPr id="9" name="Text 7"/>
          <p:cNvSpPr/>
          <p:nvPr/>
        </p:nvSpPr>
        <p:spPr>
          <a:xfrm>
            <a:off x="6393180" y="3474715"/>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B04A"/>
                </a:solidFill>
                <a:latin typeface="DM Sans" pitchFamily="34" charset="0"/>
                <a:ea typeface="DM Sans" pitchFamily="34" charset="-122"/>
                <a:cs typeface="DM Sans" pitchFamily="34" charset="-120"/>
              </a:rPr>
              <a:t>Win back high-value churners</a:t>
            </a:r>
            <a:endParaRPr lang="en-US" sz="1600" dirty="0"/>
          </a:p>
        </p:txBody>
      </p:sp>
      <p:sp>
        <p:nvSpPr>
          <p:cNvPr id="10" name="Text 8"/>
          <p:cNvSpPr/>
          <p:nvPr/>
        </p:nvSpPr>
        <p:spPr>
          <a:xfrm>
            <a:off x="6393180" y="3794770"/>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1"/>
                </a:solidFill>
                <a:latin typeface="DM Sans" pitchFamily="34" charset="0"/>
                <a:ea typeface="DM Sans" pitchFamily="34" charset="-122"/>
                <a:cs typeface="DM Sans" pitchFamily="34" charset="-120"/>
              </a:rPr>
              <a:t>Target the 2,672 churned customers with reactivation offers, starting with the top spenders.</a:t>
            </a:r>
            <a:endParaRPr lang="en-US" sz="1300" dirty="0"/>
          </a:p>
        </p:txBody>
      </p:sp>
      <p:sp>
        <p:nvSpPr>
          <p:cNvPr id="11" name="Shape 9"/>
          <p:cNvSpPr/>
          <p:nvPr/>
        </p:nvSpPr>
        <p:spPr>
          <a:xfrm>
            <a:off x="815975" y="4646290"/>
            <a:ext cx="5187950" cy="1192530"/>
          </a:xfrm>
          <a:prstGeom prst="roundRect">
            <a:avLst>
              <a:gd name="adj" fmla="val 8253"/>
            </a:avLst>
          </a:prstGeom>
          <a:solidFill>
            <a:srgbClr val="2B2727"/>
          </a:solidFill>
          <a:ln w="6350">
            <a:solidFill>
              <a:srgbClr val="4A4343"/>
            </a:solidFill>
            <a:prstDash val="solid"/>
          </a:ln>
        </p:spPr>
        <p:txBody>
          <a:bodyPr/>
          <a:lstStyle/>
          <a:p>
            <a:endParaRPr lang="en-IN"/>
          </a:p>
        </p:txBody>
      </p:sp>
      <p:sp>
        <p:nvSpPr>
          <p:cNvPr id="12" name="Text 10"/>
          <p:cNvSpPr/>
          <p:nvPr/>
        </p:nvSpPr>
        <p:spPr>
          <a:xfrm>
            <a:off x="1021080" y="4851400"/>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B04A"/>
                </a:solidFill>
                <a:latin typeface="DM Sans" pitchFamily="34" charset="0"/>
                <a:ea typeface="DM Sans" pitchFamily="34" charset="-122"/>
                <a:cs typeface="DM Sans" pitchFamily="34" charset="-120"/>
              </a:rPr>
              <a:t>Make coupons earn their cost</a:t>
            </a:r>
            <a:endParaRPr lang="en-US" sz="1600" dirty="0"/>
          </a:p>
        </p:txBody>
      </p:sp>
      <p:sp>
        <p:nvSpPr>
          <p:cNvPr id="13" name="Text 11"/>
          <p:cNvSpPr/>
          <p:nvPr/>
        </p:nvSpPr>
        <p:spPr>
          <a:xfrm>
            <a:off x="1021080" y="5171455"/>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1"/>
                </a:solidFill>
                <a:latin typeface="DM Sans" pitchFamily="34" charset="0"/>
                <a:ea typeface="DM Sans" pitchFamily="34" charset="-122"/>
                <a:cs typeface="DM Sans" pitchFamily="34" charset="-120"/>
              </a:rPr>
              <a:t>Coupons cut realised revenue by ₹83 per order, and their link to retention is unproven. Test offers against a control group.</a:t>
            </a:r>
            <a:endParaRPr lang="en-US" sz="1300" dirty="0"/>
          </a:p>
        </p:txBody>
      </p:sp>
      <p:sp>
        <p:nvSpPr>
          <p:cNvPr id="14" name="Shape 12"/>
          <p:cNvSpPr/>
          <p:nvPr/>
        </p:nvSpPr>
        <p:spPr>
          <a:xfrm>
            <a:off x="6188075" y="4646290"/>
            <a:ext cx="5187950" cy="1192530"/>
          </a:xfrm>
          <a:prstGeom prst="roundRect">
            <a:avLst>
              <a:gd name="adj" fmla="val 8253"/>
            </a:avLst>
          </a:prstGeom>
          <a:solidFill>
            <a:srgbClr val="2B2727"/>
          </a:solidFill>
          <a:ln w="6350">
            <a:solidFill>
              <a:srgbClr val="4A4343"/>
            </a:solidFill>
            <a:prstDash val="solid"/>
          </a:ln>
        </p:spPr>
        <p:txBody>
          <a:bodyPr/>
          <a:lstStyle/>
          <a:p>
            <a:endParaRPr lang="en-IN"/>
          </a:p>
        </p:txBody>
      </p:sp>
      <p:sp>
        <p:nvSpPr>
          <p:cNvPr id="15" name="Text 13"/>
          <p:cNvSpPr/>
          <p:nvPr/>
        </p:nvSpPr>
        <p:spPr>
          <a:xfrm>
            <a:off x="6393180" y="4851400"/>
            <a:ext cx="492107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B04A"/>
                </a:solidFill>
                <a:latin typeface="DM Sans" pitchFamily="34" charset="0"/>
                <a:ea typeface="DM Sans" pitchFamily="34" charset="-122"/>
                <a:cs typeface="DM Sans" pitchFamily="34" charset="-120"/>
              </a:rPr>
              <a:t>Protect Noida first</a:t>
            </a:r>
            <a:endParaRPr lang="en-US" sz="1600" dirty="0"/>
          </a:p>
        </p:txBody>
      </p:sp>
      <p:sp>
        <p:nvSpPr>
          <p:cNvPr id="16" name="Text 14"/>
          <p:cNvSpPr/>
          <p:nvPr/>
        </p:nvSpPr>
        <p:spPr>
          <a:xfrm>
            <a:off x="6393180" y="5171455"/>
            <a:ext cx="492107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FAF6F1"/>
                </a:solidFill>
                <a:latin typeface="DM Sans" pitchFamily="34" charset="0"/>
                <a:ea typeface="DM Sans" pitchFamily="34" charset="-122"/>
                <a:cs typeface="DM Sans" pitchFamily="34" charset="-120"/>
              </a:rPr>
              <a:t>Noida earns the most (₹3.6M) and churns the most (55%), so retention work there pays back fastest.</a:t>
            </a:r>
            <a:endParaRPr lang="en-US" sz="1300" dirty="0"/>
          </a:p>
        </p:txBody>
      </p:sp>
      <p:sp>
        <p:nvSpPr>
          <p:cNvPr id="17" name="Text 15"/>
          <p:cNvSpPr/>
          <p:nvPr/>
        </p:nvSpPr>
        <p:spPr>
          <a:xfrm>
            <a:off x="812800" y="6238255"/>
            <a:ext cx="5232400"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CFC6BE"/>
                </a:solidFill>
                <a:latin typeface="DM Sans" pitchFamily="34" charset="0"/>
                <a:ea typeface="DM Sans" pitchFamily="34" charset="-122"/>
                <a:cs typeface="DM Sans" pitchFamily="34" charset="-120"/>
              </a:rPr>
              <a:t>Zomato Customer Analytics</a:t>
            </a:r>
            <a:endParaRPr lang="en-US" sz="1200" dirty="0"/>
          </a:p>
        </p:txBody>
      </p:sp>
    </p:spTree>
  </p:cSld>
  <p:clrMapOvr>
    <a:masterClrMapping/>
  </p:clrMapOvr>
</p:sld>
</file>

<file path=ppt/theme/theme1.xml><?xml version="1.0" encoding="utf-8"?>
<a:theme xmlns:a="http://schemas.openxmlformats.org/drawingml/2006/main" name="Zomato Customer Analytics">
  <a:themeElements>
    <a:clrScheme name="Zomato Customer Analytics">
      <a:dk1>
        <a:srgbClr val="1E1B1B"/>
      </a:dk1>
      <a:lt1>
        <a:srgbClr val="FAF6F1"/>
      </a:lt1>
      <a:dk2>
        <a:srgbClr val="343130"/>
      </a:dk2>
      <a:lt2>
        <a:srgbClr val="C3BFBC"/>
      </a:lt2>
      <a:accent1>
        <a:srgbClr val="F0B04A"/>
      </a:accent1>
      <a:accent2>
        <a:srgbClr val="CFC6BE"/>
      </a:accent2>
      <a:accent3>
        <a:srgbClr val="E8DFD6"/>
      </a:accent3>
      <a:accent4>
        <a:srgbClr val="9AA0A6"/>
      </a:accent4>
      <a:accent5>
        <a:srgbClr val="A29E9B"/>
      </a:accent5>
      <a:accent6>
        <a:srgbClr val="817E7B"/>
      </a:accent6>
      <a:hlink>
        <a:srgbClr val="0563C1"/>
      </a:hlink>
      <a:folHlink>
        <a:srgbClr val="954F72"/>
      </a:folHlink>
    </a:clrScheme>
    <a:fontScheme name="Zomato Customer Analytics">
      <a:majorFont>
        <a:latin typeface="DM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TotalTime>
  <Words>5458</Words>
  <Application>Microsoft Office PowerPoint</Application>
  <PresentationFormat>Widescreen</PresentationFormat>
  <Paragraphs>1346</Paragraphs>
  <Slides>48</Slides>
  <Notes>47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48</vt:i4>
      </vt:variant>
    </vt:vector>
  </HeadingPairs>
  <TitlesOfParts>
    <vt:vector size="52" baseType="lpstr">
      <vt:lpstr>Arial</vt:lpstr>
      <vt:lpstr>Courier New</vt:lpstr>
      <vt:lpstr>DM Sans</vt:lpstr>
      <vt:lpstr>Zomato Customer Analytics</vt:lpstr>
      <vt:lpstr>Zomato Customer Analytics Case Study</vt:lpstr>
      <vt:lpstr>Finding what holds Zomato's growth back</vt:lpstr>
      <vt:lpstr>SQL on three linked tables</vt:lpstr>
      <vt:lpstr>From raw files to recommendations</vt:lpstr>
      <vt:lpstr>What is the total revenue?</vt:lpstr>
      <vt:lpstr>What is the monthly revenue trend?</vt:lpstr>
      <vt:lpstr>Which city contributes the highest revenue?</vt:lpstr>
      <vt:lpstr>Which payment mode generates the most revenue?</vt:lpstr>
      <vt:lpstr>What is the Average Order Value (AOV)?</vt:lpstr>
      <vt:lpstr>Who are the top 20 customers by revenue?</vt:lpstr>
      <vt:lpstr>Who are the top 20 customers by revenue?</vt:lpstr>
      <vt:lpstr>What percentage of revenue comes from top customers?</vt:lpstr>
      <vt:lpstr>What percentage of revenue comes from top customers?</vt:lpstr>
      <vt:lpstr>Which acquisition channel brings the highest-value customers?</vt:lpstr>
      <vt:lpstr>Which acquisition channel brings the highest-value customers?</vt:lpstr>
      <vt:lpstr>How many repeat customers do we have?</vt:lpstr>
      <vt:lpstr>How many repeat customers do we have?</vt:lpstr>
      <vt:lpstr>Which restaurants generate the highest revenue?</vt:lpstr>
      <vt:lpstr>Which restaurants generate the highest revenue?</vt:lpstr>
      <vt:lpstr>Which restaurants receive the most orders?</vt:lpstr>
      <vt:lpstr>Which restaurants receive the most orders?</vt:lpstr>
      <vt:lpstr>Which cuisines are most popular?</vt:lpstr>
      <vt:lpstr>Which cuisines are most popular?</vt:lpstr>
      <vt:lpstr>Do highly-rated restaurants generate more revenue?</vt:lpstr>
      <vt:lpstr>Do highly-rated restaurants generate more revenue?</vt:lpstr>
      <vt:lpstr>Which are the last 5 restaurants?</vt:lpstr>
      <vt:lpstr>Which are the last 5 restaurants?</vt:lpstr>
      <vt:lpstr>What percentage of orders use coupons?</vt:lpstr>
      <vt:lpstr>Do coupon users spend more than non-coupon users?</vt:lpstr>
      <vt:lpstr>Which city uses the most coupons?</vt:lpstr>
      <vt:lpstr>Are coupons helping customer retention?</vt:lpstr>
      <vt:lpstr>Are coupons helping customer retention?</vt:lpstr>
      <vt:lpstr>What is the cancellation rate?</vt:lpstr>
      <vt:lpstr>What is the refund rate?</vt:lpstr>
      <vt:lpstr>How much revenue is lost due to cancellations?</vt:lpstr>
      <vt:lpstr>Which restaurants have the highest cancellation rate?</vt:lpstr>
      <vt:lpstr>Which restaurants have the highest cancellation rate?</vt:lpstr>
      <vt:lpstr>How many customers have churned?</vt:lpstr>
      <vt:lpstr>What is the churn rate?</vt:lpstr>
      <vt:lpstr>What is the churn rate?</vt:lpstr>
      <vt:lpstr>Which city has the highest churn?</vt:lpstr>
      <vt:lpstr>Which city has the highest churn?</vt:lpstr>
      <vt:lpstr>How much revenue is lost due to churn?</vt:lpstr>
      <vt:lpstr>How much revenue is lost due to churn?</vt:lpstr>
      <vt:lpstr>Who are the high-value churned customers?</vt:lpstr>
      <vt:lpstr>Who are the high-value churned customers?</vt:lpstr>
      <vt:lpstr>Revenue is flat and leaking</vt:lpstr>
      <vt:lpstr>Fix the leaks before buying more growth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Zomato Customer Analytics</dc:title>
  <dc:subject/>
  <dc:creator>Ankit</dc:creator>
  <cp:lastModifiedBy>Amit Kumar</cp:lastModifiedBy>
  <cp:revision>2</cp:revision>
  <dcterms:created xsi:type="dcterms:W3CDTF">2026-10-09T05:28:03Z</dcterms:created>
  <dcterms:modified xsi:type="dcterms:W3CDTF">2026-10-09T06:19:58Z</dcterms:modified>
</cp:coreProperties>
</file>